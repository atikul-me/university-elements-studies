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1"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6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MY"/>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MY"/>
          </a:p>
        </p:txBody>
      </p:sp>
      <p:sp>
        <p:nvSpPr>
          <p:cNvPr id="4" name="Date Placeholder 3"/>
          <p:cNvSpPr>
            <a:spLocks noGrp="1"/>
          </p:cNvSpPr>
          <p:nvPr>
            <p:ph type="dt" sz="half" idx="10"/>
          </p:nvPr>
        </p:nvSpPr>
        <p:spPr/>
        <p:txBody>
          <a:bodyPr/>
          <a:lstStyle/>
          <a:p>
            <a:fld id="{3BB2F8CC-13D9-43B0-9E94-4011A470F688}" type="datetimeFigureOut">
              <a:rPr lang="en-MY" smtClean="0"/>
              <a:pPr/>
              <a:t>30/7/2019</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CD0B39F4-003D-4138-93BE-27EF174B0BDF}" type="slidenum">
              <a:rPr lang="en-MY" smtClean="0"/>
              <a:pPr/>
              <a:t>‹#›</a:t>
            </a:fld>
            <a:endParaRPr lang="en-MY"/>
          </a:p>
        </p:txBody>
      </p:sp>
    </p:spTree>
    <p:extLst>
      <p:ext uri="{BB962C8B-B14F-4D97-AF65-F5344CB8AC3E}">
        <p14:creationId xmlns:p14="http://schemas.microsoft.com/office/powerpoint/2010/main" val="13664208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3BB2F8CC-13D9-43B0-9E94-4011A470F688}" type="datetimeFigureOut">
              <a:rPr lang="en-MY" smtClean="0"/>
              <a:pPr/>
              <a:t>30/7/2019</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CD0B39F4-003D-4138-93BE-27EF174B0BDF}" type="slidenum">
              <a:rPr lang="en-MY" smtClean="0"/>
              <a:pPr/>
              <a:t>‹#›</a:t>
            </a:fld>
            <a:endParaRPr lang="en-MY"/>
          </a:p>
        </p:txBody>
      </p:sp>
    </p:spTree>
    <p:extLst>
      <p:ext uri="{BB962C8B-B14F-4D97-AF65-F5344CB8AC3E}">
        <p14:creationId xmlns:p14="http://schemas.microsoft.com/office/powerpoint/2010/main" val="3318107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MY"/>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BB2F8CC-13D9-43B0-9E94-4011A470F688}" type="datetimeFigureOut">
              <a:rPr lang="en-MY" smtClean="0"/>
              <a:pPr/>
              <a:t>30/7/2019</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CD0B39F4-003D-4138-93BE-27EF174B0BDF}" type="slidenum">
              <a:rPr lang="en-MY" smtClean="0"/>
              <a:pPr/>
              <a:t>‹#›</a:t>
            </a:fld>
            <a:endParaRPr lang="en-MY"/>
          </a:p>
        </p:txBody>
      </p:sp>
    </p:spTree>
    <p:extLst>
      <p:ext uri="{BB962C8B-B14F-4D97-AF65-F5344CB8AC3E}">
        <p14:creationId xmlns:p14="http://schemas.microsoft.com/office/powerpoint/2010/main" val="844726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Date Placeholder 4"/>
          <p:cNvSpPr>
            <a:spLocks noGrp="1"/>
          </p:cNvSpPr>
          <p:nvPr>
            <p:ph type="dt" sz="half" idx="10"/>
          </p:nvPr>
        </p:nvSpPr>
        <p:spPr/>
        <p:txBody>
          <a:bodyPr/>
          <a:lstStyle/>
          <a:p>
            <a:fld id="{3BB2F8CC-13D9-43B0-9E94-4011A470F688}" type="datetimeFigureOut">
              <a:rPr lang="en-MY" smtClean="0"/>
              <a:pPr/>
              <a:t>30/7/2019</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CD0B39F4-003D-4138-93BE-27EF174B0BDF}" type="slidenum">
              <a:rPr lang="en-MY" smtClean="0"/>
              <a:pPr/>
              <a:t>‹#›</a:t>
            </a:fld>
            <a:endParaRPr lang="en-MY"/>
          </a:p>
        </p:txBody>
      </p:sp>
    </p:spTree>
    <p:extLst>
      <p:ext uri="{BB962C8B-B14F-4D97-AF65-F5344CB8AC3E}">
        <p14:creationId xmlns:p14="http://schemas.microsoft.com/office/powerpoint/2010/main" val="373331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MY"/>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7" name="Date Placeholder 6"/>
          <p:cNvSpPr>
            <a:spLocks noGrp="1"/>
          </p:cNvSpPr>
          <p:nvPr>
            <p:ph type="dt" sz="half" idx="10"/>
          </p:nvPr>
        </p:nvSpPr>
        <p:spPr/>
        <p:txBody>
          <a:bodyPr/>
          <a:lstStyle/>
          <a:p>
            <a:fld id="{3BB2F8CC-13D9-43B0-9E94-4011A470F688}" type="datetimeFigureOut">
              <a:rPr lang="en-MY" smtClean="0"/>
              <a:pPr/>
              <a:t>30/7/2019</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CD0B39F4-003D-4138-93BE-27EF174B0BDF}" type="slidenum">
              <a:rPr lang="en-MY" smtClean="0"/>
              <a:pPr/>
              <a:t>‹#›</a:t>
            </a:fld>
            <a:endParaRPr lang="en-MY"/>
          </a:p>
        </p:txBody>
      </p:sp>
    </p:spTree>
    <p:extLst>
      <p:ext uri="{BB962C8B-B14F-4D97-AF65-F5344CB8AC3E}">
        <p14:creationId xmlns:p14="http://schemas.microsoft.com/office/powerpoint/2010/main" val="3909787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Date Placeholder 2"/>
          <p:cNvSpPr>
            <a:spLocks noGrp="1"/>
          </p:cNvSpPr>
          <p:nvPr>
            <p:ph type="dt" sz="half" idx="10"/>
          </p:nvPr>
        </p:nvSpPr>
        <p:spPr/>
        <p:txBody>
          <a:bodyPr/>
          <a:lstStyle/>
          <a:p>
            <a:fld id="{3BB2F8CC-13D9-43B0-9E94-4011A470F688}" type="datetimeFigureOut">
              <a:rPr lang="en-MY" smtClean="0"/>
              <a:pPr/>
              <a:t>30/7/2019</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CD0B39F4-003D-4138-93BE-27EF174B0BDF}" type="slidenum">
              <a:rPr lang="en-MY" smtClean="0"/>
              <a:pPr/>
              <a:t>‹#›</a:t>
            </a:fld>
            <a:endParaRPr lang="en-MY"/>
          </a:p>
        </p:txBody>
      </p:sp>
    </p:spTree>
    <p:extLst>
      <p:ext uri="{BB962C8B-B14F-4D97-AF65-F5344CB8AC3E}">
        <p14:creationId xmlns:p14="http://schemas.microsoft.com/office/powerpoint/2010/main" val="2785886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B2F8CC-13D9-43B0-9E94-4011A470F688}" type="datetimeFigureOut">
              <a:rPr lang="en-MY" smtClean="0"/>
              <a:pPr/>
              <a:t>30/7/2019</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CD0B39F4-003D-4138-93BE-27EF174B0BDF}" type="slidenum">
              <a:rPr lang="en-MY" smtClean="0"/>
              <a:pPr/>
              <a:t>‹#›</a:t>
            </a:fld>
            <a:endParaRPr lang="en-MY"/>
          </a:p>
        </p:txBody>
      </p:sp>
    </p:spTree>
    <p:extLst>
      <p:ext uri="{BB962C8B-B14F-4D97-AF65-F5344CB8AC3E}">
        <p14:creationId xmlns:p14="http://schemas.microsoft.com/office/powerpoint/2010/main" val="1343207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MY"/>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B2F8CC-13D9-43B0-9E94-4011A470F688}" type="datetimeFigureOut">
              <a:rPr lang="en-MY" smtClean="0"/>
              <a:pPr/>
              <a:t>30/7/2019</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CD0B39F4-003D-4138-93BE-27EF174B0BDF}" type="slidenum">
              <a:rPr lang="en-MY" smtClean="0"/>
              <a:pPr/>
              <a:t>‹#›</a:t>
            </a:fld>
            <a:endParaRPr lang="en-MY"/>
          </a:p>
        </p:txBody>
      </p:sp>
    </p:spTree>
    <p:extLst>
      <p:ext uri="{BB962C8B-B14F-4D97-AF65-F5344CB8AC3E}">
        <p14:creationId xmlns:p14="http://schemas.microsoft.com/office/powerpoint/2010/main" val="923013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MY"/>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BB2F8CC-13D9-43B0-9E94-4011A470F688}" type="datetimeFigureOut">
              <a:rPr lang="en-MY" smtClean="0"/>
              <a:pPr/>
              <a:t>30/7/2019</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CD0B39F4-003D-4138-93BE-27EF174B0BDF}" type="slidenum">
              <a:rPr lang="en-MY" smtClean="0"/>
              <a:pPr/>
              <a:t>‹#›</a:t>
            </a:fld>
            <a:endParaRPr lang="en-MY"/>
          </a:p>
        </p:txBody>
      </p:sp>
    </p:spTree>
    <p:extLst>
      <p:ext uri="{BB962C8B-B14F-4D97-AF65-F5344CB8AC3E}">
        <p14:creationId xmlns:p14="http://schemas.microsoft.com/office/powerpoint/2010/main" val="854285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3BB2F8CC-13D9-43B0-9E94-4011A470F688}" type="datetimeFigureOut">
              <a:rPr lang="en-MY" smtClean="0"/>
              <a:pPr/>
              <a:t>30/7/2019</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CD0B39F4-003D-4138-93BE-27EF174B0BDF}" type="slidenum">
              <a:rPr lang="en-MY" smtClean="0"/>
              <a:pPr/>
              <a:t>‹#›</a:t>
            </a:fld>
            <a:endParaRPr lang="en-MY"/>
          </a:p>
        </p:txBody>
      </p:sp>
    </p:spTree>
    <p:extLst>
      <p:ext uri="{BB962C8B-B14F-4D97-AF65-F5344CB8AC3E}">
        <p14:creationId xmlns:p14="http://schemas.microsoft.com/office/powerpoint/2010/main" val="3774634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MY"/>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10"/>
          </p:nvPr>
        </p:nvSpPr>
        <p:spPr/>
        <p:txBody>
          <a:bodyPr/>
          <a:lstStyle/>
          <a:p>
            <a:fld id="{3BB2F8CC-13D9-43B0-9E94-4011A470F688}" type="datetimeFigureOut">
              <a:rPr lang="en-MY" smtClean="0"/>
              <a:pPr/>
              <a:t>30/7/2019</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CD0B39F4-003D-4138-93BE-27EF174B0BDF}" type="slidenum">
              <a:rPr lang="en-MY" smtClean="0"/>
              <a:pPr/>
              <a:t>‹#›</a:t>
            </a:fld>
            <a:endParaRPr lang="en-MY"/>
          </a:p>
        </p:txBody>
      </p:sp>
    </p:spTree>
    <p:extLst>
      <p:ext uri="{BB962C8B-B14F-4D97-AF65-F5344CB8AC3E}">
        <p14:creationId xmlns:p14="http://schemas.microsoft.com/office/powerpoint/2010/main" val="700969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MY"/>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MY"/>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B2F8CC-13D9-43B0-9E94-4011A470F688}" type="datetimeFigureOut">
              <a:rPr lang="en-MY" smtClean="0"/>
              <a:pPr/>
              <a:t>30/7/2019</a:t>
            </a:fld>
            <a:endParaRPr lang="en-MY"/>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0B39F4-003D-4138-93BE-27EF174B0BDF}" type="slidenum">
              <a:rPr lang="en-MY" smtClean="0"/>
              <a:pPr/>
              <a:t>‹#›</a:t>
            </a:fld>
            <a:endParaRPr lang="en-MY"/>
          </a:p>
        </p:txBody>
      </p:sp>
    </p:spTree>
    <p:extLst>
      <p:ext uri="{BB962C8B-B14F-4D97-AF65-F5344CB8AC3E}">
        <p14:creationId xmlns:p14="http://schemas.microsoft.com/office/powerpoint/2010/main" val="477260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Requirement Prioritization</a:t>
            </a:r>
            <a:br>
              <a:rPr lang="en-US" dirty="0" smtClean="0"/>
            </a:br>
            <a:endParaRPr lang="en-MY" dirty="0"/>
          </a:p>
        </p:txBody>
      </p:sp>
      <p:sp>
        <p:nvSpPr>
          <p:cNvPr id="4" name="Subtitle 3"/>
          <p:cNvSpPr>
            <a:spLocks noGrp="1"/>
          </p:cNvSpPr>
          <p:nvPr>
            <p:ph type="subTitle" idx="1"/>
          </p:nvPr>
        </p:nvSpPr>
        <p:spPr/>
        <p:txBody>
          <a:bodyPr/>
          <a:lstStyle/>
          <a:p>
            <a:endParaRPr lang="en-GB"/>
          </a:p>
        </p:txBody>
      </p:sp>
    </p:spTree>
    <p:extLst>
      <p:ext uri="{BB962C8B-B14F-4D97-AF65-F5344CB8AC3E}">
        <p14:creationId xmlns:p14="http://schemas.microsoft.com/office/powerpoint/2010/main" val="3253415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a:t>
            </a:r>
            <a:endParaRPr lang="en-MY" dirty="0"/>
          </a:p>
        </p:txBody>
      </p:sp>
      <p:sp>
        <p:nvSpPr>
          <p:cNvPr id="3" name="Content Placeholder 2"/>
          <p:cNvSpPr>
            <a:spLocks noGrp="1"/>
          </p:cNvSpPr>
          <p:nvPr>
            <p:ph idx="1"/>
          </p:nvPr>
        </p:nvSpPr>
        <p:spPr/>
        <p:txBody>
          <a:bodyPr/>
          <a:lstStyle/>
          <a:p>
            <a:r>
              <a:rPr lang="en-MY" dirty="0" smtClean="0"/>
              <a:t>In order to develop cost effective quality software, it is really necessary to select the right requirements from the set of all requirements. It would be more beneficial if they are grouped release wise. In this way, we can decide upon which requirements need to be focused in any particular release</a:t>
            </a:r>
            <a:endParaRPr lang="en-MY" dirty="0"/>
          </a:p>
        </p:txBody>
      </p:sp>
    </p:spTree>
    <p:extLst>
      <p:ext uri="{BB962C8B-B14F-4D97-AF65-F5344CB8AC3E}">
        <p14:creationId xmlns:p14="http://schemas.microsoft.com/office/powerpoint/2010/main" val="18356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a:t>
            </a:r>
            <a:endParaRPr lang="en-MY" dirty="0"/>
          </a:p>
        </p:txBody>
      </p:sp>
      <p:sp>
        <p:nvSpPr>
          <p:cNvPr id="3" name="Content Placeholder 2"/>
          <p:cNvSpPr>
            <a:spLocks noGrp="1"/>
          </p:cNvSpPr>
          <p:nvPr>
            <p:ph idx="1"/>
          </p:nvPr>
        </p:nvSpPr>
        <p:spPr/>
        <p:txBody>
          <a:bodyPr/>
          <a:lstStyle/>
          <a:p>
            <a:r>
              <a:rPr lang="en-MY" dirty="0" smtClean="0"/>
              <a:t>Constraint Driven strategy</a:t>
            </a:r>
          </a:p>
          <a:p>
            <a:pPr marL="0" indent="0">
              <a:buNone/>
            </a:pPr>
            <a:r>
              <a:rPr lang="en-MY" dirty="0" smtClean="0"/>
              <a:t>Time and budget constraints  do not allow entertaining all requirements. Therefore, project manager can use prioritization as a tool to help him in selection of those requirements that can be implanted in a certain time and budget constraints. </a:t>
            </a:r>
            <a:endParaRPr lang="en-MY" dirty="0"/>
          </a:p>
        </p:txBody>
      </p:sp>
    </p:spTree>
    <p:extLst>
      <p:ext uri="{BB962C8B-B14F-4D97-AF65-F5344CB8AC3E}">
        <p14:creationId xmlns:p14="http://schemas.microsoft.com/office/powerpoint/2010/main" val="1075156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Planning the Releases</a:t>
            </a:r>
            <a:endParaRPr lang="en-MY" dirty="0"/>
          </a:p>
        </p:txBody>
      </p:sp>
      <p:sp>
        <p:nvSpPr>
          <p:cNvPr id="3" name="Content Placeholder 2"/>
          <p:cNvSpPr>
            <a:spLocks noGrp="1"/>
          </p:cNvSpPr>
          <p:nvPr>
            <p:ph idx="1"/>
          </p:nvPr>
        </p:nvSpPr>
        <p:spPr/>
        <p:txBody>
          <a:bodyPr/>
          <a:lstStyle/>
          <a:p>
            <a:r>
              <a:rPr lang="en-MY" dirty="0" smtClean="0"/>
              <a:t>Prioritization helps the stakeholders decide the type of requirements of the system and categorize them in optimal requirements sets. Based on these optimal sets a project manager can plan the releases of the product. In its normal flow; system’s core requirements will be implemented in first release and based on their priority values the next group of requirements will be implemented in successive releases. </a:t>
            </a:r>
            <a:endParaRPr lang="en-MY" dirty="0"/>
          </a:p>
        </p:txBody>
      </p:sp>
    </p:spTree>
    <p:extLst>
      <p:ext uri="{BB962C8B-B14F-4D97-AF65-F5344CB8AC3E}">
        <p14:creationId xmlns:p14="http://schemas.microsoft.com/office/powerpoint/2010/main" val="232126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Balancing benefits against cost</a:t>
            </a:r>
            <a:endParaRPr lang="en-MY" dirty="0"/>
          </a:p>
        </p:txBody>
      </p:sp>
      <p:sp>
        <p:nvSpPr>
          <p:cNvPr id="3" name="Content Placeholder 2"/>
          <p:cNvSpPr>
            <a:spLocks noGrp="1"/>
          </p:cNvSpPr>
          <p:nvPr>
            <p:ph idx="1"/>
          </p:nvPr>
        </p:nvSpPr>
        <p:spPr/>
        <p:txBody>
          <a:bodyPr/>
          <a:lstStyle/>
          <a:p>
            <a:r>
              <a:rPr lang="en-MY" dirty="0" smtClean="0"/>
              <a:t>Before starting implementation, key stakeholders should identify related requirements and their corresponding benefits. Similarly, each of these requirements shall be evaluated for implementation cost. Prioritization based on the benefit and related cost; may help the business to balance their benefits of each requirement against the cost of implementing it. </a:t>
            </a:r>
            <a:endParaRPr lang="en-MY" dirty="0"/>
          </a:p>
        </p:txBody>
      </p:sp>
    </p:spTree>
    <p:extLst>
      <p:ext uri="{BB962C8B-B14F-4D97-AF65-F5344CB8AC3E}">
        <p14:creationId xmlns:p14="http://schemas.microsoft.com/office/powerpoint/2010/main" val="762516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Negotiating conflicts:</a:t>
            </a:r>
            <a:endParaRPr lang="en-MY" dirty="0"/>
          </a:p>
        </p:txBody>
      </p:sp>
      <p:sp>
        <p:nvSpPr>
          <p:cNvPr id="3" name="Content Placeholder 2"/>
          <p:cNvSpPr>
            <a:spLocks noGrp="1"/>
          </p:cNvSpPr>
          <p:nvPr>
            <p:ph idx="1"/>
          </p:nvPr>
        </p:nvSpPr>
        <p:spPr/>
        <p:txBody>
          <a:bodyPr/>
          <a:lstStyle/>
          <a:p>
            <a:r>
              <a:rPr lang="en-MY" dirty="0" smtClean="0"/>
              <a:t>Conflicts between stakeholders arise because their viewpoints for most of the requirements are different. Requirements prioritization often involves negotiation process to handle contradictory requirements. Therefore it also helps in resolving conflicts and disagreement between stakeholders. </a:t>
            </a:r>
            <a:endParaRPr lang="en-MY" dirty="0"/>
          </a:p>
        </p:txBody>
      </p:sp>
    </p:spTree>
    <p:extLst>
      <p:ext uri="{BB962C8B-B14F-4D97-AF65-F5344CB8AC3E}">
        <p14:creationId xmlns:p14="http://schemas.microsoft.com/office/powerpoint/2010/main" val="3295411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Better Understanding: </a:t>
            </a:r>
            <a:endParaRPr lang="en-MY" dirty="0"/>
          </a:p>
        </p:txBody>
      </p:sp>
      <p:sp>
        <p:nvSpPr>
          <p:cNvPr id="3" name="Content Placeholder 2"/>
          <p:cNvSpPr>
            <a:spLocks noGrp="1"/>
          </p:cNvSpPr>
          <p:nvPr>
            <p:ph idx="1"/>
          </p:nvPr>
        </p:nvSpPr>
        <p:spPr/>
        <p:txBody>
          <a:bodyPr/>
          <a:lstStyle/>
          <a:p>
            <a:r>
              <a:rPr lang="en-MY" dirty="0" smtClean="0"/>
              <a:t>Requirements prioritization is an expensive activity to some extent, because it requires time, stakeholders’ involvement, experts’ opinions meeting, etc. On the other hand it helps all the stakeholders to understand all the requirements more closely. At the prioritization stage, each requirement is evaluated thoroughly and their implementation feasibility is checked. If certain requirements are found not-feasible then alternatives can be discovered. </a:t>
            </a:r>
            <a:endParaRPr lang="en-MY" dirty="0"/>
          </a:p>
        </p:txBody>
      </p:sp>
    </p:spTree>
    <p:extLst>
      <p:ext uri="{BB962C8B-B14F-4D97-AF65-F5344CB8AC3E}">
        <p14:creationId xmlns:p14="http://schemas.microsoft.com/office/powerpoint/2010/main" val="2929242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smtClean="0"/>
              <a:t>Prioritization Parameters </a:t>
            </a:r>
            <a:endParaRPr lang="en-MY" dirty="0"/>
          </a:p>
        </p:txBody>
      </p:sp>
      <p:sp>
        <p:nvSpPr>
          <p:cNvPr id="3" name="Content Placeholder 2"/>
          <p:cNvSpPr>
            <a:spLocks noGrp="1"/>
          </p:cNvSpPr>
          <p:nvPr>
            <p:ph idx="1"/>
          </p:nvPr>
        </p:nvSpPr>
        <p:spPr/>
        <p:txBody>
          <a:bodyPr/>
          <a:lstStyle/>
          <a:p>
            <a:r>
              <a:rPr lang="en-US" dirty="0" smtClean="0"/>
              <a:t>Time</a:t>
            </a:r>
          </a:p>
          <a:p>
            <a:r>
              <a:rPr lang="en-US" dirty="0" smtClean="0"/>
              <a:t>Cost</a:t>
            </a:r>
          </a:p>
          <a:p>
            <a:r>
              <a:rPr lang="en-US" dirty="0" smtClean="0"/>
              <a:t>Penalty</a:t>
            </a:r>
          </a:p>
          <a:p>
            <a:r>
              <a:rPr lang="en-US" dirty="0" smtClean="0"/>
              <a:t>Risk</a:t>
            </a:r>
          </a:p>
          <a:p>
            <a:r>
              <a:rPr lang="en-US" dirty="0" smtClean="0"/>
              <a:t>Functionality</a:t>
            </a:r>
            <a:endParaRPr lang="en-MY" dirty="0"/>
          </a:p>
        </p:txBody>
      </p:sp>
    </p:spTree>
    <p:extLst>
      <p:ext uri="{BB962C8B-B14F-4D97-AF65-F5344CB8AC3E}">
        <p14:creationId xmlns:p14="http://schemas.microsoft.com/office/powerpoint/2010/main" val="798535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Prioritization Technique</a:t>
            </a:r>
            <a:endParaRPr lang="en-MY" dirty="0"/>
          </a:p>
        </p:txBody>
      </p:sp>
      <p:sp>
        <p:nvSpPr>
          <p:cNvPr id="3" name="Content Placeholder 2"/>
          <p:cNvSpPr>
            <a:spLocks noGrp="1"/>
          </p:cNvSpPr>
          <p:nvPr>
            <p:ph idx="1"/>
          </p:nvPr>
        </p:nvSpPr>
        <p:spPr/>
        <p:txBody>
          <a:bodyPr/>
          <a:lstStyle/>
          <a:p>
            <a:r>
              <a:rPr lang="en-US" dirty="0" smtClean="0"/>
              <a:t>AHP</a:t>
            </a:r>
          </a:p>
          <a:p>
            <a:r>
              <a:rPr lang="en-US" dirty="0" smtClean="0"/>
              <a:t>B-Tree</a:t>
            </a:r>
          </a:p>
          <a:p>
            <a:r>
              <a:rPr lang="en-US" dirty="0" smtClean="0"/>
              <a:t>Ranking</a:t>
            </a:r>
          </a:p>
          <a:p>
            <a:r>
              <a:rPr lang="en-US" dirty="0" smtClean="0"/>
              <a:t>Top 10 requirements</a:t>
            </a:r>
          </a:p>
          <a:p>
            <a:r>
              <a:rPr lang="en-US" dirty="0" smtClean="0"/>
              <a:t>100 dollar test</a:t>
            </a:r>
          </a:p>
          <a:p>
            <a:r>
              <a:rPr lang="en-US" dirty="0" err="1" smtClean="0"/>
              <a:t>MosCow</a:t>
            </a:r>
            <a:endParaRPr lang="en-MY" dirty="0"/>
          </a:p>
        </p:txBody>
      </p:sp>
    </p:spTree>
    <p:extLst>
      <p:ext uri="{BB962C8B-B14F-4D97-AF65-F5344CB8AC3E}">
        <p14:creationId xmlns:p14="http://schemas.microsoft.com/office/powerpoint/2010/main" val="1443272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MosCow</a:t>
            </a:r>
            <a:endParaRPr lang="en-US" dirty="0"/>
          </a:p>
        </p:txBody>
      </p:sp>
      <p:sp>
        <p:nvSpPr>
          <p:cNvPr id="3" name="Content Placeholder 2"/>
          <p:cNvSpPr>
            <a:spLocks noGrp="1"/>
          </p:cNvSpPr>
          <p:nvPr>
            <p:ph idx="1"/>
          </p:nvPr>
        </p:nvSpPr>
        <p:spPr/>
        <p:txBody>
          <a:bodyPr/>
          <a:lstStyle/>
          <a:p>
            <a:pPr fontAlgn="base"/>
            <a:r>
              <a:rPr lang="en-US" dirty="0" smtClean="0"/>
              <a:t>There are many popular methods that are used to decide upon the priority of the requirements. One of the more popular ones is the </a:t>
            </a:r>
            <a:r>
              <a:rPr lang="en-US" b="1" dirty="0" err="1" smtClean="0"/>
              <a:t>MoSCoW</a:t>
            </a:r>
            <a:r>
              <a:rPr lang="en-US" dirty="0" smtClean="0"/>
              <a:t> method. </a:t>
            </a:r>
            <a:r>
              <a:rPr lang="en-US" dirty="0" err="1" smtClean="0"/>
              <a:t>The</a:t>
            </a:r>
            <a:r>
              <a:rPr lang="en-US" b="1" dirty="0" err="1" smtClean="0"/>
              <a:t>MoSCoW</a:t>
            </a:r>
            <a:r>
              <a:rPr lang="en-US" dirty="0" smtClean="0"/>
              <a:t> is an abbreviation for -</a:t>
            </a:r>
          </a:p>
          <a:p>
            <a:pPr fontAlgn="base"/>
            <a:r>
              <a:rPr lang="en-US" b="1" dirty="0" smtClean="0"/>
              <a:t>M</a:t>
            </a:r>
            <a:r>
              <a:rPr lang="en-US" dirty="0" smtClean="0"/>
              <a:t> – Must</a:t>
            </a:r>
          </a:p>
          <a:p>
            <a:pPr fontAlgn="base"/>
            <a:r>
              <a:rPr lang="en-US" b="1" dirty="0" smtClean="0"/>
              <a:t>S</a:t>
            </a:r>
            <a:r>
              <a:rPr lang="en-US" dirty="0" smtClean="0"/>
              <a:t> – Should</a:t>
            </a:r>
          </a:p>
          <a:p>
            <a:pPr fontAlgn="base"/>
            <a:r>
              <a:rPr lang="en-US" b="1" dirty="0" smtClean="0"/>
              <a:t>C</a:t>
            </a:r>
            <a:r>
              <a:rPr lang="en-US" dirty="0" smtClean="0"/>
              <a:t> – Could</a:t>
            </a:r>
          </a:p>
          <a:p>
            <a:pPr fontAlgn="base"/>
            <a:r>
              <a:rPr lang="en-US" b="1" dirty="0" smtClean="0"/>
              <a:t>W</a:t>
            </a:r>
            <a:r>
              <a:rPr lang="en-US" dirty="0" smtClean="0"/>
              <a:t> – Won't / Would</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MosCow</a:t>
            </a:r>
            <a:endParaRPr lang="en-US" dirty="0"/>
          </a:p>
        </p:txBody>
      </p:sp>
      <p:sp>
        <p:nvSpPr>
          <p:cNvPr id="3" name="Content Placeholder 2"/>
          <p:cNvSpPr>
            <a:spLocks noGrp="1"/>
          </p:cNvSpPr>
          <p:nvPr>
            <p:ph idx="1"/>
          </p:nvPr>
        </p:nvSpPr>
        <p:spPr/>
        <p:txBody>
          <a:bodyPr/>
          <a:lstStyle/>
          <a:p>
            <a:endParaRPr lang="en-US"/>
          </a:p>
        </p:txBody>
      </p:sp>
      <p:pic>
        <p:nvPicPr>
          <p:cNvPr id="1026" name="Picture 2" descr="http://businessanalystlearnings.com/s/Screen-Shot-2013-03-05-at-41321-PM.png"/>
          <p:cNvPicPr>
            <a:picLocks noChangeAspect="1" noChangeArrowheads="1"/>
          </p:cNvPicPr>
          <p:nvPr/>
        </p:nvPicPr>
        <p:blipFill>
          <a:blip r:embed="rId2"/>
          <a:srcRect/>
          <a:stretch>
            <a:fillRect/>
          </a:stretch>
        </p:blipFill>
        <p:spPr bwMode="auto">
          <a:xfrm>
            <a:off x="1423850" y="1632857"/>
            <a:ext cx="8817429" cy="4707936"/>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3778"/>
          </a:xfrm>
        </p:spPr>
        <p:txBody>
          <a:bodyPr>
            <a:normAutofit fontScale="90000"/>
          </a:bodyPr>
          <a:lstStyle/>
          <a:p>
            <a:r>
              <a:rPr lang="en-US" sz="3600" b="1" dirty="0" smtClean="0"/>
              <a:t>Example Scenario:</a:t>
            </a:r>
            <a:r>
              <a:rPr lang="en-US" dirty="0" smtClean="0"/>
              <a:t/>
            </a:r>
            <a:br>
              <a:rPr lang="en-US" dirty="0" smtClean="0"/>
            </a:br>
            <a:endParaRPr lang="en-US" dirty="0"/>
          </a:p>
        </p:txBody>
      </p:sp>
      <p:sp>
        <p:nvSpPr>
          <p:cNvPr id="3" name="Content Placeholder 2"/>
          <p:cNvSpPr>
            <a:spLocks noGrp="1"/>
          </p:cNvSpPr>
          <p:nvPr>
            <p:ph idx="1"/>
          </p:nvPr>
        </p:nvSpPr>
        <p:spPr>
          <a:xfrm>
            <a:off x="838200" y="849086"/>
            <a:ext cx="10515600" cy="5603965"/>
          </a:xfrm>
        </p:spPr>
        <p:txBody>
          <a:bodyPr>
            <a:normAutofit fontScale="85000" lnSpcReduction="20000"/>
          </a:bodyPr>
          <a:lstStyle/>
          <a:p>
            <a:pPr fontAlgn="base">
              <a:buNone/>
            </a:pPr>
            <a:r>
              <a:rPr lang="en-US" dirty="0" smtClean="0"/>
              <a:t>An ecommerce site which will display designer wallets to choose from, add to cart </a:t>
            </a:r>
          </a:p>
          <a:p>
            <a:pPr fontAlgn="base">
              <a:buNone/>
            </a:pPr>
            <a:r>
              <a:rPr lang="en-US" dirty="0" smtClean="0"/>
              <a:t>and purchase. Some of the requirements are as -</a:t>
            </a:r>
          </a:p>
          <a:p>
            <a:pPr fontAlgn="base"/>
            <a:r>
              <a:rPr lang="en-US" dirty="0" smtClean="0"/>
              <a:t>Integration of cart and payment gateway</a:t>
            </a:r>
          </a:p>
          <a:p>
            <a:pPr fontAlgn="base"/>
            <a:r>
              <a:rPr lang="en-US" dirty="0" smtClean="0"/>
              <a:t>Parallax design of home page</a:t>
            </a:r>
          </a:p>
          <a:p>
            <a:pPr fontAlgn="base"/>
            <a:r>
              <a:rPr lang="en-US" dirty="0" smtClean="0"/>
              <a:t>In-</a:t>
            </a:r>
            <a:r>
              <a:rPr lang="en-US" dirty="0" err="1" smtClean="0"/>
              <a:t>poge</a:t>
            </a:r>
            <a:r>
              <a:rPr lang="en-US" dirty="0" smtClean="0"/>
              <a:t> zooming of product image</a:t>
            </a:r>
          </a:p>
          <a:p>
            <a:pPr fontAlgn="base"/>
            <a:r>
              <a:rPr lang="en-US" dirty="0" smtClean="0"/>
              <a:t>Quick view option in product listing page</a:t>
            </a:r>
          </a:p>
          <a:p>
            <a:pPr fontAlgn="base"/>
            <a:r>
              <a:rPr lang="en-US" dirty="0" smtClean="0"/>
              <a:t>Ability to select from different payment options</a:t>
            </a:r>
          </a:p>
          <a:p>
            <a:pPr fontAlgn="base"/>
            <a:r>
              <a:rPr lang="en-US" dirty="0" smtClean="0"/>
              <a:t>‘Share your purchase’ widget</a:t>
            </a:r>
          </a:p>
          <a:p>
            <a:pPr fontAlgn="base"/>
            <a:r>
              <a:rPr lang="en-US" dirty="0" smtClean="0"/>
              <a:t>‘Refer a friend’ functionality</a:t>
            </a:r>
          </a:p>
          <a:p>
            <a:pPr fontAlgn="base"/>
            <a:r>
              <a:rPr lang="en-US" dirty="0" smtClean="0"/>
              <a:t>Tutorial animation to show entire process</a:t>
            </a:r>
          </a:p>
          <a:p>
            <a:pPr fontAlgn="base"/>
            <a:r>
              <a:rPr lang="en-US" dirty="0" smtClean="0"/>
              <a:t>Blog</a:t>
            </a:r>
          </a:p>
          <a:p>
            <a:pPr fontAlgn="base"/>
            <a:r>
              <a:rPr lang="en-US" dirty="0" smtClean="0"/>
              <a:t>User login and registration module</a:t>
            </a:r>
          </a:p>
          <a:p>
            <a:pPr fontAlgn="base"/>
            <a:r>
              <a:rPr lang="en-US" dirty="0" smtClean="0"/>
              <a:t>Order tracking widget</a:t>
            </a:r>
          </a:p>
          <a:p>
            <a:pPr fontAlgn="base"/>
            <a:r>
              <a:rPr lang="en-US" dirty="0" smtClean="0"/>
              <a:t>Funny game</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t>
            </a:r>
            <a:r>
              <a:rPr lang="en-US" b="1" dirty="0" err="1" smtClean="0"/>
              <a:t>MoSCoW</a:t>
            </a:r>
            <a:r>
              <a:rPr lang="en-US" b="1" dirty="0" smtClean="0"/>
              <a:t> Matrix</a:t>
            </a:r>
            <a:endParaRPr lang="en-US" dirty="0"/>
          </a:p>
        </p:txBody>
      </p:sp>
      <p:sp>
        <p:nvSpPr>
          <p:cNvPr id="3" name="Content Placeholder 2"/>
          <p:cNvSpPr>
            <a:spLocks noGrp="1"/>
          </p:cNvSpPr>
          <p:nvPr>
            <p:ph idx="1"/>
          </p:nvPr>
        </p:nvSpPr>
        <p:spPr/>
        <p:txBody>
          <a:bodyPr/>
          <a:lstStyle/>
          <a:p>
            <a:endParaRPr lang="en-US"/>
          </a:p>
        </p:txBody>
      </p:sp>
      <p:pic>
        <p:nvPicPr>
          <p:cNvPr id="25602" name="Picture 2" descr="https://media.licdn.com/mpr/mpr/p/5/005/080/1b6/0326368.jpg"/>
          <p:cNvPicPr>
            <a:picLocks noChangeAspect="1" noChangeArrowheads="1"/>
          </p:cNvPicPr>
          <p:nvPr/>
        </p:nvPicPr>
        <p:blipFill>
          <a:blip r:embed="rId2"/>
          <a:srcRect/>
          <a:stretch>
            <a:fillRect/>
          </a:stretch>
        </p:blipFill>
        <p:spPr bwMode="auto">
          <a:xfrm>
            <a:off x="1371600" y="1489166"/>
            <a:ext cx="8843554" cy="4846319"/>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endParaRPr lang="en-US" dirty="0" smtClean="0"/>
          </a:p>
          <a:p>
            <a:pPr algn="ctr">
              <a:buNone/>
            </a:pPr>
            <a:endParaRPr lang="en-US" dirty="0" smtClean="0"/>
          </a:p>
          <a:p>
            <a:pPr algn="ctr">
              <a:buNone/>
            </a:pPr>
            <a:endParaRPr lang="en-US" dirty="0" smtClean="0"/>
          </a:p>
          <a:p>
            <a:pPr algn="ctr">
              <a:buNone/>
            </a:pPr>
            <a:r>
              <a:rPr lang="en-US" sz="5400" dirty="0" smtClean="0"/>
              <a:t>100 dollar test</a:t>
            </a:r>
          </a:p>
          <a:p>
            <a:endParaRPr lang="en-US" dirty="0"/>
          </a:p>
        </p:txBody>
      </p:sp>
    </p:spTree>
    <p:extLst>
      <p:ext uri="{BB962C8B-B14F-4D97-AF65-F5344CB8AC3E}">
        <p14:creationId xmlns:p14="http://schemas.microsoft.com/office/powerpoint/2010/main" val="3790599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                                              Thank you</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491</Words>
  <Application>Microsoft Office PowerPoint</Application>
  <PresentationFormat>Widescreen</PresentationFormat>
  <Paragraphs>55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Requirement Prioritization </vt:lpstr>
      <vt:lpstr>Definition</vt:lpstr>
      <vt:lpstr>Benefits</vt:lpstr>
      <vt:lpstr>Planning the Releases</vt:lpstr>
      <vt:lpstr>Balancing benefits against cost</vt:lpstr>
      <vt:lpstr>Negotiating conflicts:</vt:lpstr>
      <vt:lpstr>Better Understanding: </vt:lpstr>
      <vt:lpstr>Prioritization Parameters </vt:lpstr>
      <vt:lpstr>Prioritization Technique</vt:lpstr>
      <vt:lpstr>MosCow</vt:lpstr>
      <vt:lpstr>MosCow</vt:lpstr>
      <vt:lpstr>Example Scenario: </vt:lpstr>
      <vt:lpstr>The MoSCoW Matrix</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 Prioritization</dc:title>
  <dc:creator>USER</dc:creator>
  <cp:lastModifiedBy>Windows User</cp:lastModifiedBy>
  <cp:revision>8</cp:revision>
  <dcterms:created xsi:type="dcterms:W3CDTF">2016-03-30T17:08:41Z</dcterms:created>
  <dcterms:modified xsi:type="dcterms:W3CDTF">2019-07-30T03:59:28Z</dcterms:modified>
</cp:coreProperties>
</file>