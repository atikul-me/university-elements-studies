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30"/>
  </p:notesMasterIdLst>
  <p:sldIdLst>
    <p:sldId id="256" r:id="rId2"/>
    <p:sldId id="257" r:id="rId3"/>
    <p:sldId id="263" r:id="rId4"/>
    <p:sldId id="286" r:id="rId5"/>
    <p:sldId id="287" r:id="rId6"/>
    <p:sldId id="288" r:id="rId7"/>
    <p:sldId id="290" r:id="rId8"/>
    <p:sldId id="291" r:id="rId9"/>
    <p:sldId id="292" r:id="rId10"/>
    <p:sldId id="293" r:id="rId11"/>
    <p:sldId id="280" r:id="rId12"/>
    <p:sldId id="281" r:id="rId13"/>
    <p:sldId id="282" r:id="rId14"/>
    <p:sldId id="268" r:id="rId15"/>
    <p:sldId id="269" r:id="rId16"/>
    <p:sldId id="294" r:id="rId17"/>
    <p:sldId id="295" r:id="rId18"/>
    <p:sldId id="266" r:id="rId19"/>
    <p:sldId id="270" r:id="rId20"/>
    <p:sldId id="296" r:id="rId21"/>
    <p:sldId id="271" r:id="rId22"/>
    <p:sldId id="272" r:id="rId23"/>
    <p:sldId id="273" r:id="rId24"/>
    <p:sldId id="274" r:id="rId25"/>
    <p:sldId id="276" r:id="rId26"/>
    <p:sldId id="277" r:id="rId27"/>
    <p:sldId id="279" r:id="rId28"/>
    <p:sldId id="297"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735" autoAdjust="0"/>
    <p:restoredTop sz="94660"/>
  </p:normalViewPr>
  <p:slideViewPr>
    <p:cSldViewPr>
      <p:cViewPr varScale="1">
        <p:scale>
          <a:sx n="70" d="100"/>
          <a:sy n="70" d="100"/>
        </p:scale>
        <p:origin x="972"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6992B5C-A1B3-48C2-8EA1-5CFDCC528CC0}" type="doc">
      <dgm:prSet loTypeId="urn:microsoft.com/office/officeart/2005/8/layout/pyramid2" loCatId="pyramid" qsTypeId="urn:microsoft.com/office/officeart/2005/8/quickstyle/3d3" qsCatId="3D" csTypeId="urn:microsoft.com/office/officeart/2005/8/colors/accent0_3" csCatId="mainScheme" phldr="1"/>
      <dgm:spPr/>
    </dgm:pt>
    <dgm:pt modelId="{23CDC036-6358-4D60-8469-FC4AA76E20FE}">
      <dgm:prSet/>
      <dgm:spPr/>
      <dgm:t>
        <a:bodyPr/>
        <a:lstStyle/>
        <a:p>
          <a:r>
            <a:rPr lang="en-US"/>
            <a:t>Functional Requirements</a:t>
          </a:r>
          <a:endParaRPr lang="en-US" dirty="0"/>
        </a:p>
      </dgm:t>
    </dgm:pt>
    <dgm:pt modelId="{FDBDBD50-9634-405B-863C-07E7A26A2F70}" type="parTrans" cxnId="{686FA6EF-536E-4D8B-9504-D91C7A1E389E}">
      <dgm:prSet/>
      <dgm:spPr/>
      <dgm:t>
        <a:bodyPr/>
        <a:lstStyle/>
        <a:p>
          <a:endParaRPr lang="en-US"/>
        </a:p>
      </dgm:t>
    </dgm:pt>
    <dgm:pt modelId="{D3DABFD4-EED4-4EB7-81E0-8FC66D43F2B3}" type="sibTrans" cxnId="{686FA6EF-536E-4D8B-9504-D91C7A1E389E}">
      <dgm:prSet/>
      <dgm:spPr/>
      <dgm:t>
        <a:bodyPr/>
        <a:lstStyle/>
        <a:p>
          <a:endParaRPr lang="en-US"/>
        </a:p>
      </dgm:t>
    </dgm:pt>
    <dgm:pt modelId="{41EECEA9-8F65-4444-BC45-4AD15AD0DC06}">
      <dgm:prSet/>
      <dgm:spPr/>
      <dgm:t>
        <a:bodyPr/>
        <a:lstStyle/>
        <a:p>
          <a:r>
            <a:rPr lang="en-US"/>
            <a:t>Non-Functional Requirements</a:t>
          </a:r>
          <a:endParaRPr lang="en-US" dirty="0"/>
        </a:p>
      </dgm:t>
    </dgm:pt>
    <dgm:pt modelId="{8CD8A78B-8EB2-4BB0-A56C-4ABC72646591}" type="parTrans" cxnId="{C3800BCD-1A67-4838-AEDB-CBDEDC1B0941}">
      <dgm:prSet/>
      <dgm:spPr/>
      <dgm:t>
        <a:bodyPr/>
        <a:lstStyle/>
        <a:p>
          <a:endParaRPr lang="en-US"/>
        </a:p>
      </dgm:t>
    </dgm:pt>
    <dgm:pt modelId="{16E843AA-9BCE-4026-B149-C4BEBCF9926A}" type="sibTrans" cxnId="{C3800BCD-1A67-4838-AEDB-CBDEDC1B0941}">
      <dgm:prSet/>
      <dgm:spPr/>
      <dgm:t>
        <a:bodyPr/>
        <a:lstStyle/>
        <a:p>
          <a:endParaRPr lang="en-US"/>
        </a:p>
      </dgm:t>
    </dgm:pt>
    <dgm:pt modelId="{31E9E000-A271-4503-97C4-C0441F41ED5C}" type="pres">
      <dgm:prSet presAssocID="{D6992B5C-A1B3-48C2-8EA1-5CFDCC528CC0}" presName="compositeShape" presStyleCnt="0">
        <dgm:presLayoutVars>
          <dgm:dir/>
          <dgm:resizeHandles/>
        </dgm:presLayoutVars>
      </dgm:prSet>
      <dgm:spPr/>
    </dgm:pt>
    <dgm:pt modelId="{F0B455A0-7970-4578-AF28-82E1CE48EC77}" type="pres">
      <dgm:prSet presAssocID="{D6992B5C-A1B3-48C2-8EA1-5CFDCC528CC0}" presName="pyramid" presStyleLbl="node1" presStyleIdx="0" presStyleCnt="1" custLinFactNeighborX="-8770"/>
      <dgm:spPr>
        <a:solidFill>
          <a:schemeClr val="accent1">
            <a:lumMod val="60000"/>
            <a:lumOff val="40000"/>
          </a:schemeClr>
        </a:solidFill>
      </dgm:spPr>
    </dgm:pt>
    <dgm:pt modelId="{5A9F4A40-FF59-497B-A599-55E53D7DF1A2}" type="pres">
      <dgm:prSet presAssocID="{D6992B5C-A1B3-48C2-8EA1-5CFDCC528CC0}" presName="theList" presStyleCnt="0"/>
      <dgm:spPr/>
    </dgm:pt>
    <dgm:pt modelId="{CD5F49A2-4B75-404E-84E4-61F3378431FB}" type="pres">
      <dgm:prSet presAssocID="{23CDC036-6358-4D60-8469-FC4AA76E20FE}" presName="aNode" presStyleLbl="fgAcc1" presStyleIdx="0" presStyleCnt="2" custScaleX="130906" custLinFactNeighborX="2733">
        <dgm:presLayoutVars>
          <dgm:bulletEnabled val="1"/>
        </dgm:presLayoutVars>
      </dgm:prSet>
      <dgm:spPr/>
    </dgm:pt>
    <dgm:pt modelId="{CDC00BD9-D173-43BE-A900-728EEF09309F}" type="pres">
      <dgm:prSet presAssocID="{23CDC036-6358-4D60-8469-FC4AA76E20FE}" presName="aSpace" presStyleCnt="0"/>
      <dgm:spPr/>
    </dgm:pt>
    <dgm:pt modelId="{3FB48F60-81B6-441D-9832-C412490EF5DC}" type="pres">
      <dgm:prSet presAssocID="{41EECEA9-8F65-4444-BC45-4AD15AD0DC06}" presName="aNode" presStyleLbl="fgAcc1" presStyleIdx="1" presStyleCnt="2" custScaleX="130906" custLinFactNeighborX="2733">
        <dgm:presLayoutVars>
          <dgm:bulletEnabled val="1"/>
        </dgm:presLayoutVars>
      </dgm:prSet>
      <dgm:spPr/>
    </dgm:pt>
    <dgm:pt modelId="{CBC9502A-FF53-4A2D-8D01-898130C5E7B7}" type="pres">
      <dgm:prSet presAssocID="{41EECEA9-8F65-4444-BC45-4AD15AD0DC06}" presName="aSpace" presStyleCnt="0"/>
      <dgm:spPr/>
    </dgm:pt>
  </dgm:ptLst>
  <dgm:cxnLst>
    <dgm:cxn modelId="{1AB4CF39-E2F4-4E4A-905E-D574F6BD669D}" type="presOf" srcId="{D6992B5C-A1B3-48C2-8EA1-5CFDCC528CC0}" destId="{31E9E000-A271-4503-97C4-C0441F41ED5C}" srcOrd="0" destOrd="0" presId="urn:microsoft.com/office/officeart/2005/8/layout/pyramid2"/>
    <dgm:cxn modelId="{204CF44D-ABD4-4AB2-AAFB-BAA490999395}" type="presOf" srcId="{23CDC036-6358-4D60-8469-FC4AA76E20FE}" destId="{CD5F49A2-4B75-404E-84E4-61F3378431FB}" srcOrd="0" destOrd="0" presId="urn:microsoft.com/office/officeart/2005/8/layout/pyramid2"/>
    <dgm:cxn modelId="{01445894-80A9-44D7-BE1C-B83CC179CE11}" type="presOf" srcId="{41EECEA9-8F65-4444-BC45-4AD15AD0DC06}" destId="{3FB48F60-81B6-441D-9832-C412490EF5DC}" srcOrd="0" destOrd="0" presId="urn:microsoft.com/office/officeart/2005/8/layout/pyramid2"/>
    <dgm:cxn modelId="{C3800BCD-1A67-4838-AEDB-CBDEDC1B0941}" srcId="{D6992B5C-A1B3-48C2-8EA1-5CFDCC528CC0}" destId="{41EECEA9-8F65-4444-BC45-4AD15AD0DC06}" srcOrd="1" destOrd="0" parTransId="{8CD8A78B-8EB2-4BB0-A56C-4ABC72646591}" sibTransId="{16E843AA-9BCE-4026-B149-C4BEBCF9926A}"/>
    <dgm:cxn modelId="{686FA6EF-536E-4D8B-9504-D91C7A1E389E}" srcId="{D6992B5C-A1B3-48C2-8EA1-5CFDCC528CC0}" destId="{23CDC036-6358-4D60-8469-FC4AA76E20FE}" srcOrd="0" destOrd="0" parTransId="{FDBDBD50-9634-405B-863C-07E7A26A2F70}" sibTransId="{D3DABFD4-EED4-4EB7-81E0-8FC66D43F2B3}"/>
    <dgm:cxn modelId="{C52AFC45-3FD3-4404-BA2F-E8D5B59302AC}" type="presParOf" srcId="{31E9E000-A271-4503-97C4-C0441F41ED5C}" destId="{F0B455A0-7970-4578-AF28-82E1CE48EC77}" srcOrd="0" destOrd="0" presId="urn:microsoft.com/office/officeart/2005/8/layout/pyramid2"/>
    <dgm:cxn modelId="{B002513C-ED41-48CE-9F01-C3B290E88F2F}" type="presParOf" srcId="{31E9E000-A271-4503-97C4-C0441F41ED5C}" destId="{5A9F4A40-FF59-497B-A599-55E53D7DF1A2}" srcOrd="1" destOrd="0" presId="urn:microsoft.com/office/officeart/2005/8/layout/pyramid2"/>
    <dgm:cxn modelId="{E51506C9-421A-4421-A751-CB9979D9515C}" type="presParOf" srcId="{5A9F4A40-FF59-497B-A599-55E53D7DF1A2}" destId="{CD5F49A2-4B75-404E-84E4-61F3378431FB}" srcOrd="0" destOrd="0" presId="urn:microsoft.com/office/officeart/2005/8/layout/pyramid2"/>
    <dgm:cxn modelId="{4FABB7E2-B676-4087-B5DD-5F8D6DF8D1C0}" type="presParOf" srcId="{5A9F4A40-FF59-497B-A599-55E53D7DF1A2}" destId="{CDC00BD9-D173-43BE-A900-728EEF09309F}" srcOrd="1" destOrd="0" presId="urn:microsoft.com/office/officeart/2005/8/layout/pyramid2"/>
    <dgm:cxn modelId="{B83C7D28-EBDA-4F9E-8CC2-758ED84736B4}" type="presParOf" srcId="{5A9F4A40-FF59-497B-A599-55E53D7DF1A2}" destId="{3FB48F60-81B6-441D-9832-C412490EF5DC}" srcOrd="2" destOrd="0" presId="urn:microsoft.com/office/officeart/2005/8/layout/pyramid2"/>
    <dgm:cxn modelId="{7AC7D04D-3D7C-48E8-BB4D-140E63ACFBAF}" type="presParOf" srcId="{5A9F4A40-FF59-497B-A599-55E53D7DF1A2}" destId="{CBC9502A-FF53-4A2D-8D01-898130C5E7B7}" srcOrd="3" destOrd="0" presId="urn:microsoft.com/office/officeart/2005/8/layout/pyramid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B455A0-7970-4578-AF28-82E1CE48EC77}">
      <dsp:nvSpPr>
        <dsp:cNvPr id="0" name=""/>
        <dsp:cNvSpPr/>
      </dsp:nvSpPr>
      <dsp:spPr>
        <a:xfrm>
          <a:off x="0" y="0"/>
          <a:ext cx="5864225" cy="5864225"/>
        </a:xfrm>
        <a:prstGeom prst="triangle">
          <a:avLst/>
        </a:prstGeom>
        <a:solidFill>
          <a:schemeClr val="accent1">
            <a:lumMod val="60000"/>
            <a:lumOff val="40000"/>
          </a:schemeClr>
        </a:solidFill>
        <a:ln>
          <a:noFill/>
        </a:ln>
        <a:effectLst>
          <a:outerShdw blurRad="50800" dist="20000" dir="5400000" rotWithShape="0">
            <a:srgbClr val="000000">
              <a:alpha val="42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CD5F49A2-4B75-404E-84E4-61F3378431FB}">
      <dsp:nvSpPr>
        <dsp:cNvPr id="0" name=""/>
        <dsp:cNvSpPr/>
      </dsp:nvSpPr>
      <dsp:spPr>
        <a:xfrm>
          <a:off x="2743214" y="586995"/>
          <a:ext cx="4989804" cy="2084548"/>
        </a:xfrm>
        <a:prstGeom prst="roundRect">
          <a:avLst/>
        </a:prstGeom>
        <a:solidFill>
          <a:schemeClr val="lt2">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75260" tIns="175260" rIns="175260" bIns="175260" numCol="1" spcCol="1270" anchor="ctr" anchorCtr="0">
          <a:noAutofit/>
        </a:bodyPr>
        <a:lstStyle/>
        <a:p>
          <a:pPr marL="0" lvl="0" indent="0" algn="ctr" defTabSz="2044700">
            <a:lnSpc>
              <a:spcPct val="90000"/>
            </a:lnSpc>
            <a:spcBef>
              <a:spcPct val="0"/>
            </a:spcBef>
            <a:spcAft>
              <a:spcPct val="35000"/>
            </a:spcAft>
            <a:buNone/>
          </a:pPr>
          <a:r>
            <a:rPr lang="en-US" sz="4600" kern="1200"/>
            <a:t>Functional Requirements</a:t>
          </a:r>
          <a:endParaRPr lang="en-US" sz="4600" kern="1200" dirty="0"/>
        </a:p>
      </dsp:txBody>
      <dsp:txXfrm>
        <a:off x="2844973" y="688754"/>
        <a:ext cx="4786286" cy="1881030"/>
      </dsp:txXfrm>
    </dsp:sp>
    <dsp:sp modelId="{3FB48F60-81B6-441D-9832-C412490EF5DC}">
      <dsp:nvSpPr>
        <dsp:cNvPr id="0" name=""/>
        <dsp:cNvSpPr/>
      </dsp:nvSpPr>
      <dsp:spPr>
        <a:xfrm>
          <a:off x="2743214" y="2932112"/>
          <a:ext cx="4989804" cy="2084548"/>
        </a:xfrm>
        <a:prstGeom prst="roundRect">
          <a:avLst/>
        </a:prstGeom>
        <a:solidFill>
          <a:schemeClr val="lt2">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71450" tIns="171450" rIns="171450" bIns="171450" numCol="1" spcCol="1270" anchor="ctr" anchorCtr="0">
          <a:noAutofit/>
        </a:bodyPr>
        <a:lstStyle/>
        <a:p>
          <a:pPr marL="0" lvl="0" indent="0" algn="ctr" defTabSz="2000250">
            <a:lnSpc>
              <a:spcPct val="90000"/>
            </a:lnSpc>
            <a:spcBef>
              <a:spcPct val="0"/>
            </a:spcBef>
            <a:spcAft>
              <a:spcPct val="35000"/>
            </a:spcAft>
            <a:buNone/>
          </a:pPr>
          <a:r>
            <a:rPr lang="en-US" sz="4500" kern="1200"/>
            <a:t>Non-Functional Requirements</a:t>
          </a:r>
          <a:endParaRPr lang="en-US" sz="4500" kern="1200" dirty="0"/>
        </a:p>
      </dsp:txBody>
      <dsp:txXfrm>
        <a:off x="2844973" y="3033871"/>
        <a:ext cx="4786286" cy="1881030"/>
      </dsp:txXfrm>
    </dsp:sp>
  </dsp:spTree>
</dsp:drawing>
</file>

<file path=ppt/diagrams/layout1.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9B30D04-98B6-4540-B3F3-7A7193CF2175}" type="datetimeFigureOut">
              <a:rPr lang="en-US" smtClean="0"/>
              <a:pPr/>
              <a:t>6/2/2020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D9BB147-25B1-4ED1-BEF1-403CDB370333}" type="slidenum">
              <a:rPr lang="en-US" smtClean="0"/>
              <a:pPr/>
              <a:t>‹#›</a:t>
            </a:fld>
            <a:endParaRPr lang="en-US"/>
          </a:p>
        </p:txBody>
      </p:sp>
    </p:spTree>
    <p:extLst>
      <p:ext uri="{BB962C8B-B14F-4D97-AF65-F5344CB8AC3E}">
        <p14:creationId xmlns:p14="http://schemas.microsoft.com/office/powerpoint/2010/main" val="31726699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a:t>Click to edit Master title style</a:t>
            </a:r>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bwMode="auto">
          <a:xfrm rot="5400000">
            <a:off x="7764621" y="1174097"/>
            <a:ext cx="2286000" cy="381000"/>
          </a:xfrm>
        </p:spPr>
        <p:txBody>
          <a:bodyPr/>
          <a:lstStyle/>
          <a:p>
            <a:fld id="{84D300AF-353B-4B22-9266-BEB4F00FB796}" type="datetime1">
              <a:rPr lang="en-US" smtClean="0"/>
              <a:pPr/>
              <a:t>6/2/2020</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4"/>
          </p:nvPr>
        </p:nvSpPr>
        <p:spPr/>
        <p:txBody>
          <a:bodyPr rtlCol="0"/>
          <a:lstStyle/>
          <a:p>
            <a:fld id="{27DB3EE0-108B-402E-A253-01F069D27801}" type="datetime1">
              <a:rPr lang="en-US" smtClean="0"/>
              <a:pPr/>
              <a:t>6/2/2020</a:t>
            </a:fld>
            <a:endParaRPr lang="en-US"/>
          </a:p>
        </p:txBody>
      </p:sp>
      <p:sp>
        <p:nvSpPr>
          <p:cNvPr id="9" name="Slide Number Placeholder 8"/>
          <p:cNvSpPr>
            <a:spLocks noGrp="1"/>
          </p:cNvSpPr>
          <p:nvPr>
            <p:ph type="sldNum" sz="quarter" idx="15"/>
          </p:nvPr>
        </p:nvSpPr>
        <p:spPr/>
        <p:txBody>
          <a:bodyPr rtlCol="0"/>
          <a:lstStyle/>
          <a:p>
            <a:fld id="{B6F15528-21DE-4FAA-801E-634DDDAF4B2B}" type="slidenum">
              <a:rPr lang="en-US" smtClean="0"/>
              <a:pPr/>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a:t>Click to edit Master title style</a:t>
            </a:r>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B580A828-2DDD-4C55-B815-E91B022D8AEE}" type="datetime1">
              <a:rPr lang="en-US" smtClean="0"/>
              <a:pPr/>
              <a:t>6/2/2020</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4A228900-E97E-4E78-B833-3CF34F3C49F0}" type="datetime1">
              <a:rPr lang="en-US" smtClean="0"/>
              <a:pPr/>
              <a:t>6/2/2020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a:t>Click to edit Master title style</a:t>
            </a:r>
          </a:p>
        </p:txBody>
      </p:sp>
      <p:sp>
        <p:nvSpPr>
          <p:cNvPr id="7" name="Date Placeholder 6"/>
          <p:cNvSpPr>
            <a:spLocks noGrp="1"/>
          </p:cNvSpPr>
          <p:nvPr>
            <p:ph type="dt" sz="half" idx="10"/>
          </p:nvPr>
        </p:nvSpPr>
        <p:spPr/>
        <p:txBody>
          <a:bodyPr/>
          <a:lstStyle/>
          <a:p>
            <a:fld id="{3496D2DC-7452-4D82-8D15-F2951985E3CE}" type="datetime1">
              <a:rPr lang="en-US" smtClean="0"/>
              <a:pPr/>
              <a:t>6/2/2020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6" name="Date Placeholder 5"/>
          <p:cNvSpPr>
            <a:spLocks noGrp="1"/>
          </p:cNvSpPr>
          <p:nvPr>
            <p:ph type="dt" sz="half" idx="10"/>
          </p:nvPr>
        </p:nvSpPr>
        <p:spPr/>
        <p:txBody>
          <a:bodyPr rtlCol="0"/>
          <a:lstStyle/>
          <a:p>
            <a:fld id="{E0CB3D72-B6F6-45C2-A407-72005D729295}" type="datetime1">
              <a:rPr lang="en-US" smtClean="0"/>
              <a:pPr/>
              <a:t>6/2/2020</a:t>
            </a:fld>
            <a:endParaRPr lang="en-US"/>
          </a:p>
        </p:txBody>
      </p:sp>
      <p:sp>
        <p:nvSpPr>
          <p:cNvPr id="7" name="Slide Number Placeholder 6"/>
          <p:cNvSpPr>
            <a:spLocks noGrp="1"/>
          </p:cNvSpPr>
          <p:nvPr>
            <p:ph type="sldNum" sz="quarter" idx="11"/>
          </p:nvPr>
        </p:nvSpPr>
        <p:spPr/>
        <p:txBody>
          <a:bodyPr rtlCol="0"/>
          <a:lstStyle/>
          <a:p>
            <a:fld id="{B6F15528-21DE-4FAA-801E-634DDDAF4B2B}" type="slidenum">
              <a:rPr lang="en-US" smtClean="0"/>
              <a:pPr/>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3E3A305-F730-4939-B605-DD7B1E8D95D6}" type="datetime1">
              <a:rPr lang="en-US" smtClean="0"/>
              <a:pPr/>
              <a:t>6/2/2020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a:t>Click to edit Master title style</a:t>
            </a:r>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1" name="Date Placeholder 20"/>
          <p:cNvSpPr>
            <a:spLocks noGrp="1"/>
          </p:cNvSpPr>
          <p:nvPr>
            <p:ph type="dt" sz="half" idx="14"/>
          </p:nvPr>
        </p:nvSpPr>
        <p:spPr/>
        <p:txBody>
          <a:bodyPr rtlCol="0"/>
          <a:lstStyle/>
          <a:p>
            <a:fld id="{FF6D488F-36C3-4A30-A0C9-4D1660396415}" type="datetime1">
              <a:rPr lang="en-US" smtClean="0"/>
              <a:pPr/>
              <a:t>6/2/2020</a:t>
            </a:fld>
            <a:endParaRPr lang="en-US"/>
          </a:p>
        </p:txBody>
      </p:sp>
      <p:sp>
        <p:nvSpPr>
          <p:cNvPr id="22" name="Slide Number Placeholder 21"/>
          <p:cNvSpPr>
            <a:spLocks noGrp="1"/>
          </p:cNvSpPr>
          <p:nvPr>
            <p:ph type="sldNum" sz="quarter" idx="15"/>
          </p:nvPr>
        </p:nvSpPr>
        <p:spPr/>
        <p:txBody>
          <a:bodyPr rtlCol="0"/>
          <a:lstStyle/>
          <a:p>
            <a:fld id="{B6F15528-21DE-4FAA-801E-634DDDAF4B2B}" type="slidenum">
              <a:rPr lang="en-US" smtClean="0"/>
              <a:pPr/>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a:t>Click to edit Master title style</a:t>
            </a:r>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E0DB3938-E3B5-4C89-818E-18D25344B74B}" type="datetime1">
              <a:rPr lang="en-US" smtClean="0"/>
              <a:pPr/>
              <a:t>6/2/2020</a:t>
            </a:fld>
            <a:endParaRPr lang="en-US"/>
          </a:p>
        </p:txBody>
      </p:sp>
      <p:sp>
        <p:nvSpPr>
          <p:cNvPr id="18" name="Slide Number Placeholder 17"/>
          <p:cNvSpPr>
            <a:spLocks noGrp="1"/>
          </p:cNvSpPr>
          <p:nvPr>
            <p:ph type="sldNum" sz="quarter" idx="11"/>
          </p:nvPr>
        </p:nvSpPr>
        <p:spPr/>
        <p:txBody>
          <a:bodyPr rtlCol="0"/>
          <a:lstStyle/>
          <a:p>
            <a:fld id="{B6F15528-21DE-4FAA-801E-634DDDAF4B2B}" type="slidenum">
              <a:rPr lang="en-US" smtClean="0"/>
              <a:pPr/>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DAEC5C19-6F2C-46BA-98C6-84FB26CC787C}" type="datetime1">
              <a:rPr lang="en-US" smtClean="0"/>
              <a:pPr/>
              <a:t>6/2/2020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67E47D1-1E4E-46CB-9788-FF83690E609A}" type="datetime1">
              <a:rPr lang="en-US" smtClean="0"/>
              <a:pPr/>
              <a:t>6/2/2020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BC3D0534-0078-4CF9-B5DF-1AF00F058FD4}" type="datetime1">
              <a:rPr lang="en-US" smtClean="0"/>
              <a:pPr/>
              <a:t>6/2/2020</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Software Requirements</a:t>
            </a:r>
          </a:p>
        </p:txBody>
      </p:sp>
      <p:sp>
        <p:nvSpPr>
          <p:cNvPr id="3" name="Subtitle 2"/>
          <p:cNvSpPr>
            <a:spLocks noGrp="1"/>
          </p:cNvSpPr>
          <p:nvPr>
            <p:ph type="subTitle" idx="1"/>
          </p:nvPr>
        </p:nvSpPr>
        <p:spPr/>
        <p:txBody>
          <a:bodyPr/>
          <a:lstStyle/>
          <a:p>
            <a:endParaRPr lang="en-US" b="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sz="quarter" idx="1"/>
            <p:extLst>
              <p:ext uri="{D42A27DB-BD31-4B8C-83A1-F6EECF244321}">
                <p14:modId xmlns:p14="http://schemas.microsoft.com/office/powerpoint/2010/main" val="2979973651"/>
              </p:ext>
            </p:extLst>
          </p:nvPr>
        </p:nvGraphicFramePr>
        <p:xfrm>
          <a:off x="457200" y="609600"/>
          <a:ext cx="7924800" cy="58642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p:cNvSpPr>
            <a:spLocks noGrp="1"/>
          </p:cNvSpPr>
          <p:nvPr>
            <p:ph type="sldNum" sz="quarter" idx="15"/>
          </p:nvPr>
        </p:nvSpPr>
        <p:spPr/>
        <p:txBody>
          <a:bodyPr/>
          <a:lstStyle/>
          <a:p>
            <a:fld id="{B6F15528-21DE-4FAA-801E-634DDDAF4B2B}"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dirty="0"/>
              <a:t>What goes on in the mind?</a:t>
            </a:r>
            <a:endParaRPr lang="en-US" dirty="0"/>
          </a:p>
        </p:txBody>
      </p:sp>
      <p:pic>
        <p:nvPicPr>
          <p:cNvPr id="4" name="Picture 4"/>
          <p:cNvPicPr>
            <a:picLocks noGrp="1" noChangeAspect="1" noChangeArrowheads="1"/>
          </p:cNvPicPr>
          <p:nvPr>
            <p:ph sz="quarter" idx="1"/>
          </p:nvPr>
        </p:nvPicPr>
        <p:blipFill>
          <a:blip r:embed="rId2" cstate="print">
            <a:extLst>
              <a:ext uri="{28A0092B-C50C-407E-A947-70E740481C1C}">
                <a14:useLocalDpi xmlns:a14="http://schemas.microsoft.com/office/drawing/2010/main" val="0"/>
              </a:ext>
            </a:extLst>
          </a:blip>
          <a:srcRect l="4761" t="9108" r="3667" b="7416"/>
          <a:stretch>
            <a:fillRect/>
          </a:stretch>
        </p:blipFill>
        <p:spPr>
          <a:xfrm>
            <a:off x="625562" y="1600200"/>
            <a:ext cx="7130876" cy="4873625"/>
          </a:xfrm>
          <a:noFill/>
        </p:spPr>
      </p:pic>
      <p:sp>
        <p:nvSpPr>
          <p:cNvPr id="5" name="Slide Number Placeholder 4"/>
          <p:cNvSpPr>
            <a:spLocks noGrp="1"/>
          </p:cNvSpPr>
          <p:nvPr>
            <p:ph type="sldNum" sz="quarter" idx="15"/>
          </p:nvPr>
        </p:nvSpPr>
        <p:spPr/>
        <p:txBody>
          <a:bodyPr/>
          <a:lstStyle/>
          <a:p>
            <a:fld id="{B6F15528-21DE-4FAA-801E-634DDDAF4B2B}"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BC110-CE3C-4B4F-9849-6FD3C97B72B5}"/>
              </a:ext>
            </a:extLst>
          </p:cNvPr>
          <p:cNvSpPr>
            <a:spLocks noGrp="1"/>
          </p:cNvSpPr>
          <p:nvPr>
            <p:ph type="title"/>
          </p:nvPr>
        </p:nvSpPr>
        <p:spPr>
          <a:xfrm>
            <a:off x="457200" y="274638"/>
            <a:ext cx="7467600" cy="944562"/>
          </a:xfrm>
        </p:spPr>
        <p:txBody>
          <a:bodyPr/>
          <a:lstStyle/>
          <a:p>
            <a:r>
              <a:rPr lang="en-US" dirty="0"/>
              <a:t>Software Requirements </a:t>
            </a:r>
          </a:p>
        </p:txBody>
      </p:sp>
      <p:sp>
        <p:nvSpPr>
          <p:cNvPr id="3" name="Content Placeholder 2">
            <a:extLst>
              <a:ext uri="{FF2B5EF4-FFF2-40B4-BE49-F238E27FC236}">
                <a16:creationId xmlns:a16="http://schemas.microsoft.com/office/drawing/2014/main" id="{323E956D-8756-40FD-955C-D813B06DB93F}"/>
              </a:ext>
            </a:extLst>
          </p:cNvPr>
          <p:cNvSpPr>
            <a:spLocks noGrp="1"/>
          </p:cNvSpPr>
          <p:nvPr>
            <p:ph sz="quarter" idx="1"/>
          </p:nvPr>
        </p:nvSpPr>
        <p:spPr/>
        <p:txBody>
          <a:bodyPr/>
          <a:lstStyle/>
          <a:p>
            <a:r>
              <a:rPr lang="en-US" dirty="0"/>
              <a:t>The software requirements are description of features and functionalities of the target system. </a:t>
            </a:r>
          </a:p>
          <a:p>
            <a:r>
              <a:rPr lang="en-US" dirty="0"/>
              <a:t>Requirements convey the expectations of users from the software product. </a:t>
            </a:r>
          </a:p>
          <a:p>
            <a:r>
              <a:rPr lang="en-US" dirty="0"/>
              <a:t>The requirements can be obvious or hidden, known or unknown, expected or unexpected from client’s point of view.</a:t>
            </a:r>
          </a:p>
        </p:txBody>
      </p:sp>
      <p:sp>
        <p:nvSpPr>
          <p:cNvPr id="4" name="Slide Number Placeholder 3">
            <a:extLst>
              <a:ext uri="{FF2B5EF4-FFF2-40B4-BE49-F238E27FC236}">
                <a16:creationId xmlns:a16="http://schemas.microsoft.com/office/drawing/2014/main" id="{29EAF165-C101-4249-91C1-D21D17E2E30F}"/>
              </a:ext>
            </a:extLst>
          </p:cNvPr>
          <p:cNvSpPr>
            <a:spLocks noGrp="1"/>
          </p:cNvSpPr>
          <p:nvPr>
            <p:ph type="sldNum" sz="quarter" idx="15"/>
          </p:nvPr>
        </p:nvSpPr>
        <p:spPr/>
        <p:txBody>
          <a:bodyPr/>
          <a:lstStyle/>
          <a:p>
            <a:fld id="{B6F15528-21DE-4FAA-801E-634DDDAF4B2B}" type="slidenum">
              <a:rPr lang="en-US" smtClean="0"/>
              <a:pPr/>
              <a:t>4</a:t>
            </a:fld>
            <a:endParaRPr lang="en-US"/>
          </a:p>
        </p:txBody>
      </p:sp>
    </p:spTree>
    <p:extLst>
      <p:ext uri="{BB962C8B-B14F-4D97-AF65-F5344CB8AC3E}">
        <p14:creationId xmlns:p14="http://schemas.microsoft.com/office/powerpoint/2010/main" val="16799297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3BAB5-D7ED-4C7B-83B3-F77E3DE81C82}"/>
              </a:ext>
            </a:extLst>
          </p:cNvPr>
          <p:cNvSpPr>
            <a:spLocks noGrp="1"/>
          </p:cNvSpPr>
          <p:nvPr>
            <p:ph type="title"/>
          </p:nvPr>
        </p:nvSpPr>
        <p:spPr/>
        <p:txBody>
          <a:bodyPr/>
          <a:lstStyle/>
          <a:p>
            <a:r>
              <a:rPr lang="en-US" dirty="0"/>
              <a:t>Requirement Engineering</a:t>
            </a:r>
          </a:p>
        </p:txBody>
      </p:sp>
      <p:sp>
        <p:nvSpPr>
          <p:cNvPr id="3" name="Content Placeholder 2">
            <a:extLst>
              <a:ext uri="{FF2B5EF4-FFF2-40B4-BE49-F238E27FC236}">
                <a16:creationId xmlns:a16="http://schemas.microsoft.com/office/drawing/2014/main" id="{30C09249-9C54-480D-B24B-ED473B4E087B}"/>
              </a:ext>
            </a:extLst>
          </p:cNvPr>
          <p:cNvSpPr>
            <a:spLocks noGrp="1"/>
          </p:cNvSpPr>
          <p:nvPr>
            <p:ph sz="quarter" idx="1"/>
          </p:nvPr>
        </p:nvSpPr>
        <p:spPr/>
        <p:txBody>
          <a:bodyPr>
            <a:normAutofit/>
          </a:bodyPr>
          <a:lstStyle/>
          <a:p>
            <a:r>
              <a:rPr lang="en-US" dirty="0"/>
              <a:t>The process to gather the software requirements from client, analyze and document them is known as requirement engineering.</a:t>
            </a:r>
          </a:p>
          <a:p>
            <a:pPr marL="0" indent="0">
              <a:buNone/>
            </a:pPr>
            <a:endParaRPr lang="en-US" dirty="0"/>
          </a:p>
          <a:p>
            <a:r>
              <a:rPr lang="en-US" dirty="0"/>
              <a:t>The goal of requirement engineering is to develop and maintain sophisticated and descriptive ‘System Requirements Specification’ document</a:t>
            </a:r>
          </a:p>
          <a:p>
            <a:endParaRPr lang="en-US" dirty="0"/>
          </a:p>
        </p:txBody>
      </p:sp>
      <p:sp>
        <p:nvSpPr>
          <p:cNvPr id="4" name="Slide Number Placeholder 3">
            <a:extLst>
              <a:ext uri="{FF2B5EF4-FFF2-40B4-BE49-F238E27FC236}">
                <a16:creationId xmlns:a16="http://schemas.microsoft.com/office/drawing/2014/main" id="{0507E395-8994-419A-B94A-BA4F95847D29}"/>
              </a:ext>
            </a:extLst>
          </p:cNvPr>
          <p:cNvSpPr>
            <a:spLocks noGrp="1"/>
          </p:cNvSpPr>
          <p:nvPr>
            <p:ph type="sldNum" sz="quarter" idx="15"/>
          </p:nvPr>
        </p:nvSpPr>
        <p:spPr/>
        <p:txBody>
          <a:bodyPr/>
          <a:lstStyle/>
          <a:p>
            <a:fld id="{B6F15528-21DE-4FAA-801E-634DDDAF4B2B}" type="slidenum">
              <a:rPr lang="en-US" smtClean="0"/>
              <a:pPr/>
              <a:t>5</a:t>
            </a:fld>
            <a:endParaRPr lang="en-US"/>
          </a:p>
        </p:txBody>
      </p:sp>
    </p:spTree>
    <p:extLst>
      <p:ext uri="{BB962C8B-B14F-4D97-AF65-F5344CB8AC3E}">
        <p14:creationId xmlns:p14="http://schemas.microsoft.com/office/powerpoint/2010/main" val="9479194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12644-F28D-4767-BA22-25FAE798FE5F}"/>
              </a:ext>
            </a:extLst>
          </p:cNvPr>
          <p:cNvSpPr>
            <a:spLocks noGrp="1"/>
          </p:cNvSpPr>
          <p:nvPr>
            <p:ph type="title"/>
          </p:nvPr>
        </p:nvSpPr>
        <p:spPr/>
        <p:txBody>
          <a:bodyPr/>
          <a:lstStyle/>
          <a:p>
            <a:r>
              <a:rPr lang="en-US" dirty="0"/>
              <a:t>Requirement Engineering Process</a:t>
            </a:r>
          </a:p>
        </p:txBody>
      </p:sp>
      <p:sp>
        <p:nvSpPr>
          <p:cNvPr id="3" name="Content Placeholder 2">
            <a:extLst>
              <a:ext uri="{FF2B5EF4-FFF2-40B4-BE49-F238E27FC236}">
                <a16:creationId xmlns:a16="http://schemas.microsoft.com/office/drawing/2014/main" id="{F61F3930-3555-4722-B720-B9C60F49A2BC}"/>
              </a:ext>
            </a:extLst>
          </p:cNvPr>
          <p:cNvSpPr>
            <a:spLocks noGrp="1"/>
          </p:cNvSpPr>
          <p:nvPr>
            <p:ph sz="quarter" idx="1"/>
          </p:nvPr>
        </p:nvSpPr>
        <p:spPr/>
        <p:txBody>
          <a:bodyPr/>
          <a:lstStyle/>
          <a:p>
            <a:pPr marL="0" indent="0">
              <a:buNone/>
            </a:pPr>
            <a:r>
              <a:rPr lang="en-US" dirty="0"/>
              <a:t>It is a four step process, which includes –</a:t>
            </a:r>
          </a:p>
          <a:p>
            <a:pPr marL="0" indent="0">
              <a:buNone/>
            </a:pPr>
            <a:endParaRPr lang="en-US" dirty="0"/>
          </a:p>
          <a:p>
            <a:r>
              <a:rPr lang="en-US" dirty="0"/>
              <a:t>Feasibility Study</a:t>
            </a:r>
          </a:p>
          <a:p>
            <a:r>
              <a:rPr lang="en-US" dirty="0"/>
              <a:t>Requirement Gathering</a:t>
            </a:r>
          </a:p>
          <a:p>
            <a:r>
              <a:rPr lang="en-US" dirty="0"/>
              <a:t>Software Requirement Specification</a:t>
            </a:r>
          </a:p>
          <a:p>
            <a:r>
              <a:rPr lang="en-US" dirty="0"/>
              <a:t>Software Requirement Validation</a:t>
            </a:r>
          </a:p>
          <a:p>
            <a:endParaRPr lang="en-US" dirty="0"/>
          </a:p>
        </p:txBody>
      </p:sp>
      <p:sp>
        <p:nvSpPr>
          <p:cNvPr id="4" name="Slide Number Placeholder 3">
            <a:extLst>
              <a:ext uri="{FF2B5EF4-FFF2-40B4-BE49-F238E27FC236}">
                <a16:creationId xmlns:a16="http://schemas.microsoft.com/office/drawing/2014/main" id="{C0E0E41B-ABCA-4E79-B2D5-D0DBA03BBA47}"/>
              </a:ext>
            </a:extLst>
          </p:cNvPr>
          <p:cNvSpPr>
            <a:spLocks noGrp="1"/>
          </p:cNvSpPr>
          <p:nvPr>
            <p:ph type="sldNum" sz="quarter" idx="15"/>
          </p:nvPr>
        </p:nvSpPr>
        <p:spPr/>
        <p:txBody>
          <a:bodyPr/>
          <a:lstStyle/>
          <a:p>
            <a:fld id="{B6F15528-21DE-4FAA-801E-634DDDAF4B2B}" type="slidenum">
              <a:rPr lang="en-US" smtClean="0"/>
              <a:pPr/>
              <a:t>6</a:t>
            </a:fld>
            <a:endParaRPr lang="en-US"/>
          </a:p>
        </p:txBody>
      </p:sp>
    </p:spTree>
    <p:extLst>
      <p:ext uri="{BB962C8B-B14F-4D97-AF65-F5344CB8AC3E}">
        <p14:creationId xmlns:p14="http://schemas.microsoft.com/office/powerpoint/2010/main" val="37253754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0FC1B-CB46-4087-A628-B9062AB62EB5}"/>
              </a:ext>
            </a:extLst>
          </p:cNvPr>
          <p:cNvSpPr>
            <a:spLocks noGrp="1"/>
          </p:cNvSpPr>
          <p:nvPr>
            <p:ph type="title"/>
          </p:nvPr>
        </p:nvSpPr>
        <p:spPr>
          <a:xfrm>
            <a:off x="457200" y="274638"/>
            <a:ext cx="7467600" cy="715962"/>
          </a:xfrm>
        </p:spPr>
        <p:txBody>
          <a:bodyPr/>
          <a:lstStyle/>
          <a:p>
            <a:r>
              <a:rPr lang="en-US" dirty="0"/>
              <a:t>Feasibility study</a:t>
            </a:r>
          </a:p>
        </p:txBody>
      </p:sp>
      <p:sp>
        <p:nvSpPr>
          <p:cNvPr id="3" name="Content Placeholder 2">
            <a:extLst>
              <a:ext uri="{FF2B5EF4-FFF2-40B4-BE49-F238E27FC236}">
                <a16:creationId xmlns:a16="http://schemas.microsoft.com/office/drawing/2014/main" id="{C33D233A-D6D1-4C44-9AFC-635701D288A4}"/>
              </a:ext>
            </a:extLst>
          </p:cNvPr>
          <p:cNvSpPr>
            <a:spLocks noGrp="1"/>
          </p:cNvSpPr>
          <p:nvPr>
            <p:ph sz="quarter" idx="1"/>
          </p:nvPr>
        </p:nvSpPr>
        <p:spPr>
          <a:xfrm>
            <a:off x="405384" y="1143000"/>
            <a:ext cx="8129016" cy="5330952"/>
          </a:xfrm>
        </p:spPr>
        <p:txBody>
          <a:bodyPr>
            <a:normAutofit fontScale="92500" lnSpcReduction="10000"/>
          </a:bodyPr>
          <a:lstStyle/>
          <a:p>
            <a:pPr algn="just"/>
            <a:r>
              <a:rPr lang="en-US" dirty="0"/>
              <a:t>When the client approaches the organization for getting the desired product developed, it comes up with rough idea about what all functions the software must perform and which all features are expected from the software.</a:t>
            </a:r>
          </a:p>
          <a:p>
            <a:pPr algn="just"/>
            <a:r>
              <a:rPr lang="en-US" dirty="0"/>
              <a:t>Referencing to this information, the analysts does a detailed study about whether the desired system and its functionality are feasible to develop.</a:t>
            </a:r>
          </a:p>
          <a:p>
            <a:pPr algn="just"/>
            <a:r>
              <a:rPr lang="en-US" dirty="0"/>
              <a:t>This feasibility study is focused towards goal of the organization. </a:t>
            </a:r>
          </a:p>
          <a:p>
            <a:pPr algn="just"/>
            <a:r>
              <a:rPr lang="en-US" dirty="0"/>
              <a:t>This study analyzes whether the software product can be practically materialized in terms of implementation, contribution of project to organization, cost constraints and as per values and objectives of the organization. </a:t>
            </a:r>
          </a:p>
          <a:p>
            <a:pPr algn="just"/>
            <a:r>
              <a:rPr lang="en-US" dirty="0"/>
              <a:t>It explores technical aspects of the project and product such as usability, maintainability, productivity and integration ability.</a:t>
            </a:r>
          </a:p>
        </p:txBody>
      </p:sp>
      <p:sp>
        <p:nvSpPr>
          <p:cNvPr id="4" name="Slide Number Placeholder 3">
            <a:extLst>
              <a:ext uri="{FF2B5EF4-FFF2-40B4-BE49-F238E27FC236}">
                <a16:creationId xmlns:a16="http://schemas.microsoft.com/office/drawing/2014/main" id="{F2DBF3ED-9CB0-45A9-844D-2628C1B2636C}"/>
              </a:ext>
            </a:extLst>
          </p:cNvPr>
          <p:cNvSpPr>
            <a:spLocks noGrp="1"/>
          </p:cNvSpPr>
          <p:nvPr>
            <p:ph type="sldNum" sz="quarter" idx="15"/>
          </p:nvPr>
        </p:nvSpPr>
        <p:spPr/>
        <p:txBody>
          <a:bodyPr/>
          <a:lstStyle/>
          <a:p>
            <a:fld id="{B6F15528-21DE-4FAA-801E-634DDDAF4B2B}" type="slidenum">
              <a:rPr lang="en-US" smtClean="0"/>
              <a:pPr/>
              <a:t>7</a:t>
            </a:fld>
            <a:endParaRPr lang="en-US"/>
          </a:p>
        </p:txBody>
      </p:sp>
    </p:spTree>
    <p:extLst>
      <p:ext uri="{BB962C8B-B14F-4D97-AF65-F5344CB8AC3E}">
        <p14:creationId xmlns:p14="http://schemas.microsoft.com/office/powerpoint/2010/main" val="42900663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C3874-B107-4924-AC4D-1605B2703D8F}"/>
              </a:ext>
            </a:extLst>
          </p:cNvPr>
          <p:cNvSpPr>
            <a:spLocks noGrp="1"/>
          </p:cNvSpPr>
          <p:nvPr>
            <p:ph type="title"/>
          </p:nvPr>
        </p:nvSpPr>
        <p:spPr/>
        <p:txBody>
          <a:bodyPr/>
          <a:lstStyle/>
          <a:p>
            <a:r>
              <a:rPr lang="en-US" dirty="0"/>
              <a:t>In short</a:t>
            </a:r>
          </a:p>
        </p:txBody>
      </p:sp>
      <p:sp>
        <p:nvSpPr>
          <p:cNvPr id="3" name="Content Placeholder 2">
            <a:extLst>
              <a:ext uri="{FF2B5EF4-FFF2-40B4-BE49-F238E27FC236}">
                <a16:creationId xmlns:a16="http://schemas.microsoft.com/office/drawing/2014/main" id="{D6BCA101-C4FF-40AE-B075-45334725BBF2}"/>
              </a:ext>
            </a:extLst>
          </p:cNvPr>
          <p:cNvSpPr>
            <a:spLocks noGrp="1"/>
          </p:cNvSpPr>
          <p:nvPr>
            <p:ph sz="quarter" idx="1"/>
          </p:nvPr>
        </p:nvSpPr>
        <p:spPr>
          <a:xfrm>
            <a:off x="457200" y="1600200"/>
            <a:ext cx="8077200" cy="4873752"/>
          </a:xfrm>
        </p:spPr>
        <p:txBody>
          <a:bodyPr>
            <a:normAutofit/>
          </a:bodyPr>
          <a:lstStyle/>
          <a:p>
            <a:pPr algn="just"/>
            <a:r>
              <a:rPr lang="en-US" dirty="0"/>
              <a:t>Feasibility Study reflect:</a:t>
            </a:r>
          </a:p>
          <a:p>
            <a:pPr lvl="1" algn="just"/>
            <a:r>
              <a:rPr lang="en-US" dirty="0"/>
              <a:t>Is this project really worth doing</a:t>
            </a:r>
          </a:p>
          <a:p>
            <a:pPr lvl="1" algn="just"/>
            <a:r>
              <a:rPr lang="en-US" dirty="0"/>
              <a:t>Can we do this project</a:t>
            </a:r>
          </a:p>
          <a:p>
            <a:pPr lvl="1" algn="just"/>
            <a:r>
              <a:rPr lang="en-US" dirty="0"/>
              <a:t>Will the organization accept this if we go ahead </a:t>
            </a:r>
          </a:p>
          <a:p>
            <a:pPr marL="0" indent="0" algn="just">
              <a:buNone/>
            </a:pPr>
            <a:endParaRPr lang="en-US" dirty="0"/>
          </a:p>
          <a:p>
            <a:r>
              <a:rPr lang="en-US" dirty="0"/>
              <a:t>Based on that, we practice Three types of Feasibility Study</a:t>
            </a:r>
          </a:p>
          <a:p>
            <a:pPr lvl="1"/>
            <a:r>
              <a:rPr lang="en-US" dirty="0"/>
              <a:t>Technical Feasibility: Can we build it?</a:t>
            </a:r>
          </a:p>
          <a:p>
            <a:pPr lvl="1"/>
            <a:r>
              <a:rPr lang="en-US" dirty="0"/>
              <a:t>Economic Feasibility: Should we build it?</a:t>
            </a:r>
          </a:p>
          <a:p>
            <a:pPr lvl="1"/>
            <a:r>
              <a:rPr lang="en-US" dirty="0"/>
              <a:t>Organizational Feasibility: If we build it, will they come?</a:t>
            </a:r>
          </a:p>
          <a:p>
            <a:pPr marL="365760" lvl="1" indent="0" algn="just">
              <a:buNone/>
            </a:pPr>
            <a:endParaRPr lang="en-US" dirty="0"/>
          </a:p>
        </p:txBody>
      </p:sp>
      <p:sp>
        <p:nvSpPr>
          <p:cNvPr id="4" name="Slide Number Placeholder 3">
            <a:extLst>
              <a:ext uri="{FF2B5EF4-FFF2-40B4-BE49-F238E27FC236}">
                <a16:creationId xmlns:a16="http://schemas.microsoft.com/office/drawing/2014/main" id="{AC6249DD-FF02-4CD6-BF9C-0BE25D9E96DB}"/>
              </a:ext>
            </a:extLst>
          </p:cNvPr>
          <p:cNvSpPr>
            <a:spLocks noGrp="1"/>
          </p:cNvSpPr>
          <p:nvPr>
            <p:ph type="sldNum" sz="quarter" idx="15"/>
          </p:nvPr>
        </p:nvSpPr>
        <p:spPr/>
        <p:txBody>
          <a:bodyPr/>
          <a:lstStyle/>
          <a:p>
            <a:fld id="{B6F15528-21DE-4FAA-801E-634DDDAF4B2B}" type="slidenum">
              <a:rPr lang="en-US" smtClean="0"/>
              <a:pPr/>
              <a:t>8</a:t>
            </a:fld>
            <a:endParaRPr lang="en-US"/>
          </a:p>
        </p:txBody>
      </p:sp>
    </p:spTree>
    <p:extLst>
      <p:ext uri="{BB962C8B-B14F-4D97-AF65-F5344CB8AC3E}">
        <p14:creationId xmlns:p14="http://schemas.microsoft.com/office/powerpoint/2010/main" val="25322287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15224-8B35-4B3F-9166-03CBA90824DB}"/>
              </a:ext>
            </a:extLst>
          </p:cNvPr>
          <p:cNvSpPr>
            <a:spLocks noGrp="1"/>
          </p:cNvSpPr>
          <p:nvPr>
            <p:ph type="title"/>
          </p:nvPr>
        </p:nvSpPr>
        <p:spPr>
          <a:xfrm>
            <a:off x="457200" y="274638"/>
            <a:ext cx="7467600" cy="944562"/>
          </a:xfrm>
        </p:spPr>
        <p:txBody>
          <a:bodyPr/>
          <a:lstStyle/>
          <a:p>
            <a:r>
              <a:rPr lang="en-US" dirty="0"/>
              <a:t>Requirement Gathering</a:t>
            </a:r>
          </a:p>
        </p:txBody>
      </p:sp>
      <p:sp>
        <p:nvSpPr>
          <p:cNvPr id="3" name="Content Placeholder 2">
            <a:extLst>
              <a:ext uri="{FF2B5EF4-FFF2-40B4-BE49-F238E27FC236}">
                <a16:creationId xmlns:a16="http://schemas.microsoft.com/office/drawing/2014/main" id="{C96F7249-9C6E-45F9-A50E-6E3718685612}"/>
              </a:ext>
            </a:extLst>
          </p:cNvPr>
          <p:cNvSpPr>
            <a:spLocks noGrp="1"/>
          </p:cNvSpPr>
          <p:nvPr>
            <p:ph sz="quarter" idx="1"/>
          </p:nvPr>
        </p:nvSpPr>
        <p:spPr/>
        <p:txBody>
          <a:bodyPr/>
          <a:lstStyle/>
          <a:p>
            <a:r>
              <a:rPr lang="en-US" dirty="0"/>
              <a:t>If the feasibility report is positive towards undertaking the project, next phase starts with gathering requirements from the user. </a:t>
            </a:r>
          </a:p>
          <a:p>
            <a:endParaRPr lang="en-US" dirty="0"/>
          </a:p>
          <a:p>
            <a:r>
              <a:rPr lang="en-US" dirty="0"/>
              <a:t>Analysts and engineers communicate with the client and end-users to know their ideas on what the software should provide and which features they want the software to include.</a:t>
            </a:r>
          </a:p>
          <a:p>
            <a:endParaRPr lang="en-US" dirty="0"/>
          </a:p>
        </p:txBody>
      </p:sp>
      <p:sp>
        <p:nvSpPr>
          <p:cNvPr id="4" name="Slide Number Placeholder 3">
            <a:extLst>
              <a:ext uri="{FF2B5EF4-FFF2-40B4-BE49-F238E27FC236}">
                <a16:creationId xmlns:a16="http://schemas.microsoft.com/office/drawing/2014/main" id="{C4BBA9AB-89A1-494C-AED6-902F16D47278}"/>
              </a:ext>
            </a:extLst>
          </p:cNvPr>
          <p:cNvSpPr>
            <a:spLocks noGrp="1"/>
          </p:cNvSpPr>
          <p:nvPr>
            <p:ph type="sldNum" sz="quarter" idx="15"/>
          </p:nvPr>
        </p:nvSpPr>
        <p:spPr/>
        <p:txBody>
          <a:bodyPr/>
          <a:lstStyle/>
          <a:p>
            <a:fld id="{B6F15528-21DE-4FAA-801E-634DDDAF4B2B}" type="slidenum">
              <a:rPr lang="en-US" smtClean="0"/>
              <a:pPr/>
              <a:t>9</a:t>
            </a:fld>
            <a:endParaRPr lang="en-US"/>
          </a:p>
        </p:txBody>
      </p:sp>
    </p:spTree>
    <p:extLst>
      <p:ext uri="{BB962C8B-B14F-4D97-AF65-F5344CB8AC3E}">
        <p14:creationId xmlns:p14="http://schemas.microsoft.com/office/powerpoint/2010/main" val="10158025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2A690-32A3-4CCC-9E9C-677FB11904D9}"/>
              </a:ext>
            </a:extLst>
          </p:cNvPr>
          <p:cNvSpPr>
            <a:spLocks noGrp="1"/>
          </p:cNvSpPr>
          <p:nvPr>
            <p:ph type="title"/>
          </p:nvPr>
        </p:nvSpPr>
        <p:spPr>
          <a:xfrm>
            <a:off x="457200" y="274638"/>
            <a:ext cx="7467600" cy="715962"/>
          </a:xfrm>
        </p:spPr>
        <p:txBody>
          <a:bodyPr/>
          <a:lstStyle/>
          <a:p>
            <a:r>
              <a:rPr lang="en-US" dirty="0"/>
              <a:t>Software Requirement Specification</a:t>
            </a:r>
          </a:p>
        </p:txBody>
      </p:sp>
      <p:sp>
        <p:nvSpPr>
          <p:cNvPr id="3" name="Content Placeholder 2">
            <a:extLst>
              <a:ext uri="{FF2B5EF4-FFF2-40B4-BE49-F238E27FC236}">
                <a16:creationId xmlns:a16="http://schemas.microsoft.com/office/drawing/2014/main" id="{61A1110C-2D5D-42B2-AC45-3C54C9B57273}"/>
              </a:ext>
            </a:extLst>
          </p:cNvPr>
          <p:cNvSpPr>
            <a:spLocks noGrp="1"/>
          </p:cNvSpPr>
          <p:nvPr>
            <p:ph sz="quarter" idx="1"/>
          </p:nvPr>
        </p:nvSpPr>
        <p:spPr>
          <a:xfrm>
            <a:off x="533400" y="1454658"/>
            <a:ext cx="8077200" cy="4800600"/>
          </a:xfrm>
        </p:spPr>
        <p:txBody>
          <a:bodyPr>
            <a:normAutofit fontScale="92500"/>
          </a:bodyPr>
          <a:lstStyle/>
          <a:p>
            <a:pPr algn="just"/>
            <a:r>
              <a:rPr lang="en-US" dirty="0"/>
              <a:t>SRS is a document created by system analyst after the requirements are collected from various stakeholders.</a:t>
            </a:r>
          </a:p>
          <a:p>
            <a:pPr algn="just"/>
            <a:r>
              <a:rPr lang="en-US" dirty="0"/>
              <a:t>SRS defines how the intended software will interact with hardware, external interfaces, speed of operation, response time of system, portability of software across various platforms, maintainability, speed of recovery after crashing, Security, Quality, Limitations etc.</a:t>
            </a:r>
          </a:p>
          <a:p>
            <a:pPr algn="just"/>
            <a:r>
              <a:rPr lang="en-US" dirty="0"/>
              <a:t>The requirements received from client are written in natural language. It is the responsibility of system analyst to document the requirements in technical language so that they can be comprehended and useful by the software development team.</a:t>
            </a:r>
          </a:p>
          <a:p>
            <a:pPr algn="just"/>
            <a:endParaRPr lang="en-US" dirty="0"/>
          </a:p>
        </p:txBody>
      </p:sp>
      <p:sp>
        <p:nvSpPr>
          <p:cNvPr id="4" name="Slide Number Placeholder 3">
            <a:extLst>
              <a:ext uri="{FF2B5EF4-FFF2-40B4-BE49-F238E27FC236}">
                <a16:creationId xmlns:a16="http://schemas.microsoft.com/office/drawing/2014/main" id="{A8B75A06-A8D3-4F4D-974E-3327DDB42CEC}"/>
              </a:ext>
            </a:extLst>
          </p:cNvPr>
          <p:cNvSpPr>
            <a:spLocks noGrp="1"/>
          </p:cNvSpPr>
          <p:nvPr>
            <p:ph type="sldNum" sz="quarter" idx="15"/>
          </p:nvPr>
        </p:nvSpPr>
        <p:spPr/>
        <p:txBody>
          <a:bodyPr/>
          <a:lstStyle/>
          <a:p>
            <a:fld id="{B6F15528-21DE-4FAA-801E-634DDDAF4B2B}" type="slidenum">
              <a:rPr lang="en-US" smtClean="0"/>
              <a:pPr/>
              <a:t>10</a:t>
            </a:fld>
            <a:endParaRPr lang="en-US"/>
          </a:p>
        </p:txBody>
      </p:sp>
    </p:spTree>
    <p:extLst>
      <p:ext uri="{BB962C8B-B14F-4D97-AF65-F5344CB8AC3E}">
        <p14:creationId xmlns:p14="http://schemas.microsoft.com/office/powerpoint/2010/main" val="13915292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1E1E6-50A1-4E5F-BC17-02173A57344F}"/>
              </a:ext>
            </a:extLst>
          </p:cNvPr>
          <p:cNvSpPr>
            <a:spLocks noGrp="1"/>
          </p:cNvSpPr>
          <p:nvPr>
            <p:ph type="title"/>
          </p:nvPr>
        </p:nvSpPr>
        <p:spPr>
          <a:xfrm>
            <a:off x="457200" y="274638"/>
            <a:ext cx="7467600" cy="792162"/>
          </a:xfrm>
        </p:spPr>
        <p:txBody>
          <a:bodyPr/>
          <a:lstStyle/>
          <a:p>
            <a:r>
              <a:rPr lang="en-US" dirty="0"/>
              <a:t>Software requirements speciation </a:t>
            </a:r>
          </a:p>
        </p:txBody>
      </p:sp>
      <p:sp>
        <p:nvSpPr>
          <p:cNvPr id="3" name="Content Placeholder 2">
            <a:extLst>
              <a:ext uri="{FF2B5EF4-FFF2-40B4-BE49-F238E27FC236}">
                <a16:creationId xmlns:a16="http://schemas.microsoft.com/office/drawing/2014/main" id="{0A9F910E-C993-444F-8ABA-9DE1B9EB5332}"/>
              </a:ext>
            </a:extLst>
          </p:cNvPr>
          <p:cNvSpPr>
            <a:spLocks noGrp="1"/>
          </p:cNvSpPr>
          <p:nvPr>
            <p:ph sz="quarter" idx="1"/>
          </p:nvPr>
        </p:nvSpPr>
        <p:spPr>
          <a:xfrm>
            <a:off x="405384" y="1295400"/>
            <a:ext cx="7519416" cy="5178552"/>
          </a:xfrm>
        </p:spPr>
        <p:txBody>
          <a:bodyPr/>
          <a:lstStyle/>
          <a:p>
            <a:r>
              <a:rPr lang="en-US" dirty="0"/>
              <a:t>A </a:t>
            </a:r>
            <a:r>
              <a:rPr lang="en-US" b="1" dirty="0"/>
              <a:t>software requirements specification</a:t>
            </a:r>
            <a:r>
              <a:rPr lang="en-US" dirty="0"/>
              <a:t> (</a:t>
            </a:r>
            <a:r>
              <a:rPr lang="en-US" b="1" dirty="0"/>
              <a:t>SRS</a:t>
            </a:r>
            <a:r>
              <a:rPr lang="en-US" dirty="0"/>
              <a:t>) is a detailed description of a </a:t>
            </a:r>
            <a:r>
              <a:rPr lang="en-US" b="1" dirty="0"/>
              <a:t>software</a:t>
            </a:r>
            <a:r>
              <a:rPr lang="en-US" dirty="0"/>
              <a:t> system to be developed with its functional and non-functional </a:t>
            </a:r>
            <a:r>
              <a:rPr lang="en-US" b="1" dirty="0"/>
              <a:t>requirements</a:t>
            </a:r>
            <a:r>
              <a:rPr lang="en-US" dirty="0"/>
              <a:t>. </a:t>
            </a:r>
          </a:p>
          <a:p>
            <a:r>
              <a:rPr lang="en-US" dirty="0"/>
              <a:t>The </a:t>
            </a:r>
            <a:r>
              <a:rPr lang="en-US" b="1" dirty="0"/>
              <a:t>SRS</a:t>
            </a:r>
            <a:r>
              <a:rPr lang="en-US" dirty="0"/>
              <a:t> is developed based the agreement between customer and contractors.</a:t>
            </a:r>
          </a:p>
          <a:p>
            <a:r>
              <a:rPr lang="en-US" dirty="0"/>
              <a:t>A software requirements specification (SRS) is a document that captures complete description about how the system is expected to perform. </a:t>
            </a:r>
          </a:p>
          <a:p>
            <a:r>
              <a:rPr lang="en-US" dirty="0"/>
              <a:t>It is usually signed off at the end of requirements engineering phase.</a:t>
            </a:r>
          </a:p>
        </p:txBody>
      </p:sp>
      <p:sp>
        <p:nvSpPr>
          <p:cNvPr id="4" name="Slide Number Placeholder 3">
            <a:extLst>
              <a:ext uri="{FF2B5EF4-FFF2-40B4-BE49-F238E27FC236}">
                <a16:creationId xmlns:a16="http://schemas.microsoft.com/office/drawing/2014/main" id="{38443456-220B-46BB-AB59-827BA43FCA9A}"/>
              </a:ext>
            </a:extLst>
          </p:cNvPr>
          <p:cNvSpPr>
            <a:spLocks noGrp="1"/>
          </p:cNvSpPr>
          <p:nvPr>
            <p:ph type="sldNum" sz="quarter" idx="15"/>
          </p:nvPr>
        </p:nvSpPr>
        <p:spPr/>
        <p:txBody>
          <a:bodyPr/>
          <a:lstStyle/>
          <a:p>
            <a:fld id="{B6F15528-21DE-4FAA-801E-634DDDAF4B2B}" type="slidenum">
              <a:rPr lang="en-US" smtClean="0"/>
              <a:pPr/>
              <a:t>11</a:t>
            </a:fld>
            <a:endParaRPr lang="en-US"/>
          </a:p>
        </p:txBody>
      </p:sp>
    </p:spTree>
    <p:extLst>
      <p:ext uri="{BB962C8B-B14F-4D97-AF65-F5344CB8AC3E}">
        <p14:creationId xmlns:p14="http://schemas.microsoft.com/office/powerpoint/2010/main" val="13412165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78E08-CCFE-4902-BF5D-68864A2C6110}"/>
              </a:ext>
            </a:extLst>
          </p:cNvPr>
          <p:cNvSpPr>
            <a:spLocks noGrp="1"/>
          </p:cNvSpPr>
          <p:nvPr>
            <p:ph type="title"/>
          </p:nvPr>
        </p:nvSpPr>
        <p:spPr>
          <a:xfrm>
            <a:off x="457200" y="274638"/>
            <a:ext cx="7848600" cy="1411668"/>
          </a:xfrm>
        </p:spPr>
        <p:txBody>
          <a:bodyPr>
            <a:normAutofit/>
          </a:bodyPr>
          <a:lstStyle/>
          <a:p>
            <a:r>
              <a:rPr lang="en-US" dirty="0"/>
              <a:t>SRS should come up with following features:</a:t>
            </a:r>
          </a:p>
        </p:txBody>
      </p:sp>
      <p:sp>
        <p:nvSpPr>
          <p:cNvPr id="3" name="Content Placeholder 2">
            <a:extLst>
              <a:ext uri="{FF2B5EF4-FFF2-40B4-BE49-F238E27FC236}">
                <a16:creationId xmlns:a16="http://schemas.microsoft.com/office/drawing/2014/main" id="{453180BD-F4FF-466D-B458-0AC0D4CF41CF}"/>
              </a:ext>
            </a:extLst>
          </p:cNvPr>
          <p:cNvSpPr>
            <a:spLocks noGrp="1"/>
          </p:cNvSpPr>
          <p:nvPr>
            <p:ph sz="quarter" idx="1"/>
          </p:nvPr>
        </p:nvSpPr>
        <p:spPr>
          <a:xfrm>
            <a:off x="457200" y="1905000"/>
            <a:ext cx="8153400" cy="4568952"/>
          </a:xfrm>
        </p:spPr>
        <p:txBody>
          <a:bodyPr/>
          <a:lstStyle/>
          <a:p>
            <a:r>
              <a:rPr lang="en-US" dirty="0"/>
              <a:t>User Requirements are expressed in natural language.</a:t>
            </a:r>
          </a:p>
          <a:p>
            <a:r>
              <a:rPr lang="en-US" dirty="0"/>
              <a:t>Technical requirements are expressed in structured language, which is used inside the organization.</a:t>
            </a:r>
          </a:p>
          <a:p>
            <a:r>
              <a:rPr lang="en-US" dirty="0"/>
              <a:t>Design description should be written in Pseudo code.</a:t>
            </a:r>
          </a:p>
          <a:p>
            <a:r>
              <a:rPr lang="en-US" dirty="0"/>
              <a:t>Format of Forms and GUI screen prints.</a:t>
            </a:r>
          </a:p>
          <a:p>
            <a:r>
              <a:rPr lang="en-US" dirty="0"/>
              <a:t>Conditional and mathematical notations for DFDs etc.</a:t>
            </a:r>
          </a:p>
          <a:p>
            <a:endParaRPr lang="en-US" dirty="0"/>
          </a:p>
        </p:txBody>
      </p:sp>
      <p:sp>
        <p:nvSpPr>
          <p:cNvPr id="4" name="Slide Number Placeholder 3">
            <a:extLst>
              <a:ext uri="{FF2B5EF4-FFF2-40B4-BE49-F238E27FC236}">
                <a16:creationId xmlns:a16="http://schemas.microsoft.com/office/drawing/2014/main" id="{7BE171E6-CF85-481B-974C-1FBBEB30C9BC}"/>
              </a:ext>
            </a:extLst>
          </p:cNvPr>
          <p:cNvSpPr>
            <a:spLocks noGrp="1"/>
          </p:cNvSpPr>
          <p:nvPr>
            <p:ph type="sldNum" sz="quarter" idx="15"/>
          </p:nvPr>
        </p:nvSpPr>
        <p:spPr/>
        <p:txBody>
          <a:bodyPr/>
          <a:lstStyle/>
          <a:p>
            <a:fld id="{B6F15528-21DE-4FAA-801E-634DDDAF4B2B}" type="slidenum">
              <a:rPr lang="en-US" smtClean="0"/>
              <a:pPr/>
              <a:t>12</a:t>
            </a:fld>
            <a:endParaRPr lang="en-US"/>
          </a:p>
        </p:txBody>
      </p:sp>
    </p:spTree>
    <p:extLst>
      <p:ext uri="{BB962C8B-B14F-4D97-AF65-F5344CB8AC3E}">
        <p14:creationId xmlns:p14="http://schemas.microsoft.com/office/powerpoint/2010/main" val="41059967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E5B91-F29A-4A27-8969-F0FB4DB143C4}"/>
              </a:ext>
            </a:extLst>
          </p:cNvPr>
          <p:cNvSpPr>
            <a:spLocks noGrp="1"/>
          </p:cNvSpPr>
          <p:nvPr>
            <p:ph type="title"/>
          </p:nvPr>
        </p:nvSpPr>
        <p:spPr/>
        <p:txBody>
          <a:bodyPr/>
          <a:lstStyle/>
          <a:p>
            <a:r>
              <a:rPr lang="en-US" dirty="0"/>
              <a:t>Software Requirement Validation</a:t>
            </a:r>
          </a:p>
        </p:txBody>
      </p:sp>
      <p:sp>
        <p:nvSpPr>
          <p:cNvPr id="3" name="Content Placeholder 2">
            <a:extLst>
              <a:ext uri="{FF2B5EF4-FFF2-40B4-BE49-F238E27FC236}">
                <a16:creationId xmlns:a16="http://schemas.microsoft.com/office/drawing/2014/main" id="{42199EC9-8F96-4E54-B1E3-311022C48374}"/>
              </a:ext>
            </a:extLst>
          </p:cNvPr>
          <p:cNvSpPr>
            <a:spLocks noGrp="1"/>
          </p:cNvSpPr>
          <p:nvPr>
            <p:ph sz="quarter" idx="1"/>
          </p:nvPr>
        </p:nvSpPr>
        <p:spPr>
          <a:xfrm>
            <a:off x="457200" y="1600200"/>
            <a:ext cx="8153400" cy="4873752"/>
          </a:xfrm>
        </p:spPr>
        <p:txBody>
          <a:bodyPr>
            <a:normAutofit fontScale="92500"/>
          </a:bodyPr>
          <a:lstStyle/>
          <a:p>
            <a:pPr algn="just"/>
            <a:r>
              <a:rPr lang="en-US" dirty="0"/>
              <a:t>After requirement specifications are developed, the requirements mentioned in this document are validated. </a:t>
            </a:r>
          </a:p>
          <a:p>
            <a:pPr algn="just"/>
            <a:r>
              <a:rPr lang="en-US" dirty="0"/>
              <a:t>User might ask for illegal, impractical solution or experts may interpret the requirements incorrectly. </a:t>
            </a:r>
          </a:p>
          <a:p>
            <a:pPr algn="just"/>
            <a:r>
              <a:rPr lang="en-US" dirty="0"/>
              <a:t>This results in huge increase in cost if not nipped in the bud. </a:t>
            </a:r>
          </a:p>
          <a:p>
            <a:pPr algn="just"/>
            <a:r>
              <a:rPr lang="en-US" dirty="0"/>
              <a:t>Requirements can be checked against following conditions:</a:t>
            </a:r>
          </a:p>
          <a:p>
            <a:pPr lvl="1" algn="just"/>
            <a:r>
              <a:rPr lang="en-US" dirty="0"/>
              <a:t>If they can be practically implemented</a:t>
            </a:r>
          </a:p>
          <a:p>
            <a:pPr lvl="1" algn="just"/>
            <a:r>
              <a:rPr lang="en-US" dirty="0"/>
              <a:t>If they are valid and as per functionality and domain of software</a:t>
            </a:r>
          </a:p>
          <a:p>
            <a:pPr lvl="1" algn="just"/>
            <a:r>
              <a:rPr lang="en-US" dirty="0"/>
              <a:t>If there are any ambiguities</a:t>
            </a:r>
          </a:p>
          <a:p>
            <a:pPr lvl="1" algn="just"/>
            <a:r>
              <a:rPr lang="en-US" dirty="0"/>
              <a:t>If they are complete</a:t>
            </a:r>
          </a:p>
          <a:p>
            <a:pPr lvl="1" algn="just"/>
            <a:r>
              <a:rPr lang="en-US" dirty="0"/>
              <a:t>If they can be demonstrated</a:t>
            </a:r>
          </a:p>
          <a:p>
            <a:pPr algn="just"/>
            <a:endParaRPr lang="en-US" dirty="0"/>
          </a:p>
        </p:txBody>
      </p:sp>
      <p:sp>
        <p:nvSpPr>
          <p:cNvPr id="4" name="Slide Number Placeholder 3">
            <a:extLst>
              <a:ext uri="{FF2B5EF4-FFF2-40B4-BE49-F238E27FC236}">
                <a16:creationId xmlns:a16="http://schemas.microsoft.com/office/drawing/2014/main" id="{9A951075-D085-438D-BA2A-98FCFC4B640A}"/>
              </a:ext>
            </a:extLst>
          </p:cNvPr>
          <p:cNvSpPr>
            <a:spLocks noGrp="1"/>
          </p:cNvSpPr>
          <p:nvPr>
            <p:ph type="sldNum" sz="quarter" idx="15"/>
          </p:nvPr>
        </p:nvSpPr>
        <p:spPr/>
        <p:txBody>
          <a:bodyPr/>
          <a:lstStyle/>
          <a:p>
            <a:fld id="{B6F15528-21DE-4FAA-801E-634DDDAF4B2B}" type="slidenum">
              <a:rPr lang="en-US" smtClean="0"/>
              <a:pPr/>
              <a:t>13</a:t>
            </a:fld>
            <a:endParaRPr lang="en-US"/>
          </a:p>
        </p:txBody>
      </p:sp>
    </p:spTree>
    <p:extLst>
      <p:ext uri="{BB962C8B-B14F-4D97-AF65-F5344CB8AC3E}">
        <p14:creationId xmlns:p14="http://schemas.microsoft.com/office/powerpoint/2010/main" val="20987097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Types of requirement</a:t>
            </a:r>
            <a:endParaRPr lang="en-US" dirty="0"/>
          </a:p>
        </p:txBody>
      </p:sp>
      <p:sp>
        <p:nvSpPr>
          <p:cNvPr id="3" name="Content Placeholder 2"/>
          <p:cNvSpPr>
            <a:spLocks noGrp="1"/>
          </p:cNvSpPr>
          <p:nvPr>
            <p:ph sz="quarter" idx="1"/>
          </p:nvPr>
        </p:nvSpPr>
        <p:spPr>
          <a:xfrm>
            <a:off x="457200" y="1600200"/>
            <a:ext cx="8001000" cy="4873752"/>
          </a:xfrm>
        </p:spPr>
        <p:txBody>
          <a:bodyPr/>
          <a:lstStyle/>
          <a:p>
            <a:r>
              <a:rPr lang="en-GB" dirty="0"/>
              <a:t>User requirements</a:t>
            </a:r>
          </a:p>
          <a:p>
            <a:pPr lvl="1"/>
            <a:r>
              <a:rPr lang="en-GB" dirty="0"/>
              <a:t>Statements in natural language plus diagrams of the services the system provides and its operational constraints. Written for customers</a:t>
            </a:r>
          </a:p>
          <a:p>
            <a:r>
              <a:rPr lang="en-GB" dirty="0"/>
              <a:t>System requirements</a:t>
            </a:r>
          </a:p>
          <a:p>
            <a:pPr lvl="1"/>
            <a:r>
              <a:rPr lang="en-GB" dirty="0"/>
              <a:t>A structured document setting out detailed descriptions of the system services. Written as a contract between client and contractor</a:t>
            </a:r>
          </a:p>
          <a:p>
            <a:r>
              <a:rPr lang="en-GB" dirty="0"/>
              <a:t>Software specification</a:t>
            </a:r>
          </a:p>
          <a:p>
            <a:pPr lvl="1"/>
            <a:r>
              <a:rPr lang="en-GB" dirty="0"/>
              <a:t>A detailed software description which can serve as a basis for a design or implementation. Written for developers</a:t>
            </a:r>
          </a:p>
          <a:p>
            <a:endParaRPr lang="en-US" dirty="0"/>
          </a:p>
        </p:txBody>
      </p:sp>
      <p:sp>
        <p:nvSpPr>
          <p:cNvPr id="4" name="Slide Number Placeholder 3"/>
          <p:cNvSpPr>
            <a:spLocks noGrp="1"/>
          </p:cNvSpPr>
          <p:nvPr>
            <p:ph type="sldNum" sz="quarter" idx="15"/>
          </p:nvPr>
        </p:nvSpPr>
        <p:spPr/>
        <p:txBody>
          <a:bodyPr/>
          <a:lstStyle/>
          <a:p>
            <a:fld id="{B6F15528-21DE-4FAA-801E-634DDDAF4B2B}" type="slidenum">
              <a:rPr lang="en-US" smtClean="0"/>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Requirements readers</a:t>
            </a:r>
            <a:endParaRPr lang="en-US" dirty="0"/>
          </a:p>
        </p:txBody>
      </p:sp>
      <p:sp>
        <p:nvSpPr>
          <p:cNvPr id="4" name="Slide Number Placeholder 3"/>
          <p:cNvSpPr>
            <a:spLocks noGrp="1"/>
          </p:cNvSpPr>
          <p:nvPr>
            <p:ph type="sldNum" sz="quarter" idx="15"/>
          </p:nvPr>
        </p:nvSpPr>
        <p:spPr/>
        <p:txBody>
          <a:bodyPr/>
          <a:lstStyle/>
          <a:p>
            <a:fld id="{B6F15528-21DE-4FAA-801E-634DDDAF4B2B}" type="slidenum">
              <a:rPr lang="en-US" smtClean="0"/>
              <a:pPr/>
              <a:t>15</a:t>
            </a:fld>
            <a:endParaRPr lang="en-US"/>
          </a:p>
        </p:txBody>
      </p:sp>
      <p:pic>
        <p:nvPicPr>
          <p:cNvPr id="6" name="Picture 4" descr="5.2 Req-readers.eps                                            00002F3DDocs                           B1931E2B:"/>
          <p:cNvPicPr>
            <a:picLocks noChangeAspect="1" noChangeArrowheads="1"/>
          </p:cNvPicPr>
          <p:nvPr/>
        </p:nvPicPr>
        <p:blipFill>
          <a:blip r:embed="rId2"/>
          <a:srcRect/>
          <a:stretch>
            <a:fillRect/>
          </a:stretch>
        </p:blipFill>
        <p:spPr bwMode="auto">
          <a:xfrm>
            <a:off x="990600" y="1600200"/>
            <a:ext cx="6686550" cy="4833938"/>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98DA3-973F-4F1C-9727-F4D239772A17}"/>
              </a:ext>
            </a:extLst>
          </p:cNvPr>
          <p:cNvSpPr>
            <a:spLocks noGrp="1"/>
          </p:cNvSpPr>
          <p:nvPr>
            <p:ph type="title"/>
          </p:nvPr>
        </p:nvSpPr>
        <p:spPr/>
        <p:txBody>
          <a:bodyPr/>
          <a:lstStyle/>
          <a:p>
            <a:r>
              <a:rPr lang="en-US" dirty="0"/>
              <a:t>Continue </a:t>
            </a:r>
          </a:p>
        </p:txBody>
      </p:sp>
      <p:sp>
        <p:nvSpPr>
          <p:cNvPr id="3" name="Content Placeholder 2">
            <a:extLst>
              <a:ext uri="{FF2B5EF4-FFF2-40B4-BE49-F238E27FC236}">
                <a16:creationId xmlns:a16="http://schemas.microsoft.com/office/drawing/2014/main" id="{34CF1E3C-DFB6-46B7-837E-F9B8A2D9540C}"/>
              </a:ext>
            </a:extLst>
          </p:cNvPr>
          <p:cNvSpPr>
            <a:spLocks noGrp="1"/>
          </p:cNvSpPr>
          <p:nvPr>
            <p:ph sz="quarter" idx="1"/>
          </p:nvPr>
        </p:nvSpPr>
        <p:spPr>
          <a:xfrm>
            <a:off x="457200" y="1600200"/>
            <a:ext cx="8077200" cy="4873752"/>
          </a:xfrm>
        </p:spPr>
        <p:txBody>
          <a:bodyPr/>
          <a:lstStyle/>
          <a:p>
            <a:pPr algn="just"/>
            <a:r>
              <a:rPr lang="en-US" dirty="0"/>
              <a:t>We should try to understand what sort of requirements may arise in the requirement elicitation phase and what kinds of requirements are expected from the software system.</a:t>
            </a:r>
          </a:p>
          <a:p>
            <a:pPr algn="just"/>
            <a:r>
              <a:rPr lang="en-US" dirty="0"/>
              <a:t>Broadly software requirements should be categorized in two categories:</a:t>
            </a:r>
          </a:p>
          <a:p>
            <a:pPr algn="just"/>
            <a:endParaRPr lang="en-US" dirty="0"/>
          </a:p>
          <a:p>
            <a:pPr lvl="1" algn="just"/>
            <a:r>
              <a:rPr lang="en-US" dirty="0"/>
              <a:t>Functional Requirements</a:t>
            </a:r>
          </a:p>
          <a:p>
            <a:pPr lvl="1" algn="just"/>
            <a:r>
              <a:rPr lang="en-US" dirty="0"/>
              <a:t>Non-Functional Requirements</a:t>
            </a:r>
          </a:p>
          <a:p>
            <a:pPr lvl="1" algn="just"/>
            <a:r>
              <a:rPr lang="en-US" dirty="0"/>
              <a:t>User Interface requirements</a:t>
            </a:r>
          </a:p>
          <a:p>
            <a:pPr marL="365760" lvl="1" indent="0" algn="just">
              <a:buNone/>
            </a:pPr>
            <a:endParaRPr lang="en-US" dirty="0"/>
          </a:p>
          <a:p>
            <a:pPr algn="just"/>
            <a:endParaRPr lang="en-US" dirty="0"/>
          </a:p>
        </p:txBody>
      </p:sp>
      <p:sp>
        <p:nvSpPr>
          <p:cNvPr id="4" name="Slide Number Placeholder 3">
            <a:extLst>
              <a:ext uri="{FF2B5EF4-FFF2-40B4-BE49-F238E27FC236}">
                <a16:creationId xmlns:a16="http://schemas.microsoft.com/office/drawing/2014/main" id="{7C63E806-5D21-40A7-8BAE-A9CB8EAEA06B}"/>
              </a:ext>
            </a:extLst>
          </p:cNvPr>
          <p:cNvSpPr>
            <a:spLocks noGrp="1"/>
          </p:cNvSpPr>
          <p:nvPr>
            <p:ph type="sldNum" sz="quarter" idx="15"/>
          </p:nvPr>
        </p:nvSpPr>
        <p:spPr/>
        <p:txBody>
          <a:bodyPr/>
          <a:lstStyle/>
          <a:p>
            <a:fld id="{B6F15528-21DE-4FAA-801E-634DDDAF4B2B}" type="slidenum">
              <a:rPr lang="en-US" smtClean="0"/>
              <a:pPr/>
              <a:t>16</a:t>
            </a:fld>
            <a:endParaRPr lang="en-US"/>
          </a:p>
        </p:txBody>
      </p:sp>
    </p:spTree>
    <p:extLst>
      <p:ext uri="{BB962C8B-B14F-4D97-AF65-F5344CB8AC3E}">
        <p14:creationId xmlns:p14="http://schemas.microsoft.com/office/powerpoint/2010/main" val="37322631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97D72-D08E-43C6-B0F5-A9890895985C}"/>
              </a:ext>
            </a:extLst>
          </p:cNvPr>
          <p:cNvSpPr>
            <a:spLocks noGrp="1"/>
          </p:cNvSpPr>
          <p:nvPr>
            <p:ph type="title"/>
          </p:nvPr>
        </p:nvSpPr>
        <p:spPr>
          <a:xfrm>
            <a:off x="457200" y="274638"/>
            <a:ext cx="8001000" cy="944562"/>
          </a:xfrm>
        </p:spPr>
        <p:txBody>
          <a:bodyPr/>
          <a:lstStyle/>
          <a:p>
            <a:r>
              <a:rPr lang="en-US" dirty="0"/>
              <a:t>Requirements are categorized logically</a:t>
            </a:r>
          </a:p>
        </p:txBody>
      </p:sp>
      <p:sp>
        <p:nvSpPr>
          <p:cNvPr id="3" name="Content Placeholder 2">
            <a:extLst>
              <a:ext uri="{FF2B5EF4-FFF2-40B4-BE49-F238E27FC236}">
                <a16:creationId xmlns:a16="http://schemas.microsoft.com/office/drawing/2014/main" id="{80805644-0491-43D5-AE09-FE3CA3B0B59B}"/>
              </a:ext>
            </a:extLst>
          </p:cNvPr>
          <p:cNvSpPr>
            <a:spLocks noGrp="1"/>
          </p:cNvSpPr>
          <p:nvPr>
            <p:ph sz="quarter" idx="1"/>
          </p:nvPr>
        </p:nvSpPr>
        <p:spPr>
          <a:xfrm>
            <a:off x="457200" y="1600200"/>
            <a:ext cx="8001000" cy="4983162"/>
          </a:xfrm>
        </p:spPr>
        <p:txBody>
          <a:bodyPr>
            <a:normAutofit fontScale="92500"/>
          </a:bodyPr>
          <a:lstStyle/>
          <a:p>
            <a:r>
              <a:rPr lang="en-US" b="1" dirty="0"/>
              <a:t>Must Have</a:t>
            </a:r>
            <a:r>
              <a:rPr lang="en-US" dirty="0"/>
              <a:t> : Software cannot be said operational without them.</a:t>
            </a:r>
          </a:p>
          <a:p>
            <a:r>
              <a:rPr lang="en-US" b="1" dirty="0"/>
              <a:t>Should have</a:t>
            </a:r>
            <a:r>
              <a:rPr lang="en-US" dirty="0"/>
              <a:t> : Enhancing the functionality of software.</a:t>
            </a:r>
          </a:p>
          <a:p>
            <a:r>
              <a:rPr lang="en-US" b="1" dirty="0"/>
              <a:t>Could have</a:t>
            </a:r>
            <a:r>
              <a:rPr lang="en-US" dirty="0"/>
              <a:t> : Software can still properly function with these requirements.</a:t>
            </a:r>
          </a:p>
          <a:p>
            <a:r>
              <a:rPr lang="en-US" b="1" dirty="0"/>
              <a:t>Wish list</a:t>
            </a:r>
            <a:r>
              <a:rPr lang="en-US" dirty="0"/>
              <a:t> : These requirements do not map to any objectives of software.</a:t>
            </a:r>
          </a:p>
          <a:p>
            <a:r>
              <a:rPr lang="en-US" dirty="0"/>
              <a:t>While developing software, </a:t>
            </a:r>
          </a:p>
          <a:p>
            <a:pPr lvl="1"/>
            <a:r>
              <a:rPr lang="en-US" dirty="0"/>
              <a:t>‘Must have’ must be implemented, </a:t>
            </a:r>
          </a:p>
          <a:p>
            <a:pPr lvl="1"/>
            <a:r>
              <a:rPr lang="en-US" dirty="0"/>
              <a:t>‘Should have’ is a matter of debate with stakeholders and negation, whereas </a:t>
            </a:r>
          </a:p>
          <a:p>
            <a:pPr lvl="1"/>
            <a:r>
              <a:rPr lang="en-US" dirty="0"/>
              <a:t>‘could have’ and ‘wish list’ can be kept for software updates.</a:t>
            </a:r>
          </a:p>
          <a:p>
            <a:endParaRPr lang="en-US" dirty="0"/>
          </a:p>
        </p:txBody>
      </p:sp>
      <p:sp>
        <p:nvSpPr>
          <p:cNvPr id="4" name="Slide Number Placeholder 3">
            <a:extLst>
              <a:ext uri="{FF2B5EF4-FFF2-40B4-BE49-F238E27FC236}">
                <a16:creationId xmlns:a16="http://schemas.microsoft.com/office/drawing/2014/main" id="{57DEF1BA-BBCB-4F89-8DD2-B5AD93156CD2}"/>
              </a:ext>
            </a:extLst>
          </p:cNvPr>
          <p:cNvSpPr>
            <a:spLocks noGrp="1"/>
          </p:cNvSpPr>
          <p:nvPr>
            <p:ph type="sldNum" sz="quarter" idx="15"/>
          </p:nvPr>
        </p:nvSpPr>
        <p:spPr/>
        <p:txBody>
          <a:bodyPr/>
          <a:lstStyle/>
          <a:p>
            <a:fld id="{B6F15528-21DE-4FAA-801E-634DDDAF4B2B}" type="slidenum">
              <a:rPr lang="en-US" smtClean="0"/>
              <a:pPr/>
              <a:t>17</a:t>
            </a:fld>
            <a:endParaRPr lang="en-US"/>
          </a:p>
        </p:txBody>
      </p:sp>
    </p:spTree>
    <p:extLst>
      <p:ext uri="{BB962C8B-B14F-4D97-AF65-F5344CB8AC3E}">
        <p14:creationId xmlns:p14="http://schemas.microsoft.com/office/powerpoint/2010/main" val="29480578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2362200" y="3581400"/>
            <a:ext cx="4114800" cy="1447800"/>
          </a:xfrm>
        </p:spPr>
        <p:txBody>
          <a:bodyPr>
            <a:normAutofit/>
          </a:bodyPr>
          <a:lstStyle/>
          <a:p>
            <a:r>
              <a:rPr lang="en-US" dirty="0">
                <a:solidFill>
                  <a:schemeClr val="accent5">
                    <a:lumMod val="50000"/>
                  </a:schemeClr>
                </a:solidFill>
              </a:rPr>
              <a:t>Functional Requirements</a:t>
            </a:r>
          </a:p>
        </p:txBody>
      </p:sp>
      <p:sp>
        <p:nvSpPr>
          <p:cNvPr id="7" name="Slide Number Placeholder 6"/>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18</a:t>
            </a:fld>
            <a:endParaRPr kumimoji="0" lang="en-US" sz="1400" b="1" i="0" u="none" strike="noStrike" kern="1200" cap="none" spc="0" normalizeH="0" baseline="0" noProof="0">
              <a:ln>
                <a:noFill/>
              </a:ln>
              <a:solidFill>
                <a:srgbClr val="FFFFFF"/>
              </a:solidFill>
              <a:effectLst/>
              <a:uLnTx/>
              <a:uFillTx/>
              <a:latin typeface="Century Schoolbook"/>
              <a:ea typeface="+mn-ea"/>
              <a:cs typeface="+mn-cs"/>
            </a:endParaRPr>
          </a:p>
        </p:txBody>
      </p:sp>
      <p:pic>
        <p:nvPicPr>
          <p:cNvPr id="2050" name="Picture 2" descr="https://s-media-cache-ak0.pinimg.com/736x/cb/ff/e8/cbffe82f4ec4de731994accee8a86fed.jpg"/>
          <p:cNvPicPr>
            <a:picLocks noChangeAspect="1" noChangeArrowheads="1"/>
          </p:cNvPicPr>
          <p:nvPr/>
        </p:nvPicPr>
        <p:blipFill>
          <a:blip r:embed="rId2">
            <a:clrChange>
              <a:clrFrom>
                <a:srgbClr val="FFFFFF"/>
              </a:clrFrom>
              <a:clrTo>
                <a:srgbClr val="FFFFFF">
                  <a:alpha val="0"/>
                </a:srgbClr>
              </a:clrTo>
            </a:clrChange>
            <a:lum bright="-30000" contrast="30000"/>
          </a:blip>
          <a:srcRect/>
          <a:stretch>
            <a:fillRect/>
          </a:stretch>
        </p:blipFill>
        <p:spPr bwMode="auto">
          <a:xfrm>
            <a:off x="5486400" y="304800"/>
            <a:ext cx="3429000" cy="4114801"/>
          </a:xfrm>
          <a:prstGeom prst="rect">
            <a:avLst/>
          </a:prstGeom>
          <a:noFill/>
        </p:spPr>
      </p:pic>
    </p:spTree>
    <p:extLst>
      <p:ext uri="{BB962C8B-B14F-4D97-AF65-F5344CB8AC3E}">
        <p14:creationId xmlns:p14="http://schemas.microsoft.com/office/powerpoint/2010/main" val="38548362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Functional requirements</a:t>
            </a:r>
            <a:endParaRPr lang="en-US" dirty="0"/>
          </a:p>
        </p:txBody>
      </p:sp>
      <p:sp>
        <p:nvSpPr>
          <p:cNvPr id="3" name="Content Placeholder 2"/>
          <p:cNvSpPr>
            <a:spLocks noGrp="1"/>
          </p:cNvSpPr>
          <p:nvPr>
            <p:ph sz="quarter" idx="1"/>
          </p:nvPr>
        </p:nvSpPr>
        <p:spPr/>
        <p:txBody>
          <a:bodyPr/>
          <a:lstStyle/>
          <a:p>
            <a:r>
              <a:rPr lang="en-GB" dirty="0"/>
              <a:t>Describe functionality or system services</a:t>
            </a:r>
          </a:p>
          <a:p>
            <a:r>
              <a:rPr lang="en-GB" dirty="0"/>
              <a:t>Depend on the type of software, expected users and the type of system where the software is used</a:t>
            </a:r>
          </a:p>
          <a:p>
            <a:r>
              <a:rPr lang="en-GB" dirty="0"/>
              <a:t>Functional user requirements may be high-level statements of what the system should do but functional system requirements should describe the system services in detail</a:t>
            </a:r>
          </a:p>
          <a:p>
            <a:endParaRPr lang="en-US" dirty="0"/>
          </a:p>
        </p:txBody>
      </p:sp>
      <p:sp>
        <p:nvSpPr>
          <p:cNvPr id="4" name="Slide Number Placeholder 3"/>
          <p:cNvSpPr>
            <a:spLocks noGrp="1"/>
          </p:cNvSpPr>
          <p:nvPr>
            <p:ph type="sldNum" sz="quarter" idx="15"/>
          </p:nvPr>
        </p:nvSpPr>
        <p:spPr/>
        <p:txBody>
          <a:bodyPr/>
          <a:lstStyle/>
          <a:p>
            <a:fld id="{B6F15528-21DE-4FAA-801E-634DDDAF4B2B}" type="slidenum">
              <a:rPr lang="en-US" smtClean="0"/>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11388-C070-495C-B5C3-6BF6F2CE44E5}"/>
              </a:ext>
            </a:extLst>
          </p:cNvPr>
          <p:cNvSpPr>
            <a:spLocks noGrp="1"/>
          </p:cNvSpPr>
          <p:nvPr>
            <p:ph type="title"/>
          </p:nvPr>
        </p:nvSpPr>
        <p:spPr/>
        <p:txBody>
          <a:bodyPr/>
          <a:lstStyle/>
          <a:p>
            <a:r>
              <a:rPr lang="en-GB" dirty="0"/>
              <a:t>Functional requirements</a:t>
            </a:r>
            <a:endParaRPr lang="en-US" dirty="0"/>
          </a:p>
        </p:txBody>
      </p:sp>
      <p:sp>
        <p:nvSpPr>
          <p:cNvPr id="3" name="Content Placeholder 2">
            <a:extLst>
              <a:ext uri="{FF2B5EF4-FFF2-40B4-BE49-F238E27FC236}">
                <a16:creationId xmlns:a16="http://schemas.microsoft.com/office/drawing/2014/main" id="{9E4D5512-DCA3-4B91-8516-7F9921C60D62}"/>
              </a:ext>
            </a:extLst>
          </p:cNvPr>
          <p:cNvSpPr>
            <a:spLocks noGrp="1"/>
          </p:cNvSpPr>
          <p:nvPr>
            <p:ph sz="quarter" idx="1"/>
          </p:nvPr>
        </p:nvSpPr>
        <p:spPr>
          <a:xfrm>
            <a:off x="457200" y="1600200"/>
            <a:ext cx="8001000" cy="4873752"/>
          </a:xfrm>
        </p:spPr>
        <p:txBody>
          <a:bodyPr>
            <a:normAutofit lnSpcReduction="10000"/>
          </a:bodyPr>
          <a:lstStyle/>
          <a:p>
            <a:r>
              <a:rPr lang="en-US" dirty="0"/>
              <a:t>Requirements, which are related to functional aspect of software fall into this category.</a:t>
            </a:r>
          </a:p>
          <a:p>
            <a:r>
              <a:rPr lang="en-US" dirty="0"/>
              <a:t>They define functions and functionality within and from the software system.</a:t>
            </a:r>
          </a:p>
          <a:p>
            <a:r>
              <a:rPr lang="en-US" dirty="0"/>
              <a:t>Examples -</a:t>
            </a:r>
          </a:p>
          <a:p>
            <a:pPr lvl="1"/>
            <a:r>
              <a:rPr lang="en-US" dirty="0"/>
              <a:t>Search option given to user to search from various invoices.</a:t>
            </a:r>
          </a:p>
          <a:p>
            <a:pPr lvl="1"/>
            <a:r>
              <a:rPr lang="en-US" dirty="0"/>
              <a:t>User should be able to mail any report to management.</a:t>
            </a:r>
          </a:p>
          <a:p>
            <a:pPr lvl="1"/>
            <a:r>
              <a:rPr lang="en-US" dirty="0"/>
              <a:t>Users can be divided into groups and groups can be given separate rights.</a:t>
            </a:r>
          </a:p>
          <a:p>
            <a:pPr lvl="1"/>
            <a:r>
              <a:rPr lang="en-US" dirty="0"/>
              <a:t>Should comply business rules and administrative functions.</a:t>
            </a:r>
          </a:p>
          <a:p>
            <a:pPr lvl="1"/>
            <a:r>
              <a:rPr lang="en-US" dirty="0"/>
              <a:t>Software is developed keeping downward compatibility intact.</a:t>
            </a:r>
          </a:p>
          <a:p>
            <a:endParaRPr lang="en-US" dirty="0"/>
          </a:p>
        </p:txBody>
      </p:sp>
      <p:sp>
        <p:nvSpPr>
          <p:cNvPr id="4" name="Slide Number Placeholder 3">
            <a:extLst>
              <a:ext uri="{FF2B5EF4-FFF2-40B4-BE49-F238E27FC236}">
                <a16:creationId xmlns:a16="http://schemas.microsoft.com/office/drawing/2014/main" id="{33DBA878-47DE-4A52-9511-CF985ADAC6D6}"/>
              </a:ext>
            </a:extLst>
          </p:cNvPr>
          <p:cNvSpPr>
            <a:spLocks noGrp="1"/>
          </p:cNvSpPr>
          <p:nvPr>
            <p:ph type="sldNum" sz="quarter" idx="15"/>
          </p:nvPr>
        </p:nvSpPr>
        <p:spPr/>
        <p:txBody>
          <a:bodyPr/>
          <a:lstStyle/>
          <a:p>
            <a:fld id="{B6F15528-21DE-4FAA-801E-634DDDAF4B2B}" type="slidenum">
              <a:rPr lang="en-US" smtClean="0"/>
              <a:pPr/>
              <a:t>20</a:t>
            </a:fld>
            <a:endParaRPr lang="en-US"/>
          </a:p>
        </p:txBody>
      </p:sp>
    </p:spTree>
    <p:extLst>
      <p:ext uri="{BB962C8B-B14F-4D97-AF65-F5344CB8AC3E}">
        <p14:creationId xmlns:p14="http://schemas.microsoft.com/office/powerpoint/2010/main" val="16022135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Classifying customer input</a:t>
            </a:r>
          </a:p>
        </p:txBody>
      </p:sp>
      <p:sp>
        <p:nvSpPr>
          <p:cNvPr id="4" name="Slide Number Placeholder 3"/>
          <p:cNvSpPr>
            <a:spLocks noGrp="1"/>
          </p:cNvSpPr>
          <p:nvPr>
            <p:ph type="sldNum" sz="quarter" idx="15"/>
          </p:nvPr>
        </p:nvSpPr>
        <p:spPr/>
        <p:txBody>
          <a:bodyPr/>
          <a:lstStyle/>
          <a:p>
            <a:fld id="{B6F15528-21DE-4FAA-801E-634DDDAF4B2B}" type="slidenum">
              <a:rPr lang="en-US" smtClean="0"/>
              <a:pPr/>
              <a:t>21</a:t>
            </a:fld>
            <a:endParaRPr lang="en-US"/>
          </a:p>
        </p:txBody>
      </p:sp>
      <p:pic>
        <p:nvPicPr>
          <p:cNvPr id="25602" name="Picture 2"/>
          <p:cNvPicPr>
            <a:picLocks noGrp="1" noChangeAspect="1" noChangeArrowheads="1"/>
          </p:cNvPicPr>
          <p:nvPr>
            <p:ph sz="quarter" idx="1"/>
          </p:nvPr>
        </p:nvPicPr>
        <p:blipFill>
          <a:blip r:embed="rId2">
            <a:clrChange>
              <a:clrFrom>
                <a:srgbClr val="FFFFFF"/>
              </a:clrFrom>
              <a:clrTo>
                <a:srgbClr val="FFFFFF">
                  <a:alpha val="0"/>
                </a:srgbClr>
              </a:clrTo>
            </a:clrChange>
            <a:lum bright="-20000" contrast="30000"/>
          </a:blip>
          <a:srcRect l="31847" t="29107" r="28813" b="19108"/>
          <a:stretch>
            <a:fillRect/>
          </a:stretch>
        </p:blipFill>
        <p:spPr bwMode="auto">
          <a:xfrm>
            <a:off x="1295400" y="1752600"/>
            <a:ext cx="6280688" cy="4648200"/>
          </a:xfrm>
          <a:prstGeom prst="rect">
            <a:avLst/>
          </a:prstGeom>
          <a:noFill/>
          <a:ln w="9525">
            <a:noFill/>
            <a:miter lim="800000"/>
            <a:headEnd/>
            <a:tailEnd/>
          </a:ln>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2362200" y="3124200"/>
            <a:ext cx="5181600" cy="1143000"/>
          </a:xfrm>
        </p:spPr>
        <p:txBody>
          <a:bodyPr>
            <a:normAutofit/>
          </a:bodyPr>
          <a:lstStyle/>
          <a:p>
            <a:r>
              <a:rPr lang="en-US" dirty="0">
                <a:solidFill>
                  <a:schemeClr val="accent5">
                    <a:lumMod val="50000"/>
                  </a:schemeClr>
                </a:solidFill>
              </a:rPr>
              <a:t>Non-Functional Requirements</a:t>
            </a:r>
          </a:p>
        </p:txBody>
      </p:sp>
      <p:sp>
        <p:nvSpPr>
          <p:cNvPr id="7" name="Slide Number Placeholder 6"/>
          <p:cNvSpPr>
            <a:spLocks noGrp="1"/>
          </p:cNvSpPr>
          <p:nvPr>
            <p:ph type="sldNum" sz="quarter" idx="12"/>
          </p:nvPr>
        </p:nvSpPr>
        <p:spPr/>
        <p:txBody>
          <a:bodyPr/>
          <a:lstStyle/>
          <a:p>
            <a:fld id="{B6F15528-21DE-4FAA-801E-634DDDAF4B2B}" type="slidenum">
              <a:rPr lang="en-US" smtClean="0"/>
              <a:pPr/>
              <a:t>22</a:t>
            </a:fld>
            <a:endParaRPr lang="en-US"/>
          </a:p>
        </p:txBody>
      </p:sp>
      <p:pic>
        <p:nvPicPr>
          <p:cNvPr id="26626" name="Picture 2" descr="http://sandoattorneys.co.za/attachments/Image/large-file-word-cloud.jpg?template=generic"/>
          <p:cNvPicPr>
            <a:picLocks noChangeAspect="1" noChangeArrowheads="1"/>
          </p:cNvPicPr>
          <p:nvPr/>
        </p:nvPicPr>
        <p:blipFill>
          <a:blip r:embed="rId2" cstate="print">
            <a:clrChange>
              <a:clrFrom>
                <a:srgbClr val="FFFFFF"/>
              </a:clrFrom>
              <a:clrTo>
                <a:srgbClr val="FFFFFF">
                  <a:alpha val="0"/>
                </a:srgbClr>
              </a:clrTo>
            </a:clrChange>
            <a:lum bright="-10000" contrast="20000"/>
          </a:blip>
          <a:srcRect l="1992" t="2128" r="2374" b="2128"/>
          <a:stretch>
            <a:fillRect/>
          </a:stretch>
        </p:blipFill>
        <p:spPr bwMode="auto">
          <a:xfrm>
            <a:off x="5943600" y="3810000"/>
            <a:ext cx="2971800" cy="2786063"/>
          </a:xfrm>
          <a:prstGeom prst="rect">
            <a:avLst/>
          </a:prstGeom>
          <a:noFill/>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GB" dirty="0"/>
              <a:t>Non-Functional requirements</a:t>
            </a:r>
            <a:endParaRPr lang="en-US" dirty="0"/>
          </a:p>
        </p:txBody>
      </p:sp>
      <p:sp>
        <p:nvSpPr>
          <p:cNvPr id="6" name="Content Placeholder 5"/>
          <p:cNvSpPr>
            <a:spLocks noGrp="1"/>
          </p:cNvSpPr>
          <p:nvPr>
            <p:ph sz="quarter" idx="1"/>
          </p:nvPr>
        </p:nvSpPr>
        <p:spPr>
          <a:xfrm>
            <a:off x="457200" y="1600200"/>
            <a:ext cx="7924800" cy="4873752"/>
          </a:xfrm>
        </p:spPr>
        <p:txBody>
          <a:bodyPr>
            <a:normAutofit/>
          </a:bodyPr>
          <a:lstStyle/>
          <a:p>
            <a:pPr marL="3175" indent="11113">
              <a:buNone/>
            </a:pPr>
            <a:r>
              <a:rPr lang="en-MY" dirty="0"/>
              <a:t>Non-functional requirements define the overall qualities or attributes of the resulting system</a:t>
            </a:r>
          </a:p>
          <a:p>
            <a:pPr marL="368935" lvl="1" indent="11113"/>
            <a:r>
              <a:rPr lang="en-MY" dirty="0"/>
              <a:t>Non-functional requirements place restrictions on the product being developed, the development process, and specify external constraints that the product must meet.</a:t>
            </a:r>
            <a:endParaRPr lang="bn-BD" dirty="0"/>
          </a:p>
          <a:p>
            <a:pPr marL="368935" lvl="1" indent="11113"/>
            <a:r>
              <a:rPr lang="en-MY" dirty="0"/>
              <a:t>Examples of NFR include safety, security, usability, reliability and performance requirements.</a:t>
            </a:r>
            <a:endParaRPr lang="bn-BD" dirty="0"/>
          </a:p>
          <a:p>
            <a:pPr marL="368935" lvl="1" indent="11113"/>
            <a:r>
              <a:rPr lang="en-MY" dirty="0"/>
              <a:t>Project management issues (costs, time, schedule) are often considered as non-functional requirements as well</a:t>
            </a:r>
          </a:p>
        </p:txBody>
      </p:sp>
      <p:sp>
        <p:nvSpPr>
          <p:cNvPr id="4" name="Slide Number Placeholder 3"/>
          <p:cNvSpPr>
            <a:spLocks noGrp="1"/>
          </p:cNvSpPr>
          <p:nvPr>
            <p:ph type="sldNum" sz="quarter" idx="15"/>
          </p:nvPr>
        </p:nvSpPr>
        <p:spPr/>
        <p:txBody>
          <a:bodyPr/>
          <a:lstStyle/>
          <a:p>
            <a:fld id="{B6F15528-21DE-4FAA-801E-634DDDAF4B2B}" type="slidenum">
              <a:rPr lang="en-US" smtClean="0"/>
              <a:pP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IEEE NRF</a:t>
            </a:r>
          </a:p>
        </p:txBody>
      </p:sp>
      <p:sp>
        <p:nvSpPr>
          <p:cNvPr id="4" name="Slide Number Placeholder 3"/>
          <p:cNvSpPr>
            <a:spLocks noGrp="1"/>
          </p:cNvSpPr>
          <p:nvPr>
            <p:ph type="sldNum" sz="quarter" idx="15"/>
          </p:nvPr>
        </p:nvSpPr>
        <p:spPr/>
        <p:txBody>
          <a:bodyPr/>
          <a:lstStyle/>
          <a:p>
            <a:fld id="{B6F15528-21DE-4FAA-801E-634DDDAF4B2B}" type="slidenum">
              <a:rPr lang="en-US" smtClean="0"/>
              <a:pPr/>
              <a:t>24</a:t>
            </a:fld>
            <a:endParaRPr lang="en-US"/>
          </a:p>
        </p:txBody>
      </p:sp>
      <p:pic>
        <p:nvPicPr>
          <p:cNvPr id="5" name="Picture 4"/>
          <p:cNvPicPr>
            <a:picLocks noChangeAspect="1"/>
          </p:cNvPicPr>
          <p:nvPr/>
        </p:nvPicPr>
        <p:blipFill>
          <a:blip r:embed="rId2">
            <a:clrChange>
              <a:clrFrom>
                <a:srgbClr val="FFFFFF"/>
              </a:clrFrom>
              <a:clrTo>
                <a:srgbClr val="FFFFFF">
                  <a:alpha val="0"/>
                </a:srgbClr>
              </a:clrTo>
            </a:clrChange>
            <a:lum bright="-10000" contrast="30000"/>
          </a:blip>
          <a:srcRect l="5069"/>
          <a:stretch>
            <a:fillRect/>
          </a:stretch>
        </p:blipFill>
        <p:spPr>
          <a:xfrm>
            <a:off x="263740" y="1752600"/>
            <a:ext cx="8423060" cy="42672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MY" dirty="0"/>
              <a:t>Relationships between user needs,</a:t>
            </a:r>
            <a:br>
              <a:rPr lang="en-MY" dirty="0"/>
            </a:br>
            <a:r>
              <a:rPr lang="en-MY" dirty="0"/>
              <a:t>concerns and NFRs</a:t>
            </a:r>
            <a:endParaRPr lang="en-US" dirty="0"/>
          </a:p>
        </p:txBody>
      </p:sp>
      <p:sp>
        <p:nvSpPr>
          <p:cNvPr id="4" name="Slide Number Placeholder 3"/>
          <p:cNvSpPr>
            <a:spLocks noGrp="1"/>
          </p:cNvSpPr>
          <p:nvPr>
            <p:ph type="sldNum" sz="quarter" idx="15"/>
          </p:nvPr>
        </p:nvSpPr>
        <p:spPr/>
        <p:txBody>
          <a:bodyPr/>
          <a:lstStyle/>
          <a:p>
            <a:fld id="{B6F15528-21DE-4FAA-801E-634DDDAF4B2B}" type="slidenum">
              <a:rPr lang="en-US" smtClean="0"/>
              <a:pPr/>
              <a:t>25</a:t>
            </a:fld>
            <a:endParaRPr lang="en-US"/>
          </a:p>
        </p:txBody>
      </p:sp>
      <p:pic>
        <p:nvPicPr>
          <p:cNvPr id="5" name="Content Placeholder 4"/>
          <p:cNvPicPr>
            <a:picLocks noGrp="1" noChangeAspect="1"/>
          </p:cNvPicPr>
          <p:nvPr>
            <p:ph sz="quarter" idx="1"/>
          </p:nvPr>
        </p:nvPicPr>
        <p:blipFill>
          <a:blip r:embed="rId2">
            <a:clrChange>
              <a:clrFrom>
                <a:srgbClr val="FFFFFF"/>
              </a:clrFrom>
              <a:clrTo>
                <a:srgbClr val="FFFFFF">
                  <a:alpha val="0"/>
                </a:srgbClr>
              </a:clrTo>
            </a:clrChange>
          </a:blip>
          <a:stretch>
            <a:fillRect/>
          </a:stretch>
        </p:blipFill>
        <p:spPr>
          <a:xfrm>
            <a:off x="304800" y="1828800"/>
            <a:ext cx="8294249" cy="44958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MY" dirty="0"/>
              <a:t>Examples of measurable metrics for</a:t>
            </a:r>
            <a:br>
              <a:rPr lang="en-MY" dirty="0"/>
            </a:br>
            <a:r>
              <a:rPr lang="en-MY" dirty="0"/>
              <a:t>Non-functional requirements</a:t>
            </a:r>
            <a:endParaRPr lang="en-US" dirty="0"/>
          </a:p>
        </p:txBody>
      </p:sp>
      <p:sp>
        <p:nvSpPr>
          <p:cNvPr id="4" name="Slide Number Placeholder 3"/>
          <p:cNvSpPr>
            <a:spLocks noGrp="1"/>
          </p:cNvSpPr>
          <p:nvPr>
            <p:ph type="sldNum" sz="quarter" idx="15"/>
          </p:nvPr>
        </p:nvSpPr>
        <p:spPr/>
        <p:txBody>
          <a:bodyPr/>
          <a:lstStyle/>
          <a:p>
            <a:fld id="{B6F15528-21DE-4FAA-801E-634DDDAF4B2B}" type="slidenum">
              <a:rPr lang="en-US" smtClean="0"/>
              <a:pPr/>
              <a:t>26</a:t>
            </a:fld>
            <a:endParaRPr lang="en-US"/>
          </a:p>
        </p:txBody>
      </p:sp>
      <p:pic>
        <p:nvPicPr>
          <p:cNvPr id="5" name="Content Placeholder 4"/>
          <p:cNvPicPr>
            <a:picLocks noGrp="1" noChangeAspect="1"/>
          </p:cNvPicPr>
          <p:nvPr>
            <p:ph sz="quarter" idx="1"/>
          </p:nvPr>
        </p:nvPicPr>
        <p:blipFill>
          <a:blip r:embed="rId2">
            <a:clrChange>
              <a:clrFrom>
                <a:srgbClr val="FFFFFF"/>
              </a:clrFrom>
              <a:clrTo>
                <a:srgbClr val="FFFFFF">
                  <a:alpha val="0"/>
                </a:srgbClr>
              </a:clrTo>
            </a:clrChange>
          </a:blip>
          <a:stretch>
            <a:fillRect/>
          </a:stretch>
        </p:blipFill>
        <p:spPr>
          <a:xfrm>
            <a:off x="304800" y="1828800"/>
            <a:ext cx="8339452" cy="42672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pPr/>
              <a:t>27</a:t>
            </a:fld>
            <a:endParaRPr lang="en-US"/>
          </a:p>
        </p:txBody>
      </p:sp>
      <p:pic>
        <p:nvPicPr>
          <p:cNvPr id="34818" name="Picture 2" descr="https://stevenwilliamalexander.files.wordpress.com/2015/07/nfr-non-functional-cart-before-horse.png"/>
          <p:cNvPicPr>
            <a:picLocks noChangeAspect="1" noChangeArrowheads="1"/>
          </p:cNvPicPr>
          <p:nvPr/>
        </p:nvPicPr>
        <p:blipFill>
          <a:blip r:embed="rId2">
            <a:clrChange>
              <a:clrFrom>
                <a:srgbClr val="FFFFFF"/>
              </a:clrFrom>
              <a:clrTo>
                <a:srgbClr val="FFFFFF">
                  <a:alpha val="0"/>
                </a:srgbClr>
              </a:clrTo>
            </a:clrChange>
            <a:lum bright="-20000" contrast="10000"/>
          </a:blip>
          <a:srcRect/>
          <a:stretch>
            <a:fillRect/>
          </a:stretch>
        </p:blipFill>
        <p:spPr bwMode="auto">
          <a:xfrm>
            <a:off x="457200" y="533400"/>
            <a:ext cx="7978060" cy="5638800"/>
          </a:xfrm>
          <a:prstGeom prst="rect">
            <a:avLst/>
          </a:prstGeom>
          <a:noFill/>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B3C59-7967-404A-A8CE-0652B7CA1B50}"/>
              </a:ext>
            </a:extLst>
          </p:cNvPr>
          <p:cNvSpPr>
            <a:spLocks noGrp="1"/>
          </p:cNvSpPr>
          <p:nvPr>
            <p:ph type="title"/>
          </p:nvPr>
        </p:nvSpPr>
        <p:spPr/>
        <p:txBody>
          <a:bodyPr/>
          <a:lstStyle/>
          <a:p>
            <a:r>
              <a:rPr lang="en-US" dirty="0"/>
              <a:t>User Interface requirements</a:t>
            </a:r>
          </a:p>
        </p:txBody>
      </p:sp>
      <p:sp>
        <p:nvSpPr>
          <p:cNvPr id="3" name="Content Placeholder 2">
            <a:extLst>
              <a:ext uri="{FF2B5EF4-FFF2-40B4-BE49-F238E27FC236}">
                <a16:creationId xmlns:a16="http://schemas.microsoft.com/office/drawing/2014/main" id="{BDB4DFEB-DE27-471F-83A8-BFCB8CE07DFC}"/>
              </a:ext>
            </a:extLst>
          </p:cNvPr>
          <p:cNvSpPr>
            <a:spLocks noGrp="1"/>
          </p:cNvSpPr>
          <p:nvPr>
            <p:ph sz="quarter" idx="1"/>
          </p:nvPr>
        </p:nvSpPr>
        <p:spPr/>
        <p:txBody>
          <a:bodyPr/>
          <a:lstStyle/>
          <a:p>
            <a:r>
              <a:rPr lang="en-US" dirty="0"/>
              <a:t>UI is an important part of any software or hardware or hybrid system.</a:t>
            </a:r>
          </a:p>
          <a:p>
            <a:r>
              <a:rPr lang="en-US" dirty="0"/>
              <a:t> A software is widely accepted if it is -</a:t>
            </a:r>
          </a:p>
          <a:p>
            <a:pPr lvl="1"/>
            <a:r>
              <a:rPr lang="en-US" dirty="0"/>
              <a:t>easy to operate</a:t>
            </a:r>
          </a:p>
          <a:p>
            <a:pPr lvl="1"/>
            <a:r>
              <a:rPr lang="en-US" dirty="0"/>
              <a:t>quick in response</a:t>
            </a:r>
          </a:p>
          <a:p>
            <a:pPr lvl="1"/>
            <a:r>
              <a:rPr lang="en-US" dirty="0"/>
              <a:t>effectively handling operational errors</a:t>
            </a:r>
          </a:p>
          <a:p>
            <a:pPr lvl="1"/>
            <a:r>
              <a:rPr lang="en-US" dirty="0"/>
              <a:t>providing simple yet consistent user interface</a:t>
            </a:r>
          </a:p>
          <a:p>
            <a:endParaRPr lang="en-US" dirty="0"/>
          </a:p>
        </p:txBody>
      </p:sp>
      <p:sp>
        <p:nvSpPr>
          <p:cNvPr id="4" name="Slide Number Placeholder 3">
            <a:extLst>
              <a:ext uri="{FF2B5EF4-FFF2-40B4-BE49-F238E27FC236}">
                <a16:creationId xmlns:a16="http://schemas.microsoft.com/office/drawing/2014/main" id="{BA84E7C5-1BC1-47FD-A4B5-8083A2769678}"/>
              </a:ext>
            </a:extLst>
          </p:cNvPr>
          <p:cNvSpPr>
            <a:spLocks noGrp="1"/>
          </p:cNvSpPr>
          <p:nvPr>
            <p:ph type="sldNum" sz="quarter" idx="15"/>
          </p:nvPr>
        </p:nvSpPr>
        <p:spPr/>
        <p:txBody>
          <a:bodyPr/>
          <a:lstStyle/>
          <a:p>
            <a:fld id="{B6F15528-21DE-4FAA-801E-634DDDAF4B2B}" type="slidenum">
              <a:rPr lang="en-US" smtClean="0"/>
              <a:pPr/>
              <a:t>28</a:t>
            </a:fld>
            <a:endParaRPr lang="en-US"/>
          </a:p>
        </p:txBody>
      </p:sp>
    </p:spTree>
    <p:extLst>
      <p:ext uri="{BB962C8B-B14F-4D97-AF65-F5344CB8AC3E}">
        <p14:creationId xmlns:p14="http://schemas.microsoft.com/office/powerpoint/2010/main" val="152554927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213</TotalTime>
  <Words>1203</Words>
  <Application>Microsoft Office PowerPoint</Application>
  <PresentationFormat>On-screen Show (4:3)</PresentationFormat>
  <Paragraphs>146</Paragraphs>
  <Slides>28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Calibri</vt:lpstr>
      <vt:lpstr>Century Schoolbook</vt:lpstr>
      <vt:lpstr>Wingdings</vt:lpstr>
      <vt:lpstr>Wingdings 2</vt:lpstr>
      <vt:lpstr>Oriel</vt:lpstr>
      <vt:lpstr>Software Requirements</vt:lpstr>
      <vt:lpstr>PowerPoint Presentation</vt:lpstr>
      <vt:lpstr>What goes on in the mind?</vt:lpstr>
      <vt:lpstr>Software Requirements </vt:lpstr>
      <vt:lpstr>Requirement Engineering</vt:lpstr>
      <vt:lpstr>Requirement Engineering Process</vt:lpstr>
      <vt:lpstr>Feasibility study</vt:lpstr>
      <vt:lpstr>In short</vt:lpstr>
      <vt:lpstr>Requirement Gathering</vt:lpstr>
      <vt:lpstr>Software Requirement Specification</vt:lpstr>
      <vt:lpstr>Software requirements speciation </vt:lpstr>
      <vt:lpstr>SRS should come up with following features:</vt:lpstr>
      <vt:lpstr>Software Requirement Validation</vt:lpstr>
      <vt:lpstr>Types of requirement</vt:lpstr>
      <vt:lpstr>Requirements readers</vt:lpstr>
      <vt:lpstr>Continue </vt:lpstr>
      <vt:lpstr>Requirements are categorized logically</vt:lpstr>
      <vt:lpstr>Functional Requirements</vt:lpstr>
      <vt:lpstr>Functional requirements</vt:lpstr>
      <vt:lpstr>Functional requirements</vt:lpstr>
      <vt:lpstr>Classifying customer input</vt:lpstr>
      <vt:lpstr>Non-Functional Requirements</vt:lpstr>
      <vt:lpstr>Non-Functional requirements</vt:lpstr>
      <vt:lpstr>IEEE NRF</vt:lpstr>
      <vt:lpstr>Relationships between user needs, concerns and NFRs</vt:lpstr>
      <vt:lpstr>Examples of measurable metrics for Non-functional requirements</vt:lpstr>
      <vt:lpstr>PowerPoint Presentation</vt:lpstr>
      <vt:lpstr>User Interface requirements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Requirements</dc:title>
  <dc:creator>IFTEKHAR</dc:creator>
  <cp:lastModifiedBy>Tapushe Rabaya Toma</cp:lastModifiedBy>
  <cp:revision>48</cp:revision>
  <dcterms:created xsi:type="dcterms:W3CDTF">2006-08-16T00:00:00Z</dcterms:created>
  <dcterms:modified xsi:type="dcterms:W3CDTF">2020-06-02T19:14:28Z</dcterms:modified>
</cp:coreProperties>
</file>