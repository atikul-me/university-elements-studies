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embeddedFontLst>
    <p:embeddedFont>
      <p:font typeface="Nunito"/>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hWm05QnCSPLBXbpmwuksTSbWOx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Nunito-regular.fntdata"/><Relationship Id="rId10" Type="http://schemas.openxmlformats.org/officeDocument/2006/relationships/slide" Target="slides/slide6.xml"/><Relationship Id="rId13" Type="http://schemas.openxmlformats.org/officeDocument/2006/relationships/font" Target="fonts/Nunito-italic.fntdata"/><Relationship Id="rId12" Type="http://schemas.openxmlformats.org/officeDocument/2006/relationships/font" Target="fonts/Nunit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font" Target="fonts/Nunit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6"/>
          <p:cNvSpPr/>
          <p:nvPr>
            <p:ph idx="2" type="pic"/>
          </p:nvPr>
        </p:nvSpPr>
        <p:spPr>
          <a:xfrm>
            <a:off x="5183188" y="987425"/>
            <a:ext cx="6172200" cy="4873625"/>
          </a:xfrm>
          <a:prstGeom prst="rect">
            <a:avLst/>
          </a:prstGeom>
          <a:noFill/>
          <a:ln>
            <a:noFill/>
          </a:ln>
        </p:spPr>
      </p:sp>
      <p:sp>
        <p:nvSpPr>
          <p:cNvPr id="64" name="Google Shape;64;p1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6000"/>
              <a:buFont typeface="Nunito"/>
              <a:buNone/>
            </a:pPr>
            <a:r>
              <a:rPr b="1" i="0" lang="en-US">
                <a:solidFill>
                  <a:srgbClr val="0070C0"/>
                </a:solidFill>
                <a:latin typeface="Nunito"/>
                <a:ea typeface="Nunito"/>
                <a:cs typeface="Nunito"/>
                <a:sym typeface="Nunito"/>
              </a:rPr>
              <a:t>Feasibility Study</a:t>
            </a:r>
            <a:r>
              <a:rPr b="0" i="0" lang="en-US">
                <a:solidFill>
                  <a:srgbClr val="0070C0"/>
                </a:solidFill>
                <a:latin typeface="Nunito"/>
                <a:ea typeface="Nunito"/>
                <a:cs typeface="Nunito"/>
                <a:sym typeface="Nunito"/>
              </a:rPr>
              <a:t> </a:t>
            </a:r>
            <a:endParaRPr b="1"/>
          </a:p>
        </p:txBody>
      </p:sp>
      <p:sp>
        <p:nvSpPr>
          <p:cNvPr id="85" name="Google Shape;85;p1"/>
          <p:cNvSpPr txBox="1"/>
          <p:nvPr>
            <p:ph idx="1" type="subTitle"/>
          </p:nvPr>
        </p:nvSpPr>
        <p:spPr>
          <a:xfrm>
            <a:off x="3621741"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i="1" lang="en-US"/>
              <a:t>Rakhi Moni Saha</a:t>
            </a:r>
            <a:endParaRPr i="1"/>
          </a:p>
          <a:p>
            <a:pPr indent="0" lvl="0" marL="0" rtl="0" algn="ctr">
              <a:lnSpc>
                <a:spcPct val="90000"/>
              </a:lnSpc>
              <a:spcBef>
                <a:spcPts val="1000"/>
              </a:spcBef>
              <a:spcAft>
                <a:spcPts val="0"/>
              </a:spcAft>
              <a:buClr>
                <a:schemeClr val="dk1"/>
              </a:buClr>
              <a:buSzPts val="2400"/>
              <a:buNone/>
            </a:pPr>
            <a:r>
              <a:rPr i="1" lang="en-US"/>
              <a:t>Lecturer</a:t>
            </a:r>
            <a:endParaRPr/>
          </a:p>
          <a:p>
            <a:pPr indent="0" lvl="0" marL="0" rtl="0" algn="ctr">
              <a:lnSpc>
                <a:spcPct val="90000"/>
              </a:lnSpc>
              <a:spcBef>
                <a:spcPts val="1000"/>
              </a:spcBef>
              <a:spcAft>
                <a:spcPts val="0"/>
              </a:spcAft>
              <a:buClr>
                <a:schemeClr val="dk1"/>
              </a:buClr>
              <a:buSzPts val="2400"/>
              <a:buNone/>
            </a:pPr>
            <a:r>
              <a:rPr i="1" lang="en-US"/>
              <a:t>SWE, DIU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Nunito"/>
              <a:buNone/>
            </a:pPr>
            <a:r>
              <a:rPr b="1" i="0" lang="en-US">
                <a:solidFill>
                  <a:srgbClr val="0070C0"/>
                </a:solidFill>
                <a:latin typeface="Nunito"/>
                <a:ea typeface="Nunito"/>
                <a:cs typeface="Nunito"/>
                <a:sym typeface="Nunito"/>
              </a:rPr>
              <a:t>Feasibility Study</a:t>
            </a:r>
            <a:r>
              <a:rPr b="0" i="0" lang="en-US">
                <a:solidFill>
                  <a:srgbClr val="0070C0"/>
                </a:solidFill>
                <a:latin typeface="Nunito"/>
                <a:ea typeface="Nunito"/>
                <a:cs typeface="Nunito"/>
                <a:sym typeface="Nunito"/>
              </a:rPr>
              <a:t> </a:t>
            </a:r>
            <a:endParaRPr>
              <a:solidFill>
                <a:srgbClr val="0070C0"/>
              </a:solidFill>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273239"/>
              </a:buClr>
              <a:buSzPct val="100000"/>
              <a:buChar char="•"/>
            </a:pPr>
            <a:r>
              <a:rPr i="0" lang="en-US">
                <a:solidFill>
                  <a:srgbClr val="273239"/>
                </a:solidFill>
                <a:latin typeface="Nunito"/>
                <a:ea typeface="Nunito"/>
                <a:cs typeface="Nunito"/>
                <a:sym typeface="Nunito"/>
              </a:rPr>
              <a:t>Feasibility Study </a:t>
            </a:r>
            <a:r>
              <a:rPr b="0" i="0" lang="en-US">
                <a:solidFill>
                  <a:srgbClr val="273239"/>
                </a:solidFill>
                <a:latin typeface="Nunito"/>
                <a:ea typeface="Nunito"/>
                <a:cs typeface="Nunito"/>
                <a:sym typeface="Nunito"/>
              </a:rPr>
              <a:t>in </a:t>
            </a:r>
            <a:r>
              <a:rPr b="0" i="0" lang="en-US">
                <a:latin typeface="Nunito"/>
                <a:ea typeface="Nunito"/>
                <a:cs typeface="Nunito"/>
                <a:sym typeface="Nunito"/>
              </a:rPr>
              <a:t>Software Engineering</a:t>
            </a:r>
            <a:r>
              <a:rPr b="0" i="0" lang="en-US">
                <a:solidFill>
                  <a:srgbClr val="273239"/>
                </a:solidFill>
                <a:latin typeface="Nunito"/>
                <a:ea typeface="Nunito"/>
                <a:cs typeface="Nunito"/>
                <a:sym typeface="Nunito"/>
              </a:rPr>
              <a:t> is a study to evaluate feasibility of proposed project or system. </a:t>
            </a:r>
            <a:endParaRPr/>
          </a:p>
          <a:p>
            <a:pPr indent="-228600" lvl="0" marL="228600" rtl="0" algn="l">
              <a:lnSpc>
                <a:spcPct val="90000"/>
              </a:lnSpc>
              <a:spcBef>
                <a:spcPts val="1000"/>
              </a:spcBef>
              <a:spcAft>
                <a:spcPts val="0"/>
              </a:spcAft>
              <a:buClr>
                <a:srgbClr val="273239"/>
              </a:buClr>
              <a:buSzPct val="100000"/>
              <a:buChar char="•"/>
            </a:pPr>
            <a:r>
              <a:rPr b="0" i="0" lang="en-US">
                <a:solidFill>
                  <a:srgbClr val="273239"/>
                </a:solidFill>
                <a:latin typeface="Nunito"/>
                <a:ea typeface="Nunito"/>
                <a:cs typeface="Nunito"/>
                <a:sym typeface="Nunito"/>
              </a:rPr>
              <a:t>Feasibility study is one of stage among important four stages of </a:t>
            </a:r>
            <a:r>
              <a:rPr i="0" lang="en-US">
                <a:latin typeface="Nunito"/>
                <a:ea typeface="Nunito"/>
                <a:cs typeface="Nunito"/>
                <a:sym typeface="Nunito"/>
              </a:rPr>
              <a:t>Software Project Management Process</a:t>
            </a:r>
            <a:r>
              <a:rPr b="0" i="0" lang="en-US">
                <a:solidFill>
                  <a:srgbClr val="273239"/>
                </a:solidFill>
                <a:latin typeface="Nunito"/>
                <a:ea typeface="Nunito"/>
                <a:cs typeface="Nunito"/>
                <a:sym typeface="Nunito"/>
              </a:rPr>
              <a:t>. </a:t>
            </a:r>
            <a:endParaRPr/>
          </a:p>
          <a:p>
            <a:pPr indent="-228600" lvl="0" marL="228600" rtl="0" algn="l">
              <a:lnSpc>
                <a:spcPct val="90000"/>
              </a:lnSpc>
              <a:spcBef>
                <a:spcPts val="1000"/>
              </a:spcBef>
              <a:spcAft>
                <a:spcPts val="0"/>
              </a:spcAft>
              <a:buClr>
                <a:srgbClr val="273239"/>
              </a:buClr>
              <a:buSzPct val="100000"/>
              <a:buChar char="•"/>
            </a:pPr>
            <a:r>
              <a:rPr b="0" i="0" lang="en-US">
                <a:solidFill>
                  <a:srgbClr val="273239"/>
                </a:solidFill>
                <a:latin typeface="Nunito"/>
                <a:ea typeface="Nunito"/>
                <a:cs typeface="Nunito"/>
                <a:sym typeface="Nunito"/>
              </a:rPr>
              <a:t>As name suggests feasibility study is the feasibility analysis or it is a measure of the software product in terms of how much beneficial product development will be for the organization in a practical point of view. </a:t>
            </a:r>
            <a:endParaRPr/>
          </a:p>
          <a:p>
            <a:pPr indent="-228600" lvl="0" marL="228600" rtl="0" algn="l">
              <a:lnSpc>
                <a:spcPct val="90000"/>
              </a:lnSpc>
              <a:spcBef>
                <a:spcPts val="1000"/>
              </a:spcBef>
              <a:spcAft>
                <a:spcPts val="0"/>
              </a:spcAft>
              <a:buClr>
                <a:srgbClr val="273239"/>
              </a:buClr>
              <a:buSzPct val="100000"/>
              <a:buChar char="•"/>
            </a:pPr>
            <a:r>
              <a:rPr b="0" i="0" lang="en-US">
                <a:solidFill>
                  <a:srgbClr val="273239"/>
                </a:solidFill>
                <a:latin typeface="Nunito"/>
                <a:ea typeface="Nunito"/>
                <a:cs typeface="Nunito"/>
                <a:sym typeface="Nunito"/>
              </a:rPr>
              <a:t>Feasibility study is carried out based on many purposes to analyze whether software product will be right in terms of development, implementation, contribution of project to the organization etc.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Nunito"/>
              <a:buNone/>
            </a:pPr>
            <a:r>
              <a:rPr b="1" i="0" lang="en-US">
                <a:solidFill>
                  <a:srgbClr val="0070C0"/>
                </a:solidFill>
                <a:latin typeface="Nunito"/>
                <a:ea typeface="Nunito"/>
                <a:cs typeface="Nunito"/>
                <a:sym typeface="Nunito"/>
              </a:rPr>
              <a:t>Types of Feasibility Study</a:t>
            </a:r>
            <a:endParaRPr>
              <a:solidFill>
                <a:srgbClr val="0070C0"/>
              </a:solidFill>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0"/>
              </a:spcBef>
              <a:spcAft>
                <a:spcPts val="0"/>
              </a:spcAft>
              <a:buClr>
                <a:srgbClr val="273239"/>
              </a:buClr>
              <a:buSzPct val="100000"/>
              <a:buNone/>
            </a:pPr>
            <a:r>
              <a:rPr b="0" i="0" lang="en-US">
                <a:solidFill>
                  <a:srgbClr val="273239"/>
                </a:solidFill>
                <a:latin typeface="Nunito"/>
                <a:ea typeface="Nunito"/>
                <a:cs typeface="Nunito"/>
                <a:sym typeface="Nunito"/>
              </a:rPr>
              <a:t>The feasibility study mainly concentrates on below mentioned areas. Among these Economic Feasibility Study is most important part of the feasibility analysis and Legal Feasibility Study is less considered feasibility analysis. </a:t>
            </a:r>
            <a:endParaRPr/>
          </a:p>
          <a:p>
            <a:pPr indent="-228600" lvl="0" marL="228600" rtl="0" algn="l">
              <a:lnSpc>
                <a:spcPct val="90000"/>
              </a:lnSpc>
              <a:spcBef>
                <a:spcPts val="1000"/>
              </a:spcBef>
              <a:spcAft>
                <a:spcPts val="0"/>
              </a:spcAft>
              <a:buClr>
                <a:srgbClr val="273239"/>
              </a:buClr>
              <a:buSzPct val="100000"/>
              <a:buFont typeface="Calibri"/>
              <a:buAutoNum type="arabicPeriod"/>
            </a:pPr>
            <a:r>
              <a:rPr b="1" i="0" lang="en-US">
                <a:solidFill>
                  <a:srgbClr val="273239"/>
                </a:solidFill>
                <a:latin typeface="Nunito"/>
                <a:ea typeface="Nunito"/>
                <a:cs typeface="Nunito"/>
                <a:sym typeface="Nunito"/>
              </a:rPr>
              <a:t>Technical Feasibility</a:t>
            </a:r>
            <a:r>
              <a:rPr b="0" i="0" lang="en-US">
                <a:solidFill>
                  <a:srgbClr val="273239"/>
                </a:solidFill>
                <a:latin typeface="Nunito"/>
                <a:ea typeface="Nunito"/>
                <a:cs typeface="Nunito"/>
                <a:sym typeface="Nunito"/>
              </a:rPr>
              <a:t>: In Technical Feasibility current resources both hardware software along with required technology are analyzed/assessed to develop project. This technical feasibility study gives report whether there exists correct required resources and technologies which will be used for project development. Along with this, feasibility study also analyzes technical skills and capabilities of technical team, existing technology can be used or not, maintenance and up-gradation is easy or not for chosen technology etc.</a:t>
            </a:r>
            <a:endParaRPr/>
          </a:p>
          <a:p>
            <a:pPr indent="-228600" lvl="0" marL="228600" rtl="0" algn="l">
              <a:lnSpc>
                <a:spcPct val="90000"/>
              </a:lnSpc>
              <a:spcBef>
                <a:spcPts val="1000"/>
              </a:spcBef>
              <a:spcAft>
                <a:spcPts val="0"/>
              </a:spcAft>
              <a:buClr>
                <a:srgbClr val="273239"/>
              </a:buClr>
              <a:buSzPct val="100000"/>
              <a:buFont typeface="Calibri"/>
              <a:buAutoNum type="arabicPeriod"/>
            </a:pPr>
            <a:r>
              <a:rPr b="1" i="0" lang="en-US">
                <a:solidFill>
                  <a:srgbClr val="273239"/>
                </a:solidFill>
                <a:latin typeface="Nunito"/>
                <a:ea typeface="Nunito"/>
                <a:cs typeface="Nunito"/>
                <a:sym typeface="Nunito"/>
              </a:rPr>
              <a:t>Operational Feasibility: </a:t>
            </a:r>
            <a:r>
              <a:rPr b="0" i="0" lang="en-US">
                <a:solidFill>
                  <a:srgbClr val="273239"/>
                </a:solidFill>
                <a:latin typeface="Nunito"/>
                <a:ea typeface="Nunito"/>
                <a:cs typeface="Nunito"/>
                <a:sym typeface="Nunito"/>
              </a:rPr>
              <a:t>In Operational Feasibility degree of providing service to requirements is analyzed along with how much easy product will be to operate and maintenance after deployment. Along with this other operational scopes are determining usability of product, Determining suggested solution by software development team is acceptable or not etc. </a:t>
            </a:r>
            <a:endParaRPr/>
          </a:p>
          <a:p>
            <a:pPr indent="-90804"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rPr>
              <a:t>Cont.</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rgbClr val="273239"/>
              </a:buClr>
              <a:buSzPct val="100000"/>
              <a:buFont typeface="Calibri"/>
              <a:buAutoNum type="arabicPeriod" startAt="3"/>
            </a:pPr>
            <a:r>
              <a:rPr b="1" i="0" lang="en-US">
                <a:solidFill>
                  <a:srgbClr val="273239"/>
                </a:solidFill>
                <a:latin typeface="Nunito"/>
                <a:ea typeface="Nunito"/>
                <a:cs typeface="Nunito"/>
                <a:sym typeface="Nunito"/>
              </a:rPr>
              <a:t>Economic Feasibility: </a:t>
            </a:r>
            <a:r>
              <a:rPr b="0" i="0" lang="en-US">
                <a:solidFill>
                  <a:srgbClr val="273239"/>
                </a:solidFill>
                <a:latin typeface="Nunito"/>
                <a:ea typeface="Nunito"/>
                <a:cs typeface="Nunito"/>
                <a:sym typeface="Nunito"/>
              </a:rPr>
              <a:t>In Economic Feasibility study cost and benefit of the project is analyzed. Means under this feasibility study a detail analysis is carried out what will be cost of the project for development which includes all required cost for final development like hardware and software resource required, design and development cost and operational cost and so on. After that it is analyzed whether project will be beneficial in terms of finance for organization or not.  </a:t>
            </a:r>
            <a:endParaRPr/>
          </a:p>
          <a:p>
            <a:pPr indent="-228600" lvl="0" marL="228600" rtl="0" algn="l">
              <a:lnSpc>
                <a:spcPct val="90000"/>
              </a:lnSpc>
              <a:spcBef>
                <a:spcPts val="1000"/>
              </a:spcBef>
              <a:spcAft>
                <a:spcPts val="0"/>
              </a:spcAft>
              <a:buClr>
                <a:srgbClr val="273239"/>
              </a:buClr>
              <a:buSzPct val="100000"/>
              <a:buFont typeface="Calibri"/>
              <a:buAutoNum type="arabicPeriod" startAt="3"/>
            </a:pPr>
            <a:r>
              <a:rPr b="1" i="0" lang="en-US">
                <a:solidFill>
                  <a:srgbClr val="273239"/>
                </a:solidFill>
                <a:latin typeface="Nunito"/>
                <a:ea typeface="Nunito"/>
                <a:cs typeface="Nunito"/>
                <a:sym typeface="Nunito"/>
              </a:rPr>
              <a:t>Legal Feasibility: </a:t>
            </a:r>
            <a:r>
              <a:rPr b="0" i="0" lang="en-US">
                <a:solidFill>
                  <a:srgbClr val="273239"/>
                </a:solidFill>
                <a:latin typeface="Nunito"/>
                <a:ea typeface="Nunito"/>
                <a:cs typeface="Nunito"/>
                <a:sym typeface="Nunito"/>
              </a:rPr>
              <a:t>In Legal Feasibility study project is analyzed in legality point of view. This includes analyzing barriers of legal implementation of project, data protection acts or social media laws, project certificate, license, copyright etc. Overall it can be said that Legal Feasibility Study is study to know if proposed project conform legal and ethical requirements.  </a:t>
            </a:r>
            <a:endParaRPr/>
          </a:p>
          <a:p>
            <a:pPr indent="-228600" lvl="0" marL="228600" rtl="0" algn="l">
              <a:lnSpc>
                <a:spcPct val="90000"/>
              </a:lnSpc>
              <a:spcBef>
                <a:spcPts val="1000"/>
              </a:spcBef>
              <a:spcAft>
                <a:spcPts val="0"/>
              </a:spcAft>
              <a:buClr>
                <a:srgbClr val="273239"/>
              </a:buClr>
              <a:buSzPct val="100000"/>
              <a:buFont typeface="Calibri"/>
              <a:buAutoNum type="arabicPeriod" startAt="3"/>
            </a:pPr>
            <a:r>
              <a:rPr b="1" i="0" lang="en-US">
                <a:solidFill>
                  <a:srgbClr val="273239"/>
                </a:solidFill>
                <a:latin typeface="Nunito"/>
                <a:ea typeface="Nunito"/>
                <a:cs typeface="Nunito"/>
                <a:sym typeface="Nunito"/>
              </a:rPr>
              <a:t>Schedule Feasibility: </a:t>
            </a:r>
            <a:r>
              <a:rPr b="0" i="0" lang="en-US">
                <a:solidFill>
                  <a:srgbClr val="273239"/>
                </a:solidFill>
                <a:latin typeface="Nunito"/>
                <a:ea typeface="Nunito"/>
                <a:cs typeface="Nunito"/>
                <a:sym typeface="Nunito"/>
              </a:rPr>
              <a:t>In Schedule Feasibility Study mainly timelines/deadlines is analyzed for proposed project which includes how much time teams will take to complete final project which has a great impact on the organization as purpose of project may fail if it can’t be completed on time.</a:t>
            </a:r>
            <a:endParaRPr/>
          </a:p>
          <a:p>
            <a:pPr indent="-90804"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rPr>
              <a:t>Cont.</a:t>
            </a:r>
            <a:endParaRPr/>
          </a:p>
        </p:txBody>
      </p:sp>
      <p:sp>
        <p:nvSpPr>
          <p:cNvPr id="109" name="Google Shape;10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rgbClr val="273239"/>
              </a:buClr>
              <a:buSzPct val="100000"/>
              <a:buFont typeface="Calibri"/>
              <a:buAutoNum type="arabicPeriod" startAt="6"/>
            </a:pPr>
            <a:r>
              <a:rPr b="1" i="0" lang="en-US">
                <a:solidFill>
                  <a:srgbClr val="273239"/>
                </a:solidFill>
                <a:latin typeface="Nunito"/>
                <a:ea typeface="Nunito"/>
                <a:cs typeface="Nunito"/>
                <a:sym typeface="Nunito"/>
              </a:rPr>
              <a:t>Cultural and Political Feasibility:</a:t>
            </a:r>
            <a:r>
              <a:rPr b="0" i="0" lang="en-US">
                <a:solidFill>
                  <a:srgbClr val="273239"/>
                </a:solidFill>
                <a:latin typeface="Nunito"/>
                <a:ea typeface="Nunito"/>
                <a:cs typeface="Nunito"/>
                <a:sym typeface="Nunito"/>
              </a:rPr>
              <a:t> This section assesses how the software project will affect the political environment and organizational culture. This analysis takes into account the organization’s culture and how the suggested changes could be received there, as well as any potential political obstacles or internal opposition to the project. It is essential that cultural and political factors be taken into account in order to execute projects successfully.</a:t>
            </a:r>
            <a:endParaRPr/>
          </a:p>
          <a:p>
            <a:pPr indent="-228600" lvl="0" marL="228600" rtl="0" algn="l">
              <a:lnSpc>
                <a:spcPct val="90000"/>
              </a:lnSpc>
              <a:spcBef>
                <a:spcPts val="1000"/>
              </a:spcBef>
              <a:spcAft>
                <a:spcPts val="0"/>
              </a:spcAft>
              <a:buClr>
                <a:srgbClr val="273239"/>
              </a:buClr>
              <a:buSzPct val="100000"/>
              <a:buFont typeface="Calibri"/>
              <a:buAutoNum type="arabicPeriod" startAt="6"/>
            </a:pPr>
            <a:r>
              <a:rPr b="1" i="0" lang="en-US">
                <a:solidFill>
                  <a:srgbClr val="273239"/>
                </a:solidFill>
                <a:latin typeface="Nunito"/>
                <a:ea typeface="Nunito"/>
                <a:cs typeface="Nunito"/>
                <a:sym typeface="Nunito"/>
              </a:rPr>
              <a:t>Market Feasibility: </a:t>
            </a:r>
            <a:r>
              <a:rPr b="0" i="0" lang="en-US">
                <a:solidFill>
                  <a:srgbClr val="273239"/>
                </a:solidFill>
                <a:latin typeface="Nunito"/>
                <a:ea typeface="Nunito"/>
                <a:cs typeface="Nunito"/>
                <a:sym typeface="Nunito"/>
              </a:rPr>
              <a:t>This refers to evaluating the market’s willingness and ability to accept the suggested software system. Analyzing the target market, understanding consumer wants and assessing possible rivals are all part of this study. It assists in identifying whether the project is in line with market expectations and whether there is a feasible market for the good or service being offered.</a:t>
            </a:r>
            <a:endParaRPr/>
          </a:p>
          <a:p>
            <a:pPr indent="-228600" lvl="0" marL="228600" rtl="0" algn="l">
              <a:lnSpc>
                <a:spcPct val="90000"/>
              </a:lnSpc>
              <a:spcBef>
                <a:spcPts val="1000"/>
              </a:spcBef>
              <a:spcAft>
                <a:spcPts val="0"/>
              </a:spcAft>
              <a:buClr>
                <a:srgbClr val="273239"/>
              </a:buClr>
              <a:buSzPct val="100000"/>
              <a:buFont typeface="Calibri"/>
              <a:buAutoNum type="arabicPeriod" startAt="6"/>
            </a:pPr>
            <a:r>
              <a:rPr b="1" i="0" lang="en-US">
                <a:solidFill>
                  <a:srgbClr val="273239"/>
                </a:solidFill>
                <a:latin typeface="Nunito"/>
                <a:ea typeface="Nunito"/>
                <a:cs typeface="Nunito"/>
                <a:sym typeface="Nunito"/>
              </a:rPr>
              <a:t>Resource Feasibility:</a:t>
            </a:r>
            <a:r>
              <a:rPr b="0" i="0" lang="en-US">
                <a:solidFill>
                  <a:srgbClr val="273239"/>
                </a:solidFill>
                <a:latin typeface="Nunito"/>
                <a:ea typeface="Nunito"/>
                <a:cs typeface="Nunito"/>
                <a:sym typeface="Nunito"/>
              </a:rPr>
              <a:t> This method evaluates if the resources needed to complete the software project successfully are adequate and readily available. Financial, technological and human resources are all taken into account in this study. It guarantees that sufficient hardware, software, trained labor and funding are available to complete the project successfully.</a:t>
            </a:r>
            <a:endParaRPr/>
          </a:p>
          <a:p>
            <a:pPr indent="-90804"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rPr>
              <a:t>Example</a:t>
            </a:r>
            <a:endParaRPr/>
          </a:p>
        </p:txBody>
      </p:sp>
      <p:sp>
        <p:nvSpPr>
          <p:cNvPr id="115" name="Google Shape;115;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90000"/>
              </a:lnSpc>
              <a:spcBef>
                <a:spcPts val="0"/>
              </a:spcBef>
              <a:spcAft>
                <a:spcPts val="0"/>
              </a:spcAft>
              <a:buClr>
                <a:schemeClr val="dk1"/>
              </a:buClr>
              <a:buSzPct val="100000"/>
              <a:buNone/>
            </a:pPr>
            <a:r>
              <a:rPr lang="en-US"/>
              <a:t>The “FLoodGuard” application is a proposed tool designed to assist communities and emergency services in managing and responding to flood events. This app aims to provide features such as real-time flood monitoring, flood risk assessments, emergency alerts, resource management and evacuation planning. Users will be able to view live flood data from various sources, receive notifications about flood warnings and emergencies and access resources for flood preparedness and response. The development team is about to begin creating the Software Requirement Specification document for the project</a:t>
            </a:r>
            <a:endParaRPr/>
          </a:p>
          <a:p>
            <a:pPr indent="-514350" lvl="0" marL="514350" rtl="0" algn="l">
              <a:lnSpc>
                <a:spcPct val="90000"/>
              </a:lnSpc>
              <a:spcBef>
                <a:spcPts val="1000"/>
              </a:spcBef>
              <a:spcAft>
                <a:spcPts val="0"/>
              </a:spcAft>
              <a:buClr>
                <a:schemeClr val="dk1"/>
              </a:buClr>
              <a:buSzPct val="100000"/>
              <a:buAutoNum type="arabicPeriod"/>
            </a:pPr>
            <a:r>
              <a:rPr lang="en-US"/>
              <a:t>Mention the functional requirements for the app.</a:t>
            </a:r>
            <a:endParaRPr/>
          </a:p>
          <a:p>
            <a:pPr indent="-514350" lvl="0" marL="514350" rtl="0" algn="l">
              <a:lnSpc>
                <a:spcPct val="90000"/>
              </a:lnSpc>
              <a:spcBef>
                <a:spcPts val="1000"/>
              </a:spcBef>
              <a:spcAft>
                <a:spcPts val="0"/>
              </a:spcAft>
              <a:buClr>
                <a:schemeClr val="dk1"/>
              </a:buClr>
              <a:buSzPct val="100000"/>
              <a:buAutoNum type="arabicPeriod"/>
            </a:pPr>
            <a:r>
              <a:rPr lang="en-US"/>
              <a:t>Compare the non-functional requirement that will ensure the app quality.</a:t>
            </a:r>
            <a:endParaRPr/>
          </a:p>
          <a:p>
            <a:pPr indent="-514350" lvl="0" marL="514350" rtl="0" algn="l">
              <a:lnSpc>
                <a:spcPct val="90000"/>
              </a:lnSpc>
              <a:spcBef>
                <a:spcPts val="1000"/>
              </a:spcBef>
              <a:spcAft>
                <a:spcPts val="0"/>
              </a:spcAft>
              <a:buClr>
                <a:schemeClr val="dk1"/>
              </a:buClr>
              <a:buSzPct val="100000"/>
              <a:buAutoNum type="arabicPeriod"/>
            </a:pPr>
            <a:r>
              <a:rPr lang="en-US"/>
              <a:t>Summarize the feasibility study based on the scenario and how it could influence the development strategy of the app.</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2024-09-07T07:16:03Z</dcterms:created>
  <dc:creator>ACER</dc:creator>
</cp:coreProperties>
</file>