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76" r:id="rId7"/>
    <p:sldId id="261" r:id="rId8"/>
    <p:sldId id="262" r:id="rId9"/>
    <p:sldId id="263" r:id="rId10"/>
    <p:sldId id="264" r:id="rId11"/>
    <p:sldId id="265" r:id="rId12"/>
    <p:sldId id="266" r:id="rId13"/>
    <p:sldId id="267" r:id="rId14"/>
    <p:sldId id="268" r:id="rId15"/>
    <p:sldId id="271" r:id="rId16"/>
    <p:sldId id="273" r:id="rId17"/>
    <p:sldId id="275"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8" d="100"/>
          <a:sy n="68" d="100"/>
        </p:scale>
        <p:origin x="77" y="-46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3824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2C2C"/>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B85042"/>
          </a:solidFill>
          <a:ln w="12700">
            <a:solidFill>
              <a:srgbClr val="B85042"/>
            </a:solidFill>
            <a:prstDash val="solid"/>
          </a:ln>
        </p:spPr>
      </p:sp>
      <p:sp>
        <p:nvSpPr>
          <p:cNvPr id="3" name="Shape 1"/>
          <p:cNvSpPr/>
          <p:nvPr/>
        </p:nvSpPr>
        <p:spPr>
          <a:xfrm>
            <a:off x="5029200" y="-1097280"/>
            <a:ext cx="5486400" cy="5486400"/>
          </a:xfrm>
          <a:prstGeom prst="ellipse">
            <a:avLst/>
          </a:prstGeom>
          <a:solidFill>
            <a:srgbClr val="B85042">
              <a:alpha val="12000"/>
            </a:srgbClr>
          </a:solidFill>
          <a:ln w="25400">
            <a:solidFill>
              <a:srgbClr val="B85042">
                <a:alpha val="25000"/>
              </a:srgbClr>
            </a:solidFill>
            <a:prstDash val="solid"/>
          </a:ln>
        </p:spPr>
      </p:sp>
      <p:sp>
        <p:nvSpPr>
          <p:cNvPr id="4" name="Shape 2"/>
          <p:cNvSpPr/>
          <p:nvPr/>
        </p:nvSpPr>
        <p:spPr>
          <a:xfrm>
            <a:off x="-1371600" y="3200400"/>
            <a:ext cx="3657600" cy="3657600"/>
          </a:xfrm>
          <a:prstGeom prst="ellipse">
            <a:avLst/>
          </a:prstGeom>
          <a:solidFill>
            <a:srgbClr val="C9974C">
              <a:alpha val="8000"/>
            </a:srgbClr>
          </a:solidFill>
          <a:ln w="12700">
            <a:solidFill>
              <a:srgbClr val="C9974C">
                <a:alpha val="20000"/>
              </a:srgbClr>
            </a:solidFill>
            <a:prstDash val="solid"/>
          </a:ln>
        </p:spPr>
      </p:sp>
      <p:sp>
        <p:nvSpPr>
          <p:cNvPr id="5" name="Text 3"/>
          <p:cNvSpPr/>
          <p:nvPr/>
        </p:nvSpPr>
        <p:spPr>
          <a:xfrm>
            <a:off x="685800" y="777240"/>
            <a:ext cx="8046720" cy="1325880"/>
          </a:xfrm>
          <a:prstGeom prst="rect">
            <a:avLst/>
          </a:prstGeom>
          <a:noFill/>
          <a:ln/>
        </p:spPr>
        <p:txBody>
          <a:bodyPr wrap="square" lIns="0" tIns="0" rIns="0" bIns="0" rtlCol="0" anchor="ctr"/>
          <a:lstStyle/>
          <a:p>
            <a:pPr marL="0" indent="0" algn="l">
              <a:buNone/>
            </a:pPr>
            <a:r>
              <a:rPr lang="en-US" sz="8000" b="1" kern="0" spc="1000" dirty="0">
                <a:solidFill>
                  <a:srgbClr val="FFFFFF"/>
                </a:solidFill>
                <a:latin typeface="Georgia" pitchFamily="34" charset="0"/>
                <a:ea typeface="Georgia" pitchFamily="34" charset="-122"/>
                <a:cs typeface="Georgia" pitchFamily="34" charset="-120"/>
              </a:rPr>
              <a:t>FRICTION</a:t>
            </a:r>
            <a:endParaRPr lang="en-US" sz="8000" dirty="0"/>
          </a:p>
        </p:txBody>
      </p:sp>
      <p:sp>
        <p:nvSpPr>
          <p:cNvPr id="6" name="Text 4"/>
          <p:cNvSpPr/>
          <p:nvPr/>
        </p:nvSpPr>
        <p:spPr>
          <a:xfrm>
            <a:off x="685800" y="2194560"/>
            <a:ext cx="6400800" cy="502920"/>
          </a:xfrm>
          <a:prstGeom prst="rect">
            <a:avLst/>
          </a:prstGeom>
          <a:noFill/>
          <a:ln/>
        </p:spPr>
        <p:txBody>
          <a:bodyPr wrap="square" lIns="0" tIns="0" rIns="0" bIns="0" rtlCol="0" anchor="ctr"/>
          <a:lstStyle/>
          <a:p>
            <a:pPr marL="0" indent="0" algn="l">
              <a:buNone/>
            </a:pPr>
            <a:r>
              <a:rPr lang="en-US" sz="2000" i="1" dirty="0">
                <a:solidFill>
                  <a:srgbClr val="E7E8D1"/>
                </a:solidFill>
                <a:latin typeface="Calibri" pitchFamily="34" charset="0"/>
                <a:ea typeface="Calibri" pitchFamily="34" charset="-122"/>
                <a:cs typeface="Calibri" pitchFamily="34" charset="-120"/>
              </a:rPr>
              <a:t>A Complete Physics Guide</a:t>
            </a:r>
            <a:endParaRPr lang="en-US" sz="2000" dirty="0"/>
          </a:p>
        </p:txBody>
      </p:sp>
      <p:sp>
        <p:nvSpPr>
          <p:cNvPr id="7" name="Shape 5"/>
          <p:cNvSpPr/>
          <p:nvPr/>
        </p:nvSpPr>
        <p:spPr>
          <a:xfrm>
            <a:off x="685800" y="2834640"/>
            <a:ext cx="1554480" cy="402336"/>
          </a:xfrm>
          <a:prstGeom prst="roundRect">
            <a:avLst>
              <a:gd name="adj" fmla="val 27273"/>
            </a:avLst>
          </a:prstGeom>
          <a:solidFill>
            <a:srgbClr val="B85042"/>
          </a:solidFill>
          <a:ln w="12700">
            <a:solidFill>
              <a:srgbClr val="B85042"/>
            </a:solidFill>
            <a:prstDash val="solid"/>
          </a:ln>
        </p:spPr>
      </p:sp>
      <p:sp>
        <p:nvSpPr>
          <p:cNvPr id="8" name="Text 6"/>
          <p:cNvSpPr/>
          <p:nvPr/>
        </p:nvSpPr>
        <p:spPr>
          <a:xfrm>
            <a:off x="685800" y="2852928"/>
            <a:ext cx="15544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Types</a:t>
            </a:r>
            <a:endParaRPr lang="en-US" sz="1200" dirty="0"/>
          </a:p>
        </p:txBody>
      </p:sp>
      <p:sp>
        <p:nvSpPr>
          <p:cNvPr id="9" name="Shape 7"/>
          <p:cNvSpPr/>
          <p:nvPr/>
        </p:nvSpPr>
        <p:spPr>
          <a:xfrm>
            <a:off x="2350008" y="2834640"/>
            <a:ext cx="1554480" cy="402336"/>
          </a:xfrm>
          <a:prstGeom prst="roundRect">
            <a:avLst>
              <a:gd name="adj" fmla="val 27273"/>
            </a:avLst>
          </a:prstGeom>
          <a:solidFill>
            <a:srgbClr val="C9974C"/>
          </a:solidFill>
          <a:ln w="12700">
            <a:solidFill>
              <a:srgbClr val="C9974C"/>
            </a:solidFill>
            <a:prstDash val="solid"/>
          </a:ln>
        </p:spPr>
      </p:sp>
      <p:sp>
        <p:nvSpPr>
          <p:cNvPr id="10" name="Text 8"/>
          <p:cNvSpPr/>
          <p:nvPr/>
        </p:nvSpPr>
        <p:spPr>
          <a:xfrm>
            <a:off x="2350008" y="2852928"/>
            <a:ext cx="15544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Laws</a:t>
            </a:r>
            <a:endParaRPr lang="en-US" sz="1200" dirty="0"/>
          </a:p>
        </p:txBody>
      </p:sp>
      <p:sp>
        <p:nvSpPr>
          <p:cNvPr id="11" name="Shape 9"/>
          <p:cNvSpPr/>
          <p:nvPr/>
        </p:nvSpPr>
        <p:spPr>
          <a:xfrm>
            <a:off x="4014216" y="2834640"/>
            <a:ext cx="1554480" cy="402336"/>
          </a:xfrm>
          <a:prstGeom prst="roundRect">
            <a:avLst>
              <a:gd name="adj" fmla="val 27273"/>
            </a:avLst>
          </a:prstGeom>
          <a:solidFill>
            <a:srgbClr val="2A7F7F"/>
          </a:solidFill>
          <a:ln w="12700">
            <a:solidFill>
              <a:srgbClr val="2A7F7F"/>
            </a:solidFill>
            <a:prstDash val="solid"/>
          </a:ln>
        </p:spPr>
      </p:sp>
      <p:sp>
        <p:nvSpPr>
          <p:cNvPr id="12" name="Text 10"/>
          <p:cNvSpPr/>
          <p:nvPr/>
        </p:nvSpPr>
        <p:spPr>
          <a:xfrm>
            <a:off x="4014216" y="2852928"/>
            <a:ext cx="15544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Derivations</a:t>
            </a:r>
            <a:endParaRPr lang="en-US" sz="1200" dirty="0"/>
          </a:p>
        </p:txBody>
      </p:sp>
      <p:sp>
        <p:nvSpPr>
          <p:cNvPr id="13" name="Shape 11"/>
          <p:cNvSpPr/>
          <p:nvPr/>
        </p:nvSpPr>
        <p:spPr>
          <a:xfrm>
            <a:off x="5678424" y="2834640"/>
            <a:ext cx="1554480" cy="402336"/>
          </a:xfrm>
          <a:prstGeom prst="roundRect">
            <a:avLst>
              <a:gd name="adj" fmla="val 27273"/>
            </a:avLst>
          </a:prstGeom>
          <a:solidFill>
            <a:srgbClr val="1E3A5F"/>
          </a:solidFill>
          <a:ln w="12700">
            <a:solidFill>
              <a:srgbClr val="1E3A5F"/>
            </a:solidFill>
            <a:prstDash val="solid"/>
          </a:ln>
        </p:spPr>
      </p:sp>
      <p:sp>
        <p:nvSpPr>
          <p:cNvPr id="14" name="Text 12"/>
          <p:cNvSpPr/>
          <p:nvPr/>
        </p:nvSpPr>
        <p:spPr>
          <a:xfrm>
            <a:off x="5678424" y="2852928"/>
            <a:ext cx="15544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Coefficients</a:t>
            </a:r>
            <a:endParaRPr lang="en-US" sz="1200" dirty="0"/>
          </a:p>
        </p:txBody>
      </p:sp>
      <p:sp>
        <p:nvSpPr>
          <p:cNvPr id="15" name="Shape 13"/>
          <p:cNvSpPr/>
          <p:nvPr/>
        </p:nvSpPr>
        <p:spPr>
          <a:xfrm>
            <a:off x="7342632" y="2834640"/>
            <a:ext cx="1554480" cy="402336"/>
          </a:xfrm>
          <a:prstGeom prst="roundRect">
            <a:avLst>
              <a:gd name="adj" fmla="val 27273"/>
            </a:avLst>
          </a:prstGeom>
          <a:solidFill>
            <a:srgbClr val="4A4A4A"/>
          </a:solidFill>
          <a:ln w="12700">
            <a:solidFill>
              <a:srgbClr val="4A4A4A"/>
            </a:solidFill>
            <a:prstDash val="solid"/>
          </a:ln>
        </p:spPr>
      </p:sp>
      <p:sp>
        <p:nvSpPr>
          <p:cNvPr id="16" name="Text 14"/>
          <p:cNvSpPr/>
          <p:nvPr/>
        </p:nvSpPr>
        <p:spPr>
          <a:xfrm>
            <a:off x="7342632" y="2852928"/>
            <a:ext cx="15544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Applications</a:t>
            </a:r>
            <a:endParaRPr lang="en-US" sz="1200" dirty="0"/>
          </a:p>
        </p:txBody>
      </p:sp>
      <p:sp>
        <p:nvSpPr>
          <p:cNvPr id="19" name="Text 16"/>
          <p:cNvSpPr/>
          <p:nvPr/>
        </p:nvSpPr>
        <p:spPr>
          <a:xfrm>
            <a:off x="685800" y="4645152"/>
            <a:ext cx="4114800" cy="274320"/>
          </a:xfrm>
          <a:prstGeom prst="rect">
            <a:avLst/>
          </a:prstGeom>
          <a:noFill/>
          <a:ln/>
        </p:spPr>
        <p:txBody>
          <a:bodyPr wrap="square" lIns="0" tIns="0" rIns="0" bIns="0" rtlCol="0" anchor="ctr"/>
          <a:lstStyle/>
          <a:p>
            <a:pPr marL="0" indent="0" algn="ctr">
              <a:buNone/>
            </a:pPr>
            <a:r>
              <a:rPr lang="en-US" sz="900" i="1" dirty="0">
                <a:solidFill>
                  <a:srgbClr val="AAAAAA"/>
                </a:solidFill>
                <a:latin typeface="Calibri" pitchFamily="34" charset="0"/>
                <a:ea typeface="Calibri" pitchFamily="34" charset="-122"/>
                <a:cs typeface="Calibri" pitchFamily="34" charset="-120"/>
              </a:rPr>
              <a:t>Skid marks — kinetic friction at work</a:t>
            </a:r>
            <a:endParaRPr lang="en-US" sz="900" dirty="0"/>
          </a:p>
        </p:txBody>
      </p:sp>
      <p:sp>
        <p:nvSpPr>
          <p:cNvPr id="20" name="Shape 17"/>
          <p:cNvSpPr/>
          <p:nvPr/>
        </p:nvSpPr>
        <p:spPr>
          <a:xfrm>
            <a:off x="0" y="4864608"/>
            <a:ext cx="9144000" cy="283464"/>
          </a:xfrm>
          <a:prstGeom prst="rect">
            <a:avLst/>
          </a:prstGeom>
          <a:solidFill>
            <a:srgbClr val="B85042"/>
          </a:solidFill>
          <a:ln w="12700">
            <a:solidFill>
              <a:srgbClr val="B85042"/>
            </a:solidFill>
            <a:prstDash val="solid"/>
          </a:ln>
        </p:spPr>
      </p:sp>
      <p:sp>
        <p:nvSpPr>
          <p:cNvPr id="21" name="Text 18"/>
          <p:cNvSpPr/>
          <p:nvPr/>
        </p:nvSpPr>
        <p:spPr>
          <a:xfrm>
            <a:off x="0" y="4873752"/>
            <a:ext cx="914400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Physics — Mechanics Series  |</a:t>
            </a:r>
            <a:endParaRPr lang="en-US" sz="1100" dirty="0"/>
          </a:p>
        </p:txBody>
      </p:sp>
      <p:pic>
        <p:nvPicPr>
          <p:cNvPr id="1026" name="Picture 2" descr="Frictional Force">
            <a:extLst>
              <a:ext uri="{FF2B5EF4-FFF2-40B4-BE49-F238E27FC236}">
                <a16:creationId xmlns:a16="http://schemas.microsoft.com/office/drawing/2014/main" id="{AD13533A-F383-4498-B0BA-3729ACA84FE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36" t="15545" r="6663" b="7737"/>
          <a:stretch/>
        </p:blipFill>
        <p:spPr bwMode="auto">
          <a:xfrm>
            <a:off x="2240280" y="3394709"/>
            <a:ext cx="3920489" cy="18082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640080"/>
          </a:xfrm>
          <a:prstGeom prst="rect">
            <a:avLst/>
          </a:prstGeom>
          <a:noFill/>
          <a:ln/>
        </p:spPr>
        <p:txBody>
          <a:bodyPr wrap="square" lIns="0" tIns="0" rIns="0" bIns="0" rtlCol="0" anchor="ctr"/>
          <a:lstStyle/>
          <a:p>
            <a:pPr marL="0" indent="0" algn="l">
              <a:buNone/>
            </a:pPr>
            <a:r>
              <a:rPr lang="en-US" sz="3600" b="1" dirty="0">
                <a:solidFill>
                  <a:srgbClr val="2C2C2C"/>
                </a:solidFill>
                <a:latin typeface="Georgia" pitchFamily="34" charset="0"/>
                <a:ea typeface="Georgia" pitchFamily="34" charset="-122"/>
                <a:cs typeface="Georgia" pitchFamily="34" charset="-120"/>
              </a:rPr>
              <a:t>Contents</a:t>
            </a:r>
            <a:endParaRPr lang="en-US" sz="3600" dirty="0"/>
          </a:p>
        </p:txBody>
      </p:sp>
      <p:sp>
        <p:nvSpPr>
          <p:cNvPr id="3" name="Shape 1"/>
          <p:cNvSpPr/>
          <p:nvPr/>
        </p:nvSpPr>
        <p:spPr>
          <a:xfrm>
            <a:off x="457200" y="868680"/>
            <a:ext cx="8229600" cy="41148"/>
          </a:xfrm>
          <a:prstGeom prst="rect">
            <a:avLst/>
          </a:prstGeom>
          <a:solidFill>
            <a:srgbClr val="B85042"/>
          </a:solidFill>
          <a:ln w="12700">
            <a:solidFill>
              <a:srgbClr val="B85042"/>
            </a:solidFill>
            <a:prstDash val="solid"/>
          </a:ln>
        </p:spPr>
      </p:sp>
      <p:sp>
        <p:nvSpPr>
          <p:cNvPr id="4" name="Shape 2"/>
          <p:cNvSpPr/>
          <p:nvPr/>
        </p:nvSpPr>
        <p:spPr>
          <a:xfrm>
            <a:off x="457200" y="987552"/>
            <a:ext cx="4160520" cy="402336"/>
          </a:xfrm>
          <a:prstGeom prst="rect">
            <a:avLst/>
          </a:prstGeom>
          <a:solidFill>
            <a:srgbClr val="FFFFFF"/>
          </a:solidFill>
          <a:ln w="12700">
            <a:solidFill>
              <a:srgbClr val="E5E0D8"/>
            </a:solidFill>
            <a:prstDash val="solid"/>
          </a:ln>
        </p:spPr>
      </p:sp>
      <p:sp>
        <p:nvSpPr>
          <p:cNvPr id="5" name="Shape 3"/>
          <p:cNvSpPr/>
          <p:nvPr/>
        </p:nvSpPr>
        <p:spPr>
          <a:xfrm>
            <a:off x="457200" y="987552"/>
            <a:ext cx="402336" cy="402336"/>
          </a:xfrm>
          <a:prstGeom prst="roundRect">
            <a:avLst>
              <a:gd name="adj" fmla="val 27273"/>
            </a:avLst>
          </a:prstGeom>
          <a:solidFill>
            <a:srgbClr val="B85042"/>
          </a:solidFill>
          <a:ln w="12700">
            <a:solidFill>
              <a:srgbClr val="B85042"/>
            </a:solidFill>
            <a:prstDash val="solid"/>
          </a:ln>
        </p:spPr>
      </p:sp>
      <p:sp>
        <p:nvSpPr>
          <p:cNvPr id="6" name="Text 4"/>
          <p:cNvSpPr/>
          <p:nvPr/>
        </p:nvSpPr>
        <p:spPr>
          <a:xfrm>
            <a:off x="457200" y="102412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01</a:t>
            </a:r>
            <a:endParaRPr lang="en-US" sz="1200" dirty="0"/>
          </a:p>
        </p:txBody>
      </p:sp>
      <p:sp>
        <p:nvSpPr>
          <p:cNvPr id="7" name="Text 5"/>
          <p:cNvSpPr/>
          <p:nvPr/>
        </p:nvSpPr>
        <p:spPr>
          <a:xfrm>
            <a:off x="932688" y="1042416"/>
            <a:ext cx="3566160" cy="292608"/>
          </a:xfrm>
          <a:prstGeom prst="rect">
            <a:avLst/>
          </a:prstGeom>
          <a:noFill/>
          <a:ln/>
        </p:spPr>
        <p:txBody>
          <a:bodyPr wrap="square" lIns="0" tIns="0" rIns="0" bIns="0" rtlCol="0" anchor="ctr"/>
          <a:lstStyle/>
          <a:p>
            <a:pPr marL="0" indent="0">
              <a:buNone/>
            </a:pPr>
            <a:r>
              <a:rPr lang="en-US" sz="1200" dirty="0">
                <a:solidFill>
                  <a:srgbClr val="4A4A4A"/>
                </a:solidFill>
                <a:latin typeface="Calibri" pitchFamily="34" charset="0"/>
                <a:ea typeface="Calibri" pitchFamily="34" charset="-122"/>
                <a:cs typeface="Calibri" pitchFamily="34" charset="-120"/>
              </a:rPr>
              <a:t>What is Friction?</a:t>
            </a:r>
            <a:endParaRPr lang="en-US" sz="1200" dirty="0"/>
          </a:p>
        </p:txBody>
      </p:sp>
      <p:sp>
        <p:nvSpPr>
          <p:cNvPr id="8" name="Shape 6"/>
          <p:cNvSpPr/>
          <p:nvPr/>
        </p:nvSpPr>
        <p:spPr>
          <a:xfrm>
            <a:off x="4800600" y="987552"/>
            <a:ext cx="4160520" cy="402336"/>
          </a:xfrm>
          <a:prstGeom prst="rect">
            <a:avLst/>
          </a:prstGeom>
          <a:solidFill>
            <a:srgbClr val="FFFFFF"/>
          </a:solidFill>
          <a:ln w="12700">
            <a:solidFill>
              <a:srgbClr val="E5E0D8"/>
            </a:solidFill>
            <a:prstDash val="solid"/>
          </a:ln>
        </p:spPr>
      </p:sp>
      <p:sp>
        <p:nvSpPr>
          <p:cNvPr id="9" name="Shape 7"/>
          <p:cNvSpPr/>
          <p:nvPr/>
        </p:nvSpPr>
        <p:spPr>
          <a:xfrm>
            <a:off x="4800600" y="987552"/>
            <a:ext cx="402336" cy="402336"/>
          </a:xfrm>
          <a:prstGeom prst="roundRect">
            <a:avLst>
              <a:gd name="adj" fmla="val 27273"/>
            </a:avLst>
          </a:prstGeom>
          <a:solidFill>
            <a:srgbClr val="B85042"/>
          </a:solidFill>
          <a:ln w="12700">
            <a:solidFill>
              <a:srgbClr val="B85042"/>
            </a:solidFill>
            <a:prstDash val="solid"/>
          </a:ln>
        </p:spPr>
        <p:txBody>
          <a:bodyPr/>
          <a:lstStyle/>
          <a:p>
            <a:endParaRPr lang="en-US" dirty="0"/>
          </a:p>
        </p:txBody>
      </p:sp>
      <p:sp>
        <p:nvSpPr>
          <p:cNvPr id="10" name="Text 8"/>
          <p:cNvSpPr/>
          <p:nvPr/>
        </p:nvSpPr>
        <p:spPr>
          <a:xfrm>
            <a:off x="4800600" y="102412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02</a:t>
            </a:r>
            <a:endParaRPr lang="en-US" sz="1200" dirty="0"/>
          </a:p>
        </p:txBody>
      </p:sp>
      <p:sp>
        <p:nvSpPr>
          <p:cNvPr id="11" name="Text 9"/>
          <p:cNvSpPr/>
          <p:nvPr/>
        </p:nvSpPr>
        <p:spPr>
          <a:xfrm>
            <a:off x="5276088" y="1042416"/>
            <a:ext cx="3566160" cy="292608"/>
          </a:xfrm>
          <a:prstGeom prst="rect">
            <a:avLst/>
          </a:prstGeom>
          <a:noFill/>
          <a:ln/>
        </p:spPr>
        <p:txBody>
          <a:bodyPr wrap="square" lIns="0" tIns="0" rIns="0" bIns="0" rtlCol="0" anchor="ctr"/>
          <a:lstStyle/>
          <a:p>
            <a:pPr marL="0" indent="0">
              <a:buNone/>
            </a:pPr>
            <a:r>
              <a:rPr lang="en-US" sz="1200" dirty="0">
                <a:solidFill>
                  <a:srgbClr val="4A4A4A"/>
                </a:solidFill>
                <a:latin typeface="Calibri" pitchFamily="34" charset="0"/>
                <a:ea typeface="Calibri" pitchFamily="34" charset="-122"/>
                <a:cs typeface="Calibri" pitchFamily="34" charset="-120"/>
              </a:rPr>
              <a:t>Microscopic Origin</a:t>
            </a:r>
            <a:endParaRPr lang="en-US" sz="1200" dirty="0"/>
          </a:p>
        </p:txBody>
      </p:sp>
      <p:sp>
        <p:nvSpPr>
          <p:cNvPr id="12" name="Shape 10"/>
          <p:cNvSpPr/>
          <p:nvPr/>
        </p:nvSpPr>
        <p:spPr>
          <a:xfrm>
            <a:off x="457200" y="1444752"/>
            <a:ext cx="4160520" cy="402336"/>
          </a:xfrm>
          <a:prstGeom prst="rect">
            <a:avLst/>
          </a:prstGeom>
          <a:solidFill>
            <a:srgbClr val="F7F4EF"/>
          </a:solidFill>
          <a:ln w="12700">
            <a:solidFill>
              <a:srgbClr val="E5E0D8"/>
            </a:solidFill>
            <a:prstDash val="solid"/>
          </a:ln>
        </p:spPr>
      </p:sp>
      <p:sp>
        <p:nvSpPr>
          <p:cNvPr id="13" name="Shape 11"/>
          <p:cNvSpPr/>
          <p:nvPr/>
        </p:nvSpPr>
        <p:spPr>
          <a:xfrm>
            <a:off x="457200" y="1444752"/>
            <a:ext cx="402336" cy="402336"/>
          </a:xfrm>
          <a:prstGeom prst="roundRect">
            <a:avLst>
              <a:gd name="adj" fmla="val 27273"/>
            </a:avLst>
          </a:prstGeom>
          <a:solidFill>
            <a:srgbClr val="B85042"/>
          </a:solidFill>
          <a:ln w="12700">
            <a:solidFill>
              <a:srgbClr val="B85042"/>
            </a:solidFill>
            <a:prstDash val="solid"/>
          </a:ln>
        </p:spPr>
        <p:txBody>
          <a:bodyPr/>
          <a:lstStyle/>
          <a:p>
            <a:endParaRPr lang="en-US" dirty="0"/>
          </a:p>
        </p:txBody>
      </p:sp>
      <p:sp>
        <p:nvSpPr>
          <p:cNvPr id="14" name="Text 12"/>
          <p:cNvSpPr/>
          <p:nvPr/>
        </p:nvSpPr>
        <p:spPr>
          <a:xfrm>
            <a:off x="457200" y="148132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03</a:t>
            </a:r>
            <a:endParaRPr lang="en-US" sz="1200" dirty="0"/>
          </a:p>
        </p:txBody>
      </p:sp>
      <p:sp>
        <p:nvSpPr>
          <p:cNvPr id="15" name="Text 13"/>
          <p:cNvSpPr/>
          <p:nvPr/>
        </p:nvSpPr>
        <p:spPr>
          <a:xfrm>
            <a:off x="932688" y="1499616"/>
            <a:ext cx="3566160" cy="292608"/>
          </a:xfrm>
          <a:prstGeom prst="rect">
            <a:avLst/>
          </a:prstGeom>
          <a:noFill/>
          <a:ln/>
        </p:spPr>
        <p:txBody>
          <a:bodyPr wrap="square" lIns="0" tIns="0" rIns="0" bIns="0" rtlCol="0" anchor="ctr"/>
          <a:lstStyle/>
          <a:p>
            <a:pPr marL="0" indent="0">
              <a:buNone/>
            </a:pPr>
            <a:r>
              <a:rPr lang="en-US" sz="1200" dirty="0">
                <a:solidFill>
                  <a:srgbClr val="4A4A4A"/>
                </a:solidFill>
                <a:latin typeface="Calibri" pitchFamily="34" charset="0"/>
                <a:ea typeface="Calibri" pitchFamily="34" charset="-122"/>
                <a:cs typeface="Calibri" pitchFamily="34" charset="-120"/>
              </a:rPr>
              <a:t>Types of Friction</a:t>
            </a:r>
            <a:endParaRPr lang="en-US" sz="1200" dirty="0"/>
          </a:p>
        </p:txBody>
      </p:sp>
      <p:sp>
        <p:nvSpPr>
          <p:cNvPr id="16" name="Shape 14"/>
          <p:cNvSpPr/>
          <p:nvPr/>
        </p:nvSpPr>
        <p:spPr>
          <a:xfrm>
            <a:off x="4800600" y="1444752"/>
            <a:ext cx="4160520" cy="402336"/>
          </a:xfrm>
          <a:prstGeom prst="rect">
            <a:avLst/>
          </a:prstGeom>
          <a:solidFill>
            <a:srgbClr val="F7F4EF"/>
          </a:solidFill>
          <a:ln w="12700">
            <a:solidFill>
              <a:srgbClr val="E5E0D8"/>
            </a:solidFill>
            <a:prstDash val="solid"/>
          </a:ln>
        </p:spPr>
      </p:sp>
      <p:sp>
        <p:nvSpPr>
          <p:cNvPr id="17" name="Shape 15"/>
          <p:cNvSpPr/>
          <p:nvPr/>
        </p:nvSpPr>
        <p:spPr>
          <a:xfrm>
            <a:off x="4800600" y="1444752"/>
            <a:ext cx="402336" cy="402336"/>
          </a:xfrm>
          <a:prstGeom prst="roundRect">
            <a:avLst>
              <a:gd name="adj" fmla="val 27273"/>
            </a:avLst>
          </a:prstGeom>
          <a:solidFill>
            <a:srgbClr val="B85042"/>
          </a:solidFill>
          <a:ln w="12700">
            <a:solidFill>
              <a:srgbClr val="B85042"/>
            </a:solidFill>
            <a:prstDash val="solid"/>
          </a:ln>
        </p:spPr>
      </p:sp>
      <p:sp>
        <p:nvSpPr>
          <p:cNvPr id="18" name="Text 16"/>
          <p:cNvSpPr/>
          <p:nvPr/>
        </p:nvSpPr>
        <p:spPr>
          <a:xfrm>
            <a:off x="4800600" y="148132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04</a:t>
            </a:r>
            <a:endParaRPr lang="en-US" sz="1200" dirty="0"/>
          </a:p>
        </p:txBody>
      </p:sp>
      <p:sp>
        <p:nvSpPr>
          <p:cNvPr id="19" name="Text 17"/>
          <p:cNvSpPr/>
          <p:nvPr/>
        </p:nvSpPr>
        <p:spPr>
          <a:xfrm>
            <a:off x="5276088" y="1499616"/>
            <a:ext cx="3566160" cy="292608"/>
          </a:xfrm>
          <a:prstGeom prst="rect">
            <a:avLst/>
          </a:prstGeom>
          <a:noFill/>
          <a:ln/>
        </p:spPr>
        <p:txBody>
          <a:bodyPr wrap="square" lIns="0" tIns="0" rIns="0" bIns="0" rtlCol="0" anchor="ctr"/>
          <a:lstStyle/>
          <a:p>
            <a:pPr marL="0" indent="0">
              <a:buNone/>
            </a:pPr>
            <a:r>
              <a:rPr lang="en-US" sz="1200" dirty="0">
                <a:solidFill>
                  <a:srgbClr val="4A4A4A"/>
                </a:solidFill>
                <a:latin typeface="Calibri" pitchFamily="34" charset="0"/>
                <a:ea typeface="Calibri" pitchFamily="34" charset="-122"/>
                <a:cs typeface="Calibri" pitchFamily="34" charset="-120"/>
              </a:rPr>
              <a:t>Laws of Friction</a:t>
            </a:r>
            <a:endParaRPr lang="en-US" sz="1200" dirty="0"/>
          </a:p>
        </p:txBody>
      </p:sp>
      <p:sp>
        <p:nvSpPr>
          <p:cNvPr id="20" name="Shape 18"/>
          <p:cNvSpPr/>
          <p:nvPr/>
        </p:nvSpPr>
        <p:spPr>
          <a:xfrm>
            <a:off x="457200" y="1901952"/>
            <a:ext cx="4160520" cy="402336"/>
          </a:xfrm>
          <a:prstGeom prst="rect">
            <a:avLst/>
          </a:prstGeom>
          <a:solidFill>
            <a:srgbClr val="FFFFFF"/>
          </a:solidFill>
          <a:ln w="12700">
            <a:solidFill>
              <a:srgbClr val="E5E0D8"/>
            </a:solidFill>
            <a:prstDash val="solid"/>
          </a:ln>
        </p:spPr>
      </p:sp>
      <p:sp>
        <p:nvSpPr>
          <p:cNvPr id="21" name="Shape 19"/>
          <p:cNvSpPr/>
          <p:nvPr/>
        </p:nvSpPr>
        <p:spPr>
          <a:xfrm>
            <a:off x="457200" y="1901952"/>
            <a:ext cx="402336" cy="402336"/>
          </a:xfrm>
          <a:prstGeom prst="roundRect">
            <a:avLst>
              <a:gd name="adj" fmla="val 27273"/>
            </a:avLst>
          </a:prstGeom>
          <a:solidFill>
            <a:srgbClr val="B85042"/>
          </a:solidFill>
          <a:ln w="12700">
            <a:solidFill>
              <a:srgbClr val="B85042"/>
            </a:solidFill>
            <a:prstDash val="solid"/>
          </a:ln>
        </p:spPr>
      </p:sp>
      <p:sp>
        <p:nvSpPr>
          <p:cNvPr id="22" name="Text 20"/>
          <p:cNvSpPr/>
          <p:nvPr/>
        </p:nvSpPr>
        <p:spPr>
          <a:xfrm>
            <a:off x="457200" y="193852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07</a:t>
            </a:r>
            <a:endParaRPr lang="en-US" sz="1200" dirty="0"/>
          </a:p>
        </p:txBody>
      </p:sp>
      <p:sp>
        <p:nvSpPr>
          <p:cNvPr id="23" name="Text 21"/>
          <p:cNvSpPr/>
          <p:nvPr/>
        </p:nvSpPr>
        <p:spPr>
          <a:xfrm>
            <a:off x="932688" y="1956816"/>
            <a:ext cx="3566160" cy="292608"/>
          </a:xfrm>
          <a:prstGeom prst="rect">
            <a:avLst/>
          </a:prstGeom>
          <a:noFill/>
          <a:ln/>
        </p:spPr>
        <p:txBody>
          <a:bodyPr wrap="square" lIns="0" tIns="0" rIns="0" bIns="0" rtlCol="0" anchor="ctr"/>
          <a:lstStyle/>
          <a:p>
            <a:pPr marL="0" indent="0">
              <a:buNone/>
            </a:pPr>
            <a:r>
              <a:rPr lang="en-US" sz="1200" dirty="0">
                <a:solidFill>
                  <a:srgbClr val="4A4A4A"/>
                </a:solidFill>
                <a:latin typeface="Calibri" pitchFamily="34" charset="0"/>
                <a:ea typeface="Calibri" pitchFamily="34" charset="-122"/>
                <a:cs typeface="Calibri" pitchFamily="34" charset="-120"/>
              </a:rPr>
              <a:t>Deriving Static Friction</a:t>
            </a:r>
            <a:endParaRPr lang="en-US" sz="1200" dirty="0"/>
          </a:p>
        </p:txBody>
      </p:sp>
      <p:sp>
        <p:nvSpPr>
          <p:cNvPr id="24" name="Shape 22"/>
          <p:cNvSpPr/>
          <p:nvPr/>
        </p:nvSpPr>
        <p:spPr>
          <a:xfrm>
            <a:off x="4800600" y="1901952"/>
            <a:ext cx="4160520" cy="402336"/>
          </a:xfrm>
          <a:prstGeom prst="rect">
            <a:avLst/>
          </a:prstGeom>
          <a:solidFill>
            <a:srgbClr val="FFFFFF"/>
          </a:solidFill>
          <a:ln w="12700">
            <a:solidFill>
              <a:srgbClr val="E5E0D8"/>
            </a:solidFill>
            <a:prstDash val="solid"/>
          </a:ln>
        </p:spPr>
      </p:sp>
      <p:sp>
        <p:nvSpPr>
          <p:cNvPr id="25" name="Shape 23"/>
          <p:cNvSpPr/>
          <p:nvPr/>
        </p:nvSpPr>
        <p:spPr>
          <a:xfrm>
            <a:off x="4800600" y="1901952"/>
            <a:ext cx="402336" cy="402336"/>
          </a:xfrm>
          <a:prstGeom prst="roundRect">
            <a:avLst>
              <a:gd name="adj" fmla="val 27273"/>
            </a:avLst>
          </a:prstGeom>
          <a:solidFill>
            <a:srgbClr val="B85042"/>
          </a:solidFill>
          <a:ln w="12700">
            <a:solidFill>
              <a:srgbClr val="B85042"/>
            </a:solidFill>
            <a:prstDash val="solid"/>
          </a:ln>
        </p:spPr>
      </p:sp>
      <p:sp>
        <p:nvSpPr>
          <p:cNvPr id="26" name="Text 24"/>
          <p:cNvSpPr/>
          <p:nvPr/>
        </p:nvSpPr>
        <p:spPr>
          <a:xfrm>
            <a:off x="4800600" y="193852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08</a:t>
            </a:r>
            <a:endParaRPr lang="en-US" sz="1200" dirty="0"/>
          </a:p>
        </p:txBody>
      </p:sp>
      <p:sp>
        <p:nvSpPr>
          <p:cNvPr id="27" name="Text 25"/>
          <p:cNvSpPr/>
          <p:nvPr/>
        </p:nvSpPr>
        <p:spPr>
          <a:xfrm>
            <a:off x="5276088" y="1956816"/>
            <a:ext cx="3566160" cy="292608"/>
          </a:xfrm>
          <a:prstGeom prst="rect">
            <a:avLst/>
          </a:prstGeom>
          <a:noFill/>
          <a:ln/>
        </p:spPr>
        <p:txBody>
          <a:bodyPr wrap="square" lIns="0" tIns="0" rIns="0" bIns="0" rtlCol="0" anchor="ctr"/>
          <a:lstStyle/>
          <a:p>
            <a:pPr marL="0" indent="0">
              <a:buNone/>
            </a:pPr>
            <a:r>
              <a:rPr lang="en-US" sz="1200" dirty="0">
                <a:solidFill>
                  <a:srgbClr val="4A4A4A"/>
                </a:solidFill>
                <a:latin typeface="Calibri" pitchFamily="34" charset="0"/>
                <a:ea typeface="Calibri" pitchFamily="34" charset="-122"/>
                <a:cs typeface="Calibri" pitchFamily="34" charset="-120"/>
              </a:rPr>
              <a:t>Deriving Kinetic Friction</a:t>
            </a:r>
            <a:endParaRPr lang="en-US" sz="1200" dirty="0"/>
          </a:p>
        </p:txBody>
      </p:sp>
      <p:sp>
        <p:nvSpPr>
          <p:cNvPr id="28" name="Shape 26"/>
          <p:cNvSpPr/>
          <p:nvPr/>
        </p:nvSpPr>
        <p:spPr>
          <a:xfrm>
            <a:off x="457200" y="2359152"/>
            <a:ext cx="4160520" cy="402336"/>
          </a:xfrm>
          <a:prstGeom prst="rect">
            <a:avLst/>
          </a:prstGeom>
          <a:solidFill>
            <a:srgbClr val="F7F4EF"/>
          </a:solidFill>
          <a:ln w="12700">
            <a:solidFill>
              <a:srgbClr val="E5E0D8"/>
            </a:solidFill>
            <a:prstDash val="solid"/>
          </a:ln>
        </p:spPr>
      </p:sp>
      <p:sp>
        <p:nvSpPr>
          <p:cNvPr id="29" name="Shape 27"/>
          <p:cNvSpPr/>
          <p:nvPr/>
        </p:nvSpPr>
        <p:spPr>
          <a:xfrm>
            <a:off x="457200" y="2359152"/>
            <a:ext cx="402336" cy="402336"/>
          </a:xfrm>
          <a:prstGeom prst="roundRect">
            <a:avLst>
              <a:gd name="adj" fmla="val 27273"/>
            </a:avLst>
          </a:prstGeom>
          <a:solidFill>
            <a:srgbClr val="C9974C"/>
          </a:solidFill>
          <a:ln w="12700">
            <a:solidFill>
              <a:srgbClr val="C9974C"/>
            </a:solidFill>
            <a:prstDash val="solid"/>
          </a:ln>
        </p:spPr>
      </p:sp>
      <p:sp>
        <p:nvSpPr>
          <p:cNvPr id="30" name="Text 28"/>
          <p:cNvSpPr/>
          <p:nvPr/>
        </p:nvSpPr>
        <p:spPr>
          <a:xfrm>
            <a:off x="457200" y="239572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09</a:t>
            </a:r>
            <a:endParaRPr lang="en-US" sz="1200" dirty="0"/>
          </a:p>
        </p:txBody>
      </p:sp>
      <p:sp>
        <p:nvSpPr>
          <p:cNvPr id="31" name="Text 29"/>
          <p:cNvSpPr/>
          <p:nvPr/>
        </p:nvSpPr>
        <p:spPr>
          <a:xfrm>
            <a:off x="932688" y="2414016"/>
            <a:ext cx="3566160" cy="292608"/>
          </a:xfrm>
          <a:prstGeom prst="rect">
            <a:avLst/>
          </a:prstGeom>
          <a:noFill/>
          <a:ln/>
        </p:spPr>
        <p:txBody>
          <a:bodyPr wrap="square" lIns="0" tIns="0" rIns="0" bIns="0" rtlCol="0" anchor="ctr"/>
          <a:lstStyle/>
          <a:p>
            <a:pPr marL="0" indent="0">
              <a:buNone/>
            </a:pPr>
            <a:r>
              <a:rPr lang="en-US" sz="1200" dirty="0">
                <a:solidFill>
                  <a:srgbClr val="4A4A4A"/>
                </a:solidFill>
                <a:latin typeface="Calibri" pitchFamily="34" charset="0"/>
                <a:ea typeface="Calibri" pitchFamily="34" charset="-122"/>
                <a:cs typeface="Calibri" pitchFamily="34" charset="-120"/>
              </a:rPr>
              <a:t>Coefficient of Friction</a:t>
            </a:r>
            <a:endParaRPr lang="en-US" sz="1200" dirty="0"/>
          </a:p>
        </p:txBody>
      </p:sp>
      <p:sp>
        <p:nvSpPr>
          <p:cNvPr id="32" name="Shape 30"/>
          <p:cNvSpPr/>
          <p:nvPr/>
        </p:nvSpPr>
        <p:spPr>
          <a:xfrm>
            <a:off x="4800600" y="2359152"/>
            <a:ext cx="4160520" cy="402336"/>
          </a:xfrm>
          <a:prstGeom prst="rect">
            <a:avLst/>
          </a:prstGeom>
          <a:solidFill>
            <a:srgbClr val="F7F4EF"/>
          </a:solidFill>
          <a:ln w="12700">
            <a:solidFill>
              <a:srgbClr val="E5E0D8"/>
            </a:solidFill>
            <a:prstDash val="solid"/>
          </a:ln>
        </p:spPr>
      </p:sp>
      <p:sp>
        <p:nvSpPr>
          <p:cNvPr id="33" name="Shape 31"/>
          <p:cNvSpPr/>
          <p:nvPr/>
        </p:nvSpPr>
        <p:spPr>
          <a:xfrm>
            <a:off x="4800600" y="2359152"/>
            <a:ext cx="402336" cy="402336"/>
          </a:xfrm>
          <a:prstGeom prst="roundRect">
            <a:avLst>
              <a:gd name="adj" fmla="val 27273"/>
            </a:avLst>
          </a:prstGeom>
          <a:solidFill>
            <a:srgbClr val="C9974C"/>
          </a:solidFill>
          <a:ln w="12700">
            <a:solidFill>
              <a:srgbClr val="C9974C"/>
            </a:solidFill>
            <a:prstDash val="solid"/>
          </a:ln>
        </p:spPr>
      </p:sp>
      <p:sp>
        <p:nvSpPr>
          <p:cNvPr id="34" name="Text 32"/>
          <p:cNvSpPr/>
          <p:nvPr/>
        </p:nvSpPr>
        <p:spPr>
          <a:xfrm>
            <a:off x="4800600" y="239572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10</a:t>
            </a:r>
            <a:endParaRPr lang="en-US" sz="1200" dirty="0"/>
          </a:p>
        </p:txBody>
      </p:sp>
      <p:sp>
        <p:nvSpPr>
          <p:cNvPr id="35" name="Text 33"/>
          <p:cNvSpPr/>
          <p:nvPr/>
        </p:nvSpPr>
        <p:spPr>
          <a:xfrm>
            <a:off x="5276088" y="2414016"/>
            <a:ext cx="3566160" cy="292608"/>
          </a:xfrm>
          <a:prstGeom prst="rect">
            <a:avLst/>
          </a:prstGeom>
          <a:noFill/>
          <a:ln/>
        </p:spPr>
        <p:txBody>
          <a:bodyPr wrap="square" lIns="0" tIns="0" rIns="0" bIns="0" rtlCol="0" anchor="ctr"/>
          <a:lstStyle/>
          <a:p>
            <a:pPr marL="0" indent="0">
              <a:buNone/>
            </a:pPr>
            <a:r>
              <a:rPr lang="en-US" sz="1200" dirty="0">
                <a:solidFill>
                  <a:srgbClr val="4A4A4A"/>
                </a:solidFill>
                <a:latin typeface="Calibri" pitchFamily="34" charset="0"/>
                <a:ea typeface="Calibri" pitchFamily="34" charset="-122"/>
                <a:cs typeface="Calibri" pitchFamily="34" charset="-120"/>
              </a:rPr>
              <a:t>Friction on an Inclined Plane</a:t>
            </a:r>
            <a:endParaRPr lang="en-US" sz="1200" dirty="0"/>
          </a:p>
        </p:txBody>
      </p:sp>
      <p:sp>
        <p:nvSpPr>
          <p:cNvPr id="36" name="Shape 34"/>
          <p:cNvSpPr/>
          <p:nvPr/>
        </p:nvSpPr>
        <p:spPr>
          <a:xfrm>
            <a:off x="457200" y="2816352"/>
            <a:ext cx="4160520" cy="402336"/>
          </a:xfrm>
          <a:prstGeom prst="rect">
            <a:avLst/>
          </a:prstGeom>
          <a:solidFill>
            <a:srgbClr val="FFFFFF"/>
          </a:solidFill>
          <a:ln w="12700">
            <a:solidFill>
              <a:srgbClr val="E5E0D8"/>
            </a:solidFill>
            <a:prstDash val="solid"/>
          </a:ln>
        </p:spPr>
      </p:sp>
      <p:sp>
        <p:nvSpPr>
          <p:cNvPr id="37" name="Shape 35"/>
          <p:cNvSpPr/>
          <p:nvPr/>
        </p:nvSpPr>
        <p:spPr>
          <a:xfrm>
            <a:off x="457200" y="2816352"/>
            <a:ext cx="402336" cy="402336"/>
          </a:xfrm>
          <a:prstGeom prst="roundRect">
            <a:avLst>
              <a:gd name="adj" fmla="val 27273"/>
            </a:avLst>
          </a:prstGeom>
          <a:solidFill>
            <a:srgbClr val="C9974C"/>
          </a:solidFill>
          <a:ln w="12700">
            <a:solidFill>
              <a:srgbClr val="C9974C"/>
            </a:solidFill>
            <a:prstDash val="solid"/>
          </a:ln>
        </p:spPr>
      </p:sp>
      <p:sp>
        <p:nvSpPr>
          <p:cNvPr id="38" name="Text 36"/>
          <p:cNvSpPr/>
          <p:nvPr/>
        </p:nvSpPr>
        <p:spPr>
          <a:xfrm>
            <a:off x="457200" y="285292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11</a:t>
            </a:r>
            <a:endParaRPr lang="en-US" sz="1200" dirty="0"/>
          </a:p>
        </p:txBody>
      </p:sp>
      <p:sp>
        <p:nvSpPr>
          <p:cNvPr id="39" name="Text 37"/>
          <p:cNvSpPr/>
          <p:nvPr/>
        </p:nvSpPr>
        <p:spPr>
          <a:xfrm>
            <a:off x="932688" y="2871216"/>
            <a:ext cx="3566160" cy="292608"/>
          </a:xfrm>
          <a:prstGeom prst="rect">
            <a:avLst/>
          </a:prstGeom>
          <a:noFill/>
          <a:ln/>
        </p:spPr>
        <p:txBody>
          <a:bodyPr wrap="square" lIns="0" tIns="0" rIns="0" bIns="0" rtlCol="0" anchor="ctr"/>
          <a:lstStyle/>
          <a:p>
            <a:pPr marL="0" indent="0">
              <a:buNone/>
            </a:pPr>
            <a:r>
              <a:rPr lang="en-US" sz="1200" dirty="0">
                <a:solidFill>
                  <a:srgbClr val="4A4A4A"/>
                </a:solidFill>
                <a:latin typeface="Calibri" pitchFamily="34" charset="0"/>
                <a:ea typeface="Calibri" pitchFamily="34" charset="-122"/>
                <a:cs typeface="Calibri" pitchFamily="34" charset="-120"/>
              </a:rPr>
              <a:t>Deriving Angle of Friction</a:t>
            </a:r>
            <a:endParaRPr lang="en-US" sz="1200" dirty="0"/>
          </a:p>
        </p:txBody>
      </p:sp>
      <p:sp>
        <p:nvSpPr>
          <p:cNvPr id="40" name="Shape 38"/>
          <p:cNvSpPr/>
          <p:nvPr/>
        </p:nvSpPr>
        <p:spPr>
          <a:xfrm>
            <a:off x="4800600" y="2816352"/>
            <a:ext cx="4160520" cy="402336"/>
          </a:xfrm>
          <a:prstGeom prst="rect">
            <a:avLst/>
          </a:prstGeom>
          <a:solidFill>
            <a:srgbClr val="FFFFFF"/>
          </a:solidFill>
          <a:ln w="12700">
            <a:solidFill>
              <a:srgbClr val="E5E0D8"/>
            </a:solidFill>
            <a:prstDash val="solid"/>
          </a:ln>
        </p:spPr>
      </p:sp>
      <p:sp>
        <p:nvSpPr>
          <p:cNvPr id="41" name="Shape 39"/>
          <p:cNvSpPr/>
          <p:nvPr/>
        </p:nvSpPr>
        <p:spPr>
          <a:xfrm>
            <a:off x="4800600" y="2816352"/>
            <a:ext cx="402336" cy="402336"/>
          </a:xfrm>
          <a:prstGeom prst="roundRect">
            <a:avLst>
              <a:gd name="adj" fmla="val 27273"/>
            </a:avLst>
          </a:prstGeom>
          <a:solidFill>
            <a:srgbClr val="C9974C"/>
          </a:solidFill>
          <a:ln w="12700">
            <a:solidFill>
              <a:srgbClr val="C9974C"/>
            </a:solidFill>
            <a:prstDash val="solid"/>
          </a:ln>
        </p:spPr>
      </p:sp>
      <p:sp>
        <p:nvSpPr>
          <p:cNvPr id="42" name="Text 40"/>
          <p:cNvSpPr/>
          <p:nvPr/>
        </p:nvSpPr>
        <p:spPr>
          <a:xfrm>
            <a:off x="4800600" y="285292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12</a:t>
            </a:r>
            <a:endParaRPr lang="en-US" sz="1200" dirty="0"/>
          </a:p>
        </p:txBody>
      </p:sp>
      <p:sp>
        <p:nvSpPr>
          <p:cNvPr id="43" name="Text 41"/>
          <p:cNvSpPr/>
          <p:nvPr/>
        </p:nvSpPr>
        <p:spPr>
          <a:xfrm>
            <a:off x="5276088" y="2871216"/>
            <a:ext cx="3566160" cy="292608"/>
          </a:xfrm>
          <a:prstGeom prst="rect">
            <a:avLst/>
          </a:prstGeom>
          <a:noFill/>
          <a:ln/>
        </p:spPr>
        <p:txBody>
          <a:bodyPr wrap="square" lIns="0" tIns="0" rIns="0" bIns="0" rtlCol="0" anchor="ctr"/>
          <a:lstStyle/>
          <a:p>
            <a:pPr marL="0" indent="0">
              <a:buNone/>
            </a:pPr>
            <a:r>
              <a:rPr lang="en-US" sz="1200" dirty="0">
                <a:solidFill>
                  <a:srgbClr val="4A4A4A"/>
                </a:solidFill>
                <a:latin typeface="Calibri" pitchFamily="34" charset="0"/>
                <a:ea typeface="Calibri" pitchFamily="34" charset="-122"/>
                <a:cs typeface="Calibri" pitchFamily="34" charset="-120"/>
              </a:rPr>
              <a:t>Friction &amp; Normal Force</a:t>
            </a:r>
            <a:endParaRPr lang="en-US" sz="1200" dirty="0"/>
          </a:p>
        </p:txBody>
      </p:sp>
      <p:sp>
        <p:nvSpPr>
          <p:cNvPr id="44" name="Shape 42"/>
          <p:cNvSpPr/>
          <p:nvPr/>
        </p:nvSpPr>
        <p:spPr>
          <a:xfrm>
            <a:off x="457200" y="3273552"/>
            <a:ext cx="4160520" cy="402336"/>
          </a:xfrm>
          <a:prstGeom prst="rect">
            <a:avLst/>
          </a:prstGeom>
          <a:solidFill>
            <a:srgbClr val="F7F4EF"/>
          </a:solidFill>
          <a:ln w="12700">
            <a:solidFill>
              <a:srgbClr val="E5E0D8"/>
            </a:solidFill>
            <a:prstDash val="solid"/>
          </a:ln>
        </p:spPr>
      </p:sp>
      <p:sp>
        <p:nvSpPr>
          <p:cNvPr id="45" name="Shape 43"/>
          <p:cNvSpPr/>
          <p:nvPr/>
        </p:nvSpPr>
        <p:spPr>
          <a:xfrm>
            <a:off x="457200" y="3273552"/>
            <a:ext cx="402336" cy="402336"/>
          </a:xfrm>
          <a:prstGeom prst="roundRect">
            <a:avLst>
              <a:gd name="adj" fmla="val 27273"/>
            </a:avLst>
          </a:prstGeom>
          <a:solidFill>
            <a:srgbClr val="C9974C"/>
          </a:solidFill>
          <a:ln w="12700">
            <a:solidFill>
              <a:srgbClr val="C9974C"/>
            </a:solidFill>
            <a:prstDash val="solid"/>
          </a:ln>
        </p:spPr>
      </p:sp>
      <p:sp>
        <p:nvSpPr>
          <p:cNvPr id="46" name="Text 44"/>
          <p:cNvSpPr/>
          <p:nvPr/>
        </p:nvSpPr>
        <p:spPr>
          <a:xfrm>
            <a:off x="457200" y="331012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13</a:t>
            </a:r>
            <a:endParaRPr lang="en-US" sz="1200" dirty="0"/>
          </a:p>
        </p:txBody>
      </p:sp>
      <p:sp>
        <p:nvSpPr>
          <p:cNvPr id="47" name="Text 45"/>
          <p:cNvSpPr/>
          <p:nvPr/>
        </p:nvSpPr>
        <p:spPr>
          <a:xfrm>
            <a:off x="932688" y="3328416"/>
            <a:ext cx="3566160" cy="292608"/>
          </a:xfrm>
          <a:prstGeom prst="rect">
            <a:avLst/>
          </a:prstGeom>
          <a:noFill/>
          <a:ln/>
        </p:spPr>
        <p:txBody>
          <a:bodyPr wrap="square" lIns="0" tIns="0" rIns="0" bIns="0" rtlCol="0" anchor="ctr"/>
          <a:lstStyle/>
          <a:p>
            <a:pPr marL="0" indent="0">
              <a:buNone/>
            </a:pPr>
            <a:r>
              <a:rPr lang="en-US" sz="1200" dirty="0">
                <a:solidFill>
                  <a:srgbClr val="4A4A4A"/>
                </a:solidFill>
                <a:latin typeface="Calibri" pitchFamily="34" charset="0"/>
                <a:ea typeface="Calibri" pitchFamily="34" charset="-122"/>
                <a:cs typeface="Calibri" pitchFamily="34" charset="-120"/>
              </a:rPr>
              <a:t>Rolling Friction</a:t>
            </a:r>
            <a:endParaRPr lang="en-US" sz="1200" dirty="0"/>
          </a:p>
        </p:txBody>
      </p:sp>
      <p:sp>
        <p:nvSpPr>
          <p:cNvPr id="48" name="Shape 46"/>
          <p:cNvSpPr/>
          <p:nvPr/>
        </p:nvSpPr>
        <p:spPr>
          <a:xfrm>
            <a:off x="4800600" y="3273552"/>
            <a:ext cx="4160520" cy="402336"/>
          </a:xfrm>
          <a:prstGeom prst="rect">
            <a:avLst/>
          </a:prstGeom>
          <a:solidFill>
            <a:srgbClr val="F7F4EF"/>
          </a:solidFill>
          <a:ln w="12700">
            <a:solidFill>
              <a:srgbClr val="E5E0D8"/>
            </a:solidFill>
            <a:prstDash val="solid"/>
          </a:ln>
        </p:spPr>
      </p:sp>
      <p:sp>
        <p:nvSpPr>
          <p:cNvPr id="49" name="Shape 47"/>
          <p:cNvSpPr/>
          <p:nvPr/>
        </p:nvSpPr>
        <p:spPr>
          <a:xfrm>
            <a:off x="4800600" y="3273552"/>
            <a:ext cx="402336" cy="402336"/>
          </a:xfrm>
          <a:prstGeom prst="roundRect">
            <a:avLst>
              <a:gd name="adj" fmla="val 27273"/>
            </a:avLst>
          </a:prstGeom>
          <a:solidFill>
            <a:srgbClr val="C9974C"/>
          </a:solidFill>
          <a:ln w="12700">
            <a:solidFill>
              <a:srgbClr val="C9974C"/>
            </a:solidFill>
            <a:prstDash val="solid"/>
          </a:ln>
        </p:spPr>
      </p:sp>
      <p:sp>
        <p:nvSpPr>
          <p:cNvPr id="50" name="Text 48"/>
          <p:cNvSpPr/>
          <p:nvPr/>
        </p:nvSpPr>
        <p:spPr>
          <a:xfrm>
            <a:off x="4800600" y="331012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14</a:t>
            </a:r>
            <a:endParaRPr lang="en-US" sz="1200" dirty="0"/>
          </a:p>
        </p:txBody>
      </p:sp>
      <p:sp>
        <p:nvSpPr>
          <p:cNvPr id="51" name="Text 49"/>
          <p:cNvSpPr/>
          <p:nvPr/>
        </p:nvSpPr>
        <p:spPr>
          <a:xfrm>
            <a:off x="5276088" y="3328416"/>
            <a:ext cx="3566160" cy="292608"/>
          </a:xfrm>
          <a:prstGeom prst="rect">
            <a:avLst/>
          </a:prstGeom>
          <a:noFill/>
          <a:ln/>
        </p:spPr>
        <p:txBody>
          <a:bodyPr wrap="square" lIns="0" tIns="0" rIns="0" bIns="0" rtlCol="0" anchor="ctr"/>
          <a:lstStyle/>
          <a:p>
            <a:pPr marL="0" indent="0">
              <a:buNone/>
            </a:pPr>
            <a:r>
              <a:rPr lang="en-US" sz="1200" dirty="0">
                <a:solidFill>
                  <a:srgbClr val="4A4A4A"/>
                </a:solidFill>
                <a:latin typeface="Calibri" pitchFamily="34" charset="0"/>
                <a:ea typeface="Calibri" pitchFamily="34" charset="-122"/>
                <a:cs typeface="Calibri" pitchFamily="34" charset="-120"/>
              </a:rPr>
              <a:t>Fluid Friction &amp; Drag</a:t>
            </a:r>
            <a:endParaRPr lang="en-US" sz="1200" dirty="0"/>
          </a:p>
        </p:txBody>
      </p:sp>
      <p:sp>
        <p:nvSpPr>
          <p:cNvPr id="52" name="Shape 50"/>
          <p:cNvSpPr/>
          <p:nvPr/>
        </p:nvSpPr>
        <p:spPr>
          <a:xfrm>
            <a:off x="457200" y="3730752"/>
            <a:ext cx="4160520" cy="402336"/>
          </a:xfrm>
          <a:prstGeom prst="rect">
            <a:avLst/>
          </a:prstGeom>
          <a:solidFill>
            <a:srgbClr val="FFFFFF"/>
          </a:solidFill>
          <a:ln w="12700">
            <a:solidFill>
              <a:srgbClr val="E5E0D8"/>
            </a:solidFill>
            <a:prstDash val="solid"/>
          </a:ln>
        </p:spPr>
      </p:sp>
      <p:sp>
        <p:nvSpPr>
          <p:cNvPr id="53" name="Shape 51"/>
          <p:cNvSpPr/>
          <p:nvPr/>
        </p:nvSpPr>
        <p:spPr>
          <a:xfrm>
            <a:off x="457200" y="3730752"/>
            <a:ext cx="402336" cy="402336"/>
          </a:xfrm>
          <a:prstGeom prst="roundRect">
            <a:avLst>
              <a:gd name="adj" fmla="val 27273"/>
            </a:avLst>
          </a:prstGeom>
          <a:solidFill>
            <a:srgbClr val="2A7F7F"/>
          </a:solidFill>
          <a:ln w="12700">
            <a:solidFill>
              <a:srgbClr val="2A7F7F"/>
            </a:solidFill>
            <a:prstDash val="solid"/>
          </a:ln>
        </p:spPr>
      </p:sp>
      <p:sp>
        <p:nvSpPr>
          <p:cNvPr id="54" name="Text 52"/>
          <p:cNvSpPr/>
          <p:nvPr/>
        </p:nvSpPr>
        <p:spPr>
          <a:xfrm>
            <a:off x="457200" y="376732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15</a:t>
            </a:r>
            <a:endParaRPr lang="en-US" sz="1200" dirty="0"/>
          </a:p>
        </p:txBody>
      </p:sp>
      <p:sp>
        <p:nvSpPr>
          <p:cNvPr id="55" name="Text 53"/>
          <p:cNvSpPr/>
          <p:nvPr/>
        </p:nvSpPr>
        <p:spPr>
          <a:xfrm>
            <a:off x="932688" y="3785616"/>
            <a:ext cx="3566160" cy="292608"/>
          </a:xfrm>
          <a:prstGeom prst="rect">
            <a:avLst/>
          </a:prstGeom>
          <a:noFill/>
          <a:ln/>
        </p:spPr>
        <p:txBody>
          <a:bodyPr wrap="square" lIns="0" tIns="0" rIns="0" bIns="0" rtlCol="0" anchor="ctr"/>
          <a:lstStyle/>
          <a:p>
            <a:pPr marL="0" indent="0">
              <a:buNone/>
            </a:pPr>
            <a:r>
              <a:rPr lang="en-US" sz="1200" dirty="0">
                <a:solidFill>
                  <a:srgbClr val="4A4A4A"/>
                </a:solidFill>
                <a:latin typeface="Calibri" pitchFamily="34" charset="0"/>
                <a:ea typeface="Calibri" pitchFamily="34" charset="-122"/>
                <a:cs typeface="Calibri" pitchFamily="34" charset="-120"/>
              </a:rPr>
              <a:t>Friction in Circular Motion</a:t>
            </a:r>
            <a:endParaRPr lang="en-US" sz="1200" dirty="0"/>
          </a:p>
        </p:txBody>
      </p:sp>
      <p:sp>
        <p:nvSpPr>
          <p:cNvPr id="56" name="Shape 54"/>
          <p:cNvSpPr/>
          <p:nvPr/>
        </p:nvSpPr>
        <p:spPr>
          <a:xfrm>
            <a:off x="4800600" y="3730752"/>
            <a:ext cx="4160520" cy="402336"/>
          </a:xfrm>
          <a:prstGeom prst="rect">
            <a:avLst/>
          </a:prstGeom>
          <a:solidFill>
            <a:srgbClr val="FFFFFF"/>
          </a:solidFill>
          <a:ln w="12700">
            <a:solidFill>
              <a:srgbClr val="E5E0D8"/>
            </a:solidFill>
            <a:prstDash val="solid"/>
          </a:ln>
        </p:spPr>
      </p:sp>
      <p:sp>
        <p:nvSpPr>
          <p:cNvPr id="57" name="Shape 55"/>
          <p:cNvSpPr/>
          <p:nvPr/>
        </p:nvSpPr>
        <p:spPr>
          <a:xfrm>
            <a:off x="4800600" y="3730752"/>
            <a:ext cx="402336" cy="402336"/>
          </a:xfrm>
          <a:prstGeom prst="roundRect">
            <a:avLst>
              <a:gd name="adj" fmla="val 27273"/>
            </a:avLst>
          </a:prstGeom>
          <a:solidFill>
            <a:srgbClr val="2A7F7F"/>
          </a:solidFill>
          <a:ln w="12700">
            <a:solidFill>
              <a:srgbClr val="2A7F7F"/>
            </a:solidFill>
            <a:prstDash val="solid"/>
          </a:ln>
        </p:spPr>
      </p:sp>
      <p:sp>
        <p:nvSpPr>
          <p:cNvPr id="58" name="Text 56"/>
          <p:cNvSpPr/>
          <p:nvPr/>
        </p:nvSpPr>
        <p:spPr>
          <a:xfrm>
            <a:off x="4800600" y="376732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16</a:t>
            </a:r>
            <a:endParaRPr lang="en-US" sz="1200" dirty="0"/>
          </a:p>
        </p:txBody>
      </p:sp>
      <p:sp>
        <p:nvSpPr>
          <p:cNvPr id="59" name="Text 57"/>
          <p:cNvSpPr/>
          <p:nvPr/>
        </p:nvSpPr>
        <p:spPr>
          <a:xfrm>
            <a:off x="5276088" y="3785616"/>
            <a:ext cx="3566160" cy="292608"/>
          </a:xfrm>
          <a:prstGeom prst="rect">
            <a:avLst/>
          </a:prstGeom>
          <a:noFill/>
          <a:ln/>
        </p:spPr>
        <p:txBody>
          <a:bodyPr wrap="square" lIns="0" tIns="0" rIns="0" bIns="0" rtlCol="0" anchor="ctr"/>
          <a:lstStyle/>
          <a:p>
            <a:pPr marL="0" indent="0">
              <a:buNone/>
            </a:pPr>
            <a:r>
              <a:rPr lang="en-US" sz="1200" dirty="0">
                <a:solidFill>
                  <a:srgbClr val="4A4A4A"/>
                </a:solidFill>
                <a:latin typeface="Calibri" pitchFamily="34" charset="0"/>
                <a:ea typeface="Calibri" pitchFamily="34" charset="-122"/>
                <a:cs typeface="Calibri" pitchFamily="34" charset="-120"/>
              </a:rPr>
              <a:t>Work Done by Friction</a:t>
            </a:r>
            <a:endParaRPr lang="en-US" sz="1200" dirty="0"/>
          </a:p>
        </p:txBody>
      </p:sp>
      <p:sp>
        <p:nvSpPr>
          <p:cNvPr id="60" name="Shape 58"/>
          <p:cNvSpPr/>
          <p:nvPr/>
        </p:nvSpPr>
        <p:spPr>
          <a:xfrm>
            <a:off x="457200" y="4187952"/>
            <a:ext cx="4160520" cy="402336"/>
          </a:xfrm>
          <a:prstGeom prst="rect">
            <a:avLst/>
          </a:prstGeom>
          <a:solidFill>
            <a:srgbClr val="F7F4EF"/>
          </a:solidFill>
          <a:ln w="12700">
            <a:solidFill>
              <a:srgbClr val="E5E0D8"/>
            </a:solidFill>
            <a:prstDash val="solid"/>
          </a:ln>
        </p:spPr>
      </p:sp>
      <p:sp>
        <p:nvSpPr>
          <p:cNvPr id="61" name="Shape 59"/>
          <p:cNvSpPr/>
          <p:nvPr/>
        </p:nvSpPr>
        <p:spPr>
          <a:xfrm>
            <a:off x="457200" y="4187952"/>
            <a:ext cx="402336" cy="402336"/>
          </a:xfrm>
          <a:prstGeom prst="roundRect">
            <a:avLst>
              <a:gd name="adj" fmla="val 27273"/>
            </a:avLst>
          </a:prstGeom>
          <a:solidFill>
            <a:srgbClr val="2A7F7F"/>
          </a:solidFill>
          <a:ln w="12700">
            <a:solidFill>
              <a:srgbClr val="2A7F7F"/>
            </a:solidFill>
            <a:prstDash val="solid"/>
          </a:ln>
        </p:spPr>
      </p:sp>
      <p:sp>
        <p:nvSpPr>
          <p:cNvPr id="62" name="Text 60"/>
          <p:cNvSpPr/>
          <p:nvPr/>
        </p:nvSpPr>
        <p:spPr>
          <a:xfrm>
            <a:off x="457200" y="422452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17</a:t>
            </a:r>
            <a:endParaRPr lang="en-US" sz="1200" dirty="0"/>
          </a:p>
        </p:txBody>
      </p:sp>
      <p:sp>
        <p:nvSpPr>
          <p:cNvPr id="63" name="Text 61"/>
          <p:cNvSpPr/>
          <p:nvPr/>
        </p:nvSpPr>
        <p:spPr>
          <a:xfrm>
            <a:off x="932688" y="4242816"/>
            <a:ext cx="3566160" cy="292608"/>
          </a:xfrm>
          <a:prstGeom prst="rect">
            <a:avLst/>
          </a:prstGeom>
          <a:noFill/>
          <a:ln/>
        </p:spPr>
        <p:txBody>
          <a:bodyPr wrap="square" lIns="0" tIns="0" rIns="0" bIns="0" rtlCol="0" anchor="ctr"/>
          <a:lstStyle/>
          <a:p>
            <a:pPr marL="0" indent="0">
              <a:buNone/>
            </a:pPr>
            <a:r>
              <a:rPr lang="en-US" sz="1200" dirty="0">
                <a:solidFill>
                  <a:srgbClr val="4A4A4A"/>
                </a:solidFill>
                <a:latin typeface="Calibri" pitchFamily="34" charset="0"/>
                <a:ea typeface="Calibri" pitchFamily="34" charset="-122"/>
                <a:cs typeface="Calibri" pitchFamily="34" charset="-120"/>
              </a:rPr>
              <a:t>Reducing Friction</a:t>
            </a:r>
            <a:endParaRPr lang="en-US" sz="1200" dirty="0"/>
          </a:p>
        </p:txBody>
      </p:sp>
      <p:sp>
        <p:nvSpPr>
          <p:cNvPr id="64" name="Shape 62"/>
          <p:cNvSpPr/>
          <p:nvPr/>
        </p:nvSpPr>
        <p:spPr>
          <a:xfrm>
            <a:off x="4800600" y="4187952"/>
            <a:ext cx="4160520" cy="402336"/>
          </a:xfrm>
          <a:prstGeom prst="rect">
            <a:avLst/>
          </a:prstGeom>
          <a:solidFill>
            <a:srgbClr val="F7F4EF"/>
          </a:solidFill>
          <a:ln w="12700">
            <a:solidFill>
              <a:srgbClr val="E5E0D8"/>
            </a:solidFill>
            <a:prstDash val="solid"/>
          </a:ln>
        </p:spPr>
      </p:sp>
      <p:sp>
        <p:nvSpPr>
          <p:cNvPr id="65" name="Shape 63"/>
          <p:cNvSpPr/>
          <p:nvPr/>
        </p:nvSpPr>
        <p:spPr>
          <a:xfrm>
            <a:off x="4800600" y="4187952"/>
            <a:ext cx="402336" cy="402336"/>
          </a:xfrm>
          <a:prstGeom prst="roundRect">
            <a:avLst>
              <a:gd name="adj" fmla="val 27273"/>
            </a:avLst>
          </a:prstGeom>
          <a:solidFill>
            <a:srgbClr val="2A7F7F"/>
          </a:solidFill>
          <a:ln w="12700">
            <a:solidFill>
              <a:srgbClr val="2A7F7F"/>
            </a:solidFill>
            <a:prstDash val="solid"/>
          </a:ln>
        </p:spPr>
      </p:sp>
      <p:sp>
        <p:nvSpPr>
          <p:cNvPr id="66" name="Text 64"/>
          <p:cNvSpPr/>
          <p:nvPr/>
        </p:nvSpPr>
        <p:spPr>
          <a:xfrm>
            <a:off x="4800600" y="422452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18</a:t>
            </a:r>
            <a:endParaRPr lang="en-US" sz="1200" dirty="0"/>
          </a:p>
        </p:txBody>
      </p:sp>
      <p:sp>
        <p:nvSpPr>
          <p:cNvPr id="67" name="Text 65"/>
          <p:cNvSpPr/>
          <p:nvPr/>
        </p:nvSpPr>
        <p:spPr>
          <a:xfrm>
            <a:off x="5276088" y="4242816"/>
            <a:ext cx="3566160" cy="292608"/>
          </a:xfrm>
          <a:prstGeom prst="rect">
            <a:avLst/>
          </a:prstGeom>
          <a:noFill/>
          <a:ln/>
        </p:spPr>
        <p:txBody>
          <a:bodyPr wrap="square" lIns="0" tIns="0" rIns="0" bIns="0" rtlCol="0" anchor="ctr"/>
          <a:lstStyle/>
          <a:p>
            <a:pPr marL="0" indent="0">
              <a:buNone/>
            </a:pPr>
            <a:r>
              <a:rPr lang="en-US" sz="1200" dirty="0">
                <a:solidFill>
                  <a:srgbClr val="4A4A4A"/>
                </a:solidFill>
                <a:latin typeface="Calibri" pitchFamily="34" charset="0"/>
                <a:ea typeface="Calibri" pitchFamily="34" charset="-122"/>
                <a:cs typeface="Calibri" pitchFamily="34" charset="-120"/>
              </a:rPr>
              <a:t>Friction in Machines</a:t>
            </a:r>
            <a:endParaRPr lang="en-US" sz="1200" dirty="0"/>
          </a:p>
        </p:txBody>
      </p:sp>
      <p:sp>
        <p:nvSpPr>
          <p:cNvPr id="68" name="Shape 66"/>
          <p:cNvSpPr/>
          <p:nvPr/>
        </p:nvSpPr>
        <p:spPr>
          <a:xfrm>
            <a:off x="457200" y="4645152"/>
            <a:ext cx="4160520" cy="402336"/>
          </a:xfrm>
          <a:prstGeom prst="rect">
            <a:avLst/>
          </a:prstGeom>
          <a:solidFill>
            <a:srgbClr val="FFFFFF"/>
          </a:solidFill>
          <a:ln w="12700">
            <a:solidFill>
              <a:srgbClr val="E5E0D8"/>
            </a:solidFill>
            <a:prstDash val="solid"/>
          </a:ln>
        </p:spPr>
      </p:sp>
      <p:sp>
        <p:nvSpPr>
          <p:cNvPr id="69" name="Shape 67"/>
          <p:cNvSpPr/>
          <p:nvPr/>
        </p:nvSpPr>
        <p:spPr>
          <a:xfrm>
            <a:off x="457200" y="4645152"/>
            <a:ext cx="402336" cy="402336"/>
          </a:xfrm>
          <a:prstGeom prst="roundRect">
            <a:avLst>
              <a:gd name="adj" fmla="val 27273"/>
            </a:avLst>
          </a:prstGeom>
          <a:solidFill>
            <a:srgbClr val="1E3A5F"/>
          </a:solidFill>
          <a:ln w="12700">
            <a:solidFill>
              <a:srgbClr val="1E3A5F"/>
            </a:solidFill>
            <a:prstDash val="solid"/>
          </a:ln>
        </p:spPr>
      </p:sp>
      <p:sp>
        <p:nvSpPr>
          <p:cNvPr id="70" name="Text 68"/>
          <p:cNvSpPr/>
          <p:nvPr/>
        </p:nvSpPr>
        <p:spPr>
          <a:xfrm>
            <a:off x="457200" y="468172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19</a:t>
            </a:r>
            <a:endParaRPr lang="en-US" sz="1200" dirty="0"/>
          </a:p>
        </p:txBody>
      </p:sp>
      <p:sp>
        <p:nvSpPr>
          <p:cNvPr id="71" name="Text 69"/>
          <p:cNvSpPr/>
          <p:nvPr/>
        </p:nvSpPr>
        <p:spPr>
          <a:xfrm>
            <a:off x="932688" y="4700016"/>
            <a:ext cx="3566160" cy="292608"/>
          </a:xfrm>
          <a:prstGeom prst="rect">
            <a:avLst/>
          </a:prstGeom>
          <a:noFill/>
          <a:ln/>
        </p:spPr>
        <p:txBody>
          <a:bodyPr wrap="square" lIns="0" tIns="0" rIns="0" bIns="0" rtlCol="0" anchor="ctr"/>
          <a:lstStyle/>
          <a:p>
            <a:pPr marL="0" indent="0">
              <a:buNone/>
            </a:pPr>
            <a:r>
              <a:rPr lang="en-US" sz="1200" dirty="0">
                <a:solidFill>
                  <a:srgbClr val="4A4A4A"/>
                </a:solidFill>
                <a:latin typeface="Calibri" pitchFamily="34" charset="0"/>
                <a:ea typeface="Calibri" pitchFamily="34" charset="-122"/>
                <a:cs typeface="Calibri" pitchFamily="34" charset="-120"/>
              </a:rPr>
              <a:t>Real-World Applications</a:t>
            </a:r>
            <a:endParaRPr lang="en-US" sz="1200" dirty="0"/>
          </a:p>
        </p:txBody>
      </p:sp>
      <p:sp>
        <p:nvSpPr>
          <p:cNvPr id="72" name="Shape 70"/>
          <p:cNvSpPr/>
          <p:nvPr/>
        </p:nvSpPr>
        <p:spPr>
          <a:xfrm>
            <a:off x="4800600" y="4645152"/>
            <a:ext cx="4160520" cy="402336"/>
          </a:xfrm>
          <a:prstGeom prst="rect">
            <a:avLst/>
          </a:prstGeom>
          <a:solidFill>
            <a:srgbClr val="FFFFFF"/>
          </a:solidFill>
          <a:ln w="12700">
            <a:solidFill>
              <a:srgbClr val="E5E0D8"/>
            </a:solidFill>
            <a:prstDash val="solid"/>
          </a:ln>
        </p:spPr>
      </p:sp>
      <p:sp>
        <p:nvSpPr>
          <p:cNvPr id="73" name="Shape 71"/>
          <p:cNvSpPr/>
          <p:nvPr/>
        </p:nvSpPr>
        <p:spPr>
          <a:xfrm>
            <a:off x="4800600" y="4645152"/>
            <a:ext cx="402336" cy="402336"/>
          </a:xfrm>
          <a:prstGeom prst="roundRect">
            <a:avLst>
              <a:gd name="adj" fmla="val 27273"/>
            </a:avLst>
          </a:prstGeom>
          <a:solidFill>
            <a:srgbClr val="1E3A5F"/>
          </a:solidFill>
          <a:ln w="12700">
            <a:solidFill>
              <a:srgbClr val="1E3A5F"/>
            </a:solidFill>
            <a:prstDash val="solid"/>
          </a:ln>
        </p:spPr>
      </p:sp>
      <p:sp>
        <p:nvSpPr>
          <p:cNvPr id="74" name="Text 72"/>
          <p:cNvSpPr/>
          <p:nvPr/>
        </p:nvSpPr>
        <p:spPr>
          <a:xfrm>
            <a:off x="4800600" y="468172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20</a:t>
            </a:r>
            <a:endParaRPr lang="en-US" sz="1200" dirty="0"/>
          </a:p>
        </p:txBody>
      </p:sp>
      <p:sp>
        <p:nvSpPr>
          <p:cNvPr id="75" name="Text 73"/>
          <p:cNvSpPr/>
          <p:nvPr/>
        </p:nvSpPr>
        <p:spPr>
          <a:xfrm>
            <a:off x="5276088" y="4700016"/>
            <a:ext cx="3566160" cy="292608"/>
          </a:xfrm>
          <a:prstGeom prst="rect">
            <a:avLst/>
          </a:prstGeom>
          <a:noFill/>
          <a:ln/>
        </p:spPr>
        <p:txBody>
          <a:bodyPr wrap="square" lIns="0" tIns="0" rIns="0" bIns="0" rtlCol="0" anchor="ctr"/>
          <a:lstStyle/>
          <a:p>
            <a:pPr marL="0" indent="0">
              <a:buNone/>
            </a:pPr>
            <a:r>
              <a:rPr lang="en-US" sz="1200" dirty="0">
                <a:solidFill>
                  <a:srgbClr val="4A4A4A"/>
                </a:solidFill>
                <a:latin typeface="Calibri" pitchFamily="34" charset="0"/>
                <a:ea typeface="Calibri" pitchFamily="34" charset="-122"/>
                <a:cs typeface="Calibri" pitchFamily="34" charset="-120"/>
              </a:rPr>
              <a:t>Summary &amp; Key Formulas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marL="0" indent="0">
              <a:buNone/>
            </a:pPr>
            <a:r>
              <a:rPr lang="en-US" sz="3600" b="1" dirty="0">
                <a:solidFill>
                  <a:srgbClr val="2C2C2C"/>
                </a:solidFill>
                <a:latin typeface="Georgia" pitchFamily="34" charset="0"/>
                <a:ea typeface="Georgia" pitchFamily="34" charset="-122"/>
                <a:cs typeface="Georgia" pitchFamily="34" charset="-120"/>
              </a:rPr>
              <a:t>What is Friction?</a:t>
            </a:r>
            <a:endParaRPr lang="en-US" sz="3600" dirty="0"/>
          </a:p>
        </p:txBody>
      </p:sp>
      <p:sp>
        <p:nvSpPr>
          <p:cNvPr id="3" name="Shape 1"/>
          <p:cNvSpPr/>
          <p:nvPr/>
        </p:nvSpPr>
        <p:spPr>
          <a:xfrm>
            <a:off x="457200" y="932688"/>
            <a:ext cx="8229600" cy="804672"/>
          </a:xfrm>
          <a:prstGeom prst="rect">
            <a:avLst/>
          </a:prstGeom>
          <a:solidFill>
            <a:srgbClr val="B85042"/>
          </a:solidFill>
          <a:ln w="12700">
            <a:solidFill>
              <a:srgbClr val="B85042"/>
            </a:solidFill>
            <a:prstDash val="solid"/>
          </a:ln>
          <a:effectLst>
            <a:outerShdw blurRad="76200" dist="38100" dir="8100000" algn="bl" rotWithShape="0">
              <a:srgbClr val="000000">
                <a:alpha val="12000"/>
              </a:srgbClr>
            </a:outerShdw>
          </a:effectLst>
        </p:spPr>
      </p:sp>
      <p:sp>
        <p:nvSpPr>
          <p:cNvPr id="4" name="Text 2"/>
          <p:cNvSpPr/>
          <p:nvPr/>
        </p:nvSpPr>
        <p:spPr>
          <a:xfrm>
            <a:off x="594360" y="969264"/>
            <a:ext cx="7955280" cy="731520"/>
          </a:xfrm>
          <a:prstGeom prst="rect">
            <a:avLst/>
          </a:prstGeom>
          <a:noFill/>
          <a:ln/>
        </p:spPr>
        <p:txBody>
          <a:bodyPr wrap="square" lIns="50800" tIns="50800" rIns="50800" bIns="5080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Friction is a contact force that opposes the relative motion (or tendency of motion) between two surfaces in contact. It acts parallel to the surfaces and opposite to the direction of motion or applied force.</a:t>
            </a:r>
            <a:endParaRPr lang="en-US" sz="1350" dirty="0"/>
          </a:p>
        </p:txBody>
      </p:sp>
      <p:sp>
        <p:nvSpPr>
          <p:cNvPr id="5" name="Shape 3"/>
          <p:cNvSpPr/>
          <p:nvPr/>
        </p:nvSpPr>
        <p:spPr>
          <a:xfrm>
            <a:off x="434340" y="1687449"/>
            <a:ext cx="2743200" cy="1691640"/>
          </a:xfrm>
          <a:prstGeom prst="roundRect">
            <a:avLst>
              <a:gd name="adj" fmla="val 5405"/>
            </a:avLst>
          </a:prstGeom>
          <a:solidFill>
            <a:srgbClr val="FFFFFF"/>
          </a:solidFill>
          <a:ln w="12700">
            <a:solidFill>
              <a:srgbClr val="E5E0D8"/>
            </a:solidFill>
            <a:prstDash val="solid"/>
          </a:ln>
          <a:effectLst>
            <a:outerShdw blurRad="76200" dist="38100" dir="8100000" algn="bl" rotWithShape="0">
              <a:srgbClr val="000000">
                <a:alpha val="12000"/>
              </a:srgbClr>
            </a:outerShdw>
          </a:effectLst>
        </p:spPr>
      </p:sp>
      <p:sp>
        <p:nvSpPr>
          <p:cNvPr id="6" name="Text 4"/>
          <p:cNvSpPr/>
          <p:nvPr/>
        </p:nvSpPr>
        <p:spPr>
          <a:xfrm>
            <a:off x="457200" y="1947672"/>
            <a:ext cx="2743200" cy="45720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7" name="Text 5"/>
          <p:cNvSpPr/>
          <p:nvPr/>
        </p:nvSpPr>
        <p:spPr>
          <a:xfrm>
            <a:off x="653796" y="2078164"/>
            <a:ext cx="2523744" cy="292608"/>
          </a:xfrm>
          <a:prstGeom prst="rect">
            <a:avLst/>
          </a:prstGeom>
          <a:noFill/>
          <a:ln/>
        </p:spPr>
        <p:txBody>
          <a:bodyPr wrap="square" lIns="0" tIns="0" rIns="0" bIns="0" rtlCol="0" anchor="ctr"/>
          <a:lstStyle/>
          <a:p>
            <a:pPr marL="0" indent="0">
              <a:buNone/>
            </a:pPr>
            <a:r>
              <a:rPr lang="en-US" sz="1400" b="1" dirty="0">
                <a:solidFill>
                  <a:srgbClr val="B85042"/>
                </a:solidFill>
                <a:latin typeface="Georgia" pitchFamily="34" charset="0"/>
                <a:ea typeface="Georgia" pitchFamily="34" charset="-122"/>
                <a:cs typeface="Georgia" pitchFamily="34" charset="-120"/>
              </a:rPr>
              <a:t>Origin</a:t>
            </a:r>
            <a:endParaRPr lang="en-US" sz="1400" dirty="0"/>
          </a:p>
        </p:txBody>
      </p:sp>
      <p:sp>
        <p:nvSpPr>
          <p:cNvPr id="8" name="Text 6"/>
          <p:cNvSpPr/>
          <p:nvPr/>
        </p:nvSpPr>
        <p:spPr>
          <a:xfrm>
            <a:off x="594360" y="2467302"/>
            <a:ext cx="2523744" cy="777240"/>
          </a:xfrm>
          <a:prstGeom prst="rect">
            <a:avLst/>
          </a:prstGeom>
          <a:noFill/>
          <a:ln/>
        </p:spPr>
        <p:txBody>
          <a:bodyPr wrap="square" lIns="0" tIns="0" rIns="0" bIns="0" rtlCol="0" anchor="ctr"/>
          <a:lstStyle/>
          <a:p>
            <a:pPr marL="0" indent="0">
              <a:buNone/>
            </a:pPr>
            <a:r>
              <a:rPr lang="en-US" sz="1150" dirty="0">
                <a:solidFill>
                  <a:srgbClr val="4A4A4A"/>
                </a:solidFill>
                <a:latin typeface="Calibri" pitchFamily="34" charset="0"/>
                <a:ea typeface="Calibri" pitchFamily="34" charset="-122"/>
                <a:cs typeface="Calibri" pitchFamily="34" charset="-120"/>
              </a:rPr>
              <a:t>Arises from electromagnetic interactions between atoms at the contact interface — not a fundamental force, but an emergent one.</a:t>
            </a:r>
            <a:endParaRPr lang="en-US" sz="1150" dirty="0"/>
          </a:p>
        </p:txBody>
      </p:sp>
      <p:sp>
        <p:nvSpPr>
          <p:cNvPr id="9" name="Shape 7"/>
          <p:cNvSpPr/>
          <p:nvPr/>
        </p:nvSpPr>
        <p:spPr>
          <a:xfrm>
            <a:off x="3355848" y="1719070"/>
            <a:ext cx="2743200" cy="1691640"/>
          </a:xfrm>
          <a:prstGeom prst="roundRect">
            <a:avLst>
              <a:gd name="adj" fmla="val 5405"/>
            </a:avLst>
          </a:prstGeom>
          <a:solidFill>
            <a:srgbClr val="FFFFFF"/>
          </a:solidFill>
          <a:ln w="12700">
            <a:solidFill>
              <a:srgbClr val="E5E0D8"/>
            </a:solidFill>
            <a:prstDash val="solid"/>
          </a:ln>
          <a:effectLst>
            <a:outerShdw blurRad="76200" dist="38100" dir="8100000" algn="bl" rotWithShape="0">
              <a:srgbClr val="000000">
                <a:alpha val="12000"/>
              </a:srgbClr>
            </a:outerShdw>
          </a:effectLst>
        </p:spPr>
      </p:sp>
      <p:sp>
        <p:nvSpPr>
          <p:cNvPr id="10" name="Text 8"/>
          <p:cNvSpPr/>
          <p:nvPr/>
        </p:nvSpPr>
        <p:spPr>
          <a:xfrm>
            <a:off x="3355848" y="1947672"/>
            <a:ext cx="2743200" cy="45720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1" name="Text 9"/>
          <p:cNvSpPr/>
          <p:nvPr/>
        </p:nvSpPr>
        <p:spPr>
          <a:xfrm>
            <a:off x="3465576" y="2305593"/>
            <a:ext cx="2523744" cy="292608"/>
          </a:xfrm>
          <a:prstGeom prst="rect">
            <a:avLst/>
          </a:prstGeom>
          <a:noFill/>
          <a:ln/>
        </p:spPr>
        <p:txBody>
          <a:bodyPr wrap="square" lIns="0" tIns="0" rIns="0" bIns="0" rtlCol="0" anchor="ctr"/>
          <a:lstStyle/>
          <a:p>
            <a:pPr marL="0" indent="0">
              <a:buNone/>
            </a:pPr>
            <a:r>
              <a:rPr lang="en-US" sz="1400" b="1" dirty="0">
                <a:solidFill>
                  <a:srgbClr val="B85042"/>
                </a:solidFill>
                <a:latin typeface="Georgia" pitchFamily="34" charset="0"/>
                <a:ea typeface="Georgia" pitchFamily="34" charset="-122"/>
                <a:cs typeface="Georgia" pitchFamily="34" charset="-120"/>
              </a:rPr>
              <a:t>Direction</a:t>
            </a:r>
            <a:endParaRPr lang="en-US" sz="1400" dirty="0"/>
          </a:p>
        </p:txBody>
      </p:sp>
      <p:sp>
        <p:nvSpPr>
          <p:cNvPr id="12" name="Text 10"/>
          <p:cNvSpPr/>
          <p:nvPr/>
        </p:nvSpPr>
        <p:spPr>
          <a:xfrm>
            <a:off x="3465576" y="2630858"/>
            <a:ext cx="2523744" cy="777240"/>
          </a:xfrm>
          <a:prstGeom prst="rect">
            <a:avLst/>
          </a:prstGeom>
          <a:noFill/>
          <a:ln/>
        </p:spPr>
        <p:txBody>
          <a:bodyPr wrap="square" lIns="0" tIns="0" rIns="0" bIns="0" rtlCol="0" anchor="ctr"/>
          <a:lstStyle/>
          <a:p>
            <a:pPr marL="0" indent="0">
              <a:buNone/>
            </a:pPr>
            <a:r>
              <a:rPr lang="en-US" sz="1150" dirty="0">
                <a:solidFill>
                  <a:srgbClr val="4A4A4A"/>
                </a:solidFill>
                <a:latin typeface="Calibri" pitchFamily="34" charset="0"/>
                <a:ea typeface="Calibri" pitchFamily="34" charset="-122"/>
                <a:cs typeface="Calibri" pitchFamily="34" charset="-120"/>
              </a:rPr>
              <a:t>Always parallel to the contacting surfaces and opposite to the direction of relative motion or the tendency of motion.</a:t>
            </a:r>
            <a:endParaRPr lang="en-US" sz="1150" dirty="0"/>
          </a:p>
        </p:txBody>
      </p:sp>
      <p:sp>
        <p:nvSpPr>
          <p:cNvPr id="13" name="Shape 11"/>
          <p:cNvSpPr/>
          <p:nvPr/>
        </p:nvSpPr>
        <p:spPr>
          <a:xfrm>
            <a:off x="6144768" y="1662630"/>
            <a:ext cx="2743200" cy="1691640"/>
          </a:xfrm>
          <a:prstGeom prst="roundRect">
            <a:avLst>
              <a:gd name="adj" fmla="val 5405"/>
            </a:avLst>
          </a:prstGeom>
          <a:solidFill>
            <a:srgbClr val="FFFFFF"/>
          </a:solidFill>
          <a:ln w="12700">
            <a:solidFill>
              <a:srgbClr val="E5E0D8"/>
            </a:solidFill>
            <a:prstDash val="solid"/>
          </a:ln>
          <a:effectLst>
            <a:outerShdw blurRad="76200" dist="38100" dir="8100000" algn="bl" rotWithShape="0">
              <a:srgbClr val="000000">
                <a:alpha val="12000"/>
              </a:srgbClr>
            </a:outerShdw>
          </a:effectLst>
        </p:spPr>
      </p:sp>
      <p:sp>
        <p:nvSpPr>
          <p:cNvPr id="14" name="Text 12"/>
          <p:cNvSpPr/>
          <p:nvPr/>
        </p:nvSpPr>
        <p:spPr>
          <a:xfrm>
            <a:off x="6254496" y="1947672"/>
            <a:ext cx="2743200" cy="45720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5" name="Text 13"/>
          <p:cNvSpPr/>
          <p:nvPr/>
        </p:nvSpPr>
        <p:spPr>
          <a:xfrm>
            <a:off x="6364224" y="2240661"/>
            <a:ext cx="2523744" cy="292608"/>
          </a:xfrm>
          <a:prstGeom prst="rect">
            <a:avLst/>
          </a:prstGeom>
          <a:noFill/>
          <a:ln/>
        </p:spPr>
        <p:txBody>
          <a:bodyPr wrap="square" lIns="0" tIns="0" rIns="0" bIns="0" rtlCol="0" anchor="ctr"/>
          <a:lstStyle/>
          <a:p>
            <a:pPr marL="0" indent="0">
              <a:buNone/>
            </a:pPr>
            <a:r>
              <a:rPr lang="en-US" sz="1400" b="1" dirty="0">
                <a:solidFill>
                  <a:srgbClr val="B85042"/>
                </a:solidFill>
                <a:latin typeface="Georgia" pitchFamily="34" charset="0"/>
                <a:ea typeface="Georgia" pitchFamily="34" charset="-122"/>
                <a:cs typeface="Georgia" pitchFamily="34" charset="-120"/>
              </a:rPr>
              <a:t>Magnitude</a:t>
            </a:r>
            <a:endParaRPr lang="en-US" sz="1400" dirty="0"/>
          </a:p>
        </p:txBody>
      </p:sp>
      <p:sp>
        <p:nvSpPr>
          <p:cNvPr id="16" name="Text 14"/>
          <p:cNvSpPr/>
          <p:nvPr/>
        </p:nvSpPr>
        <p:spPr>
          <a:xfrm>
            <a:off x="6254496" y="2498791"/>
            <a:ext cx="2523744" cy="777240"/>
          </a:xfrm>
          <a:prstGeom prst="rect">
            <a:avLst/>
          </a:prstGeom>
          <a:noFill/>
          <a:ln/>
        </p:spPr>
        <p:txBody>
          <a:bodyPr wrap="square" lIns="0" tIns="0" rIns="0" bIns="0" rtlCol="0" anchor="ctr"/>
          <a:lstStyle/>
          <a:p>
            <a:pPr marL="0" indent="0">
              <a:buNone/>
            </a:pPr>
            <a:r>
              <a:rPr lang="en-US" sz="1150" dirty="0">
                <a:solidFill>
                  <a:srgbClr val="4A4A4A"/>
                </a:solidFill>
                <a:latin typeface="Calibri" pitchFamily="34" charset="0"/>
                <a:ea typeface="Calibri" pitchFamily="34" charset="-122"/>
                <a:cs typeface="Calibri" pitchFamily="34" charset="-120"/>
              </a:rPr>
              <a:t>Depends on the normal force pressing the surfaces together and the nature (roughness) of the surfaces — not contact area.</a:t>
            </a:r>
            <a:endParaRPr lang="en-US" sz="1150" dirty="0"/>
          </a:p>
        </p:txBody>
      </p:sp>
      <p:sp>
        <p:nvSpPr>
          <p:cNvPr id="18" name="Text 15"/>
          <p:cNvSpPr/>
          <p:nvPr/>
        </p:nvSpPr>
        <p:spPr>
          <a:xfrm>
            <a:off x="457200" y="4919472"/>
            <a:ext cx="3200400" cy="182880"/>
          </a:xfrm>
          <a:prstGeom prst="rect">
            <a:avLst/>
          </a:prstGeom>
          <a:noFill/>
          <a:ln/>
        </p:spPr>
        <p:txBody>
          <a:bodyPr wrap="square" lIns="0" tIns="0" rIns="0" bIns="0"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Free-body diagram showing friction (f) opposing applied force (F)</a:t>
            </a:r>
            <a:endParaRPr lang="en-US" sz="900" dirty="0"/>
          </a:p>
        </p:txBody>
      </p:sp>
      <p:sp>
        <p:nvSpPr>
          <p:cNvPr id="19" name="Shape 16"/>
          <p:cNvSpPr/>
          <p:nvPr/>
        </p:nvSpPr>
        <p:spPr>
          <a:xfrm>
            <a:off x="3840480" y="3730752"/>
            <a:ext cx="4846320" cy="1234440"/>
          </a:xfrm>
          <a:prstGeom prst="rect">
            <a:avLst/>
          </a:prstGeom>
          <a:solidFill>
            <a:srgbClr val="F0EDE8"/>
          </a:solidFill>
          <a:ln w="12700">
            <a:solidFill>
              <a:srgbClr val="E5E0D8"/>
            </a:solidFill>
            <a:prstDash val="solid"/>
          </a:ln>
        </p:spPr>
      </p:sp>
      <p:sp>
        <p:nvSpPr>
          <p:cNvPr id="20" name="Text 17"/>
          <p:cNvSpPr/>
          <p:nvPr/>
        </p:nvSpPr>
        <p:spPr>
          <a:xfrm>
            <a:off x="3977640" y="3749040"/>
            <a:ext cx="4572000" cy="1188720"/>
          </a:xfrm>
          <a:prstGeom prst="rect">
            <a:avLst/>
          </a:prstGeom>
          <a:noFill/>
          <a:ln/>
        </p:spPr>
        <p:txBody>
          <a:bodyPr wrap="square" lIns="76200" tIns="76200" rIns="76200" bIns="76200" rtlCol="0" anchor="ctr"/>
          <a:lstStyle/>
          <a:p>
            <a:pPr marL="0" indent="0">
              <a:buNone/>
            </a:pPr>
            <a:r>
              <a:rPr lang="en-US" sz="1200" dirty="0">
                <a:solidFill>
                  <a:srgbClr val="4A4A4A"/>
                </a:solidFill>
                <a:latin typeface="Calibri" pitchFamily="34" charset="0"/>
                <a:ea typeface="Calibri" pitchFamily="34" charset="-122"/>
                <a:cs typeface="Calibri" pitchFamily="34" charset="-120"/>
              </a:rPr>
              <a:t>Key Point: Friction is NOT always bad!</a:t>
            </a:r>
            <a:endParaRPr lang="en-US" sz="1200" dirty="0"/>
          </a:p>
          <a:p>
            <a:pPr marL="0" indent="0">
              <a:buNone/>
            </a:pPr>
            <a:endParaRPr lang="en-US" sz="1200" dirty="0"/>
          </a:p>
          <a:p>
            <a:pPr marL="0" indent="0">
              <a:buNone/>
            </a:pPr>
            <a:r>
              <a:rPr lang="en-US" sz="1200" dirty="0">
                <a:solidFill>
                  <a:srgbClr val="4A4A4A"/>
                </a:solidFill>
                <a:latin typeface="Calibri" pitchFamily="34" charset="0"/>
                <a:ea typeface="Calibri" pitchFamily="34" charset="-122"/>
                <a:cs typeface="Calibri" pitchFamily="34" charset="-120"/>
              </a:rPr>
              <a:t>Without friction you couldn't walk, cars couldn't steer or brake, screws and nails would not hold, and musical instruments would make no sound.</a:t>
            </a:r>
            <a:endParaRPr lang="en-US" sz="1200" dirty="0"/>
          </a:p>
        </p:txBody>
      </p:sp>
      <p:pic>
        <p:nvPicPr>
          <p:cNvPr id="22" name="Picture 2" descr="Frictional Force">
            <a:extLst>
              <a:ext uri="{FF2B5EF4-FFF2-40B4-BE49-F238E27FC236}">
                <a16:creationId xmlns:a16="http://schemas.microsoft.com/office/drawing/2014/main" id="{38648535-B86E-46EC-A695-FA86A1D29D8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36" t="15545" r="6663" b="7737"/>
          <a:stretch/>
        </p:blipFill>
        <p:spPr bwMode="auto">
          <a:xfrm>
            <a:off x="24494" y="3428996"/>
            <a:ext cx="3920489" cy="18082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C2C2C"/>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Microscopic Origin of Friction</a:t>
            </a:r>
            <a:endParaRPr lang="en-US" sz="3400" dirty="0"/>
          </a:p>
        </p:txBody>
      </p:sp>
      <p:sp>
        <p:nvSpPr>
          <p:cNvPr id="4" name="Text 1"/>
          <p:cNvSpPr/>
          <p:nvPr/>
        </p:nvSpPr>
        <p:spPr>
          <a:xfrm>
            <a:off x="5943600" y="3154680"/>
            <a:ext cx="2834640" cy="201168"/>
          </a:xfrm>
          <a:prstGeom prst="rect">
            <a:avLst/>
          </a:prstGeom>
          <a:noFill/>
          <a:ln/>
        </p:spPr>
        <p:txBody>
          <a:bodyPr wrap="square" lIns="0" tIns="0" rIns="0" bIns="0" rtlCol="0" anchor="ctr"/>
          <a:lstStyle/>
          <a:p>
            <a:pPr marL="0" indent="0" algn="ctr">
              <a:buNone/>
            </a:pPr>
            <a:r>
              <a:rPr lang="en-US" sz="900" i="1" dirty="0">
                <a:solidFill>
                  <a:srgbClr val="999999"/>
                </a:solidFill>
                <a:latin typeface="Calibri" pitchFamily="34" charset="0"/>
                <a:ea typeface="Calibri" pitchFamily="34" charset="-122"/>
                <a:cs typeface="Calibri" pitchFamily="34" charset="-120"/>
              </a:rPr>
              <a:t>Microscopic surface asperities</a:t>
            </a:r>
            <a:endParaRPr lang="en-US" sz="900" dirty="0"/>
          </a:p>
        </p:txBody>
      </p:sp>
      <p:sp>
        <p:nvSpPr>
          <p:cNvPr id="5" name="Shape 2"/>
          <p:cNvSpPr/>
          <p:nvPr/>
        </p:nvSpPr>
        <p:spPr>
          <a:xfrm>
            <a:off x="457200" y="960120"/>
            <a:ext cx="5303520" cy="896112"/>
          </a:xfrm>
          <a:prstGeom prst="rect">
            <a:avLst/>
          </a:prstGeom>
          <a:solidFill>
            <a:srgbClr val="2E2E2E"/>
          </a:solidFill>
          <a:ln w="12700">
            <a:solidFill>
              <a:srgbClr val="444444"/>
            </a:solidFill>
            <a:prstDash val="solid"/>
          </a:ln>
        </p:spPr>
      </p:sp>
      <p:sp>
        <p:nvSpPr>
          <p:cNvPr id="6" name="Shape 3"/>
          <p:cNvSpPr/>
          <p:nvPr/>
        </p:nvSpPr>
        <p:spPr>
          <a:xfrm>
            <a:off x="457200" y="960120"/>
            <a:ext cx="402336" cy="896112"/>
          </a:xfrm>
          <a:prstGeom prst="roundRect">
            <a:avLst>
              <a:gd name="adj" fmla="val 27273"/>
            </a:avLst>
          </a:prstGeom>
          <a:solidFill>
            <a:srgbClr val="B85042"/>
          </a:solidFill>
          <a:ln w="12700">
            <a:solidFill>
              <a:srgbClr val="B85042"/>
            </a:solidFill>
            <a:prstDash val="solid"/>
          </a:ln>
        </p:spPr>
      </p:sp>
      <p:sp>
        <p:nvSpPr>
          <p:cNvPr id="7" name="Text 4"/>
          <p:cNvSpPr/>
          <p:nvPr/>
        </p:nvSpPr>
        <p:spPr>
          <a:xfrm>
            <a:off x="457200" y="1216152"/>
            <a:ext cx="402336"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8" name="Text 5"/>
          <p:cNvSpPr/>
          <p:nvPr/>
        </p:nvSpPr>
        <p:spPr>
          <a:xfrm>
            <a:off x="950976" y="1014984"/>
            <a:ext cx="4754880" cy="256032"/>
          </a:xfrm>
          <a:prstGeom prst="rect">
            <a:avLst/>
          </a:prstGeom>
          <a:noFill/>
          <a:ln/>
        </p:spPr>
        <p:txBody>
          <a:bodyPr wrap="square" lIns="0" tIns="0" rIns="0" bIns="0" rtlCol="0" anchor="ctr"/>
          <a:lstStyle/>
          <a:p>
            <a:pPr marL="0" indent="0">
              <a:buNone/>
            </a:pPr>
            <a:r>
              <a:rPr lang="en-US" sz="1300" b="1" dirty="0">
                <a:solidFill>
                  <a:srgbClr val="E7E8D1"/>
                </a:solidFill>
                <a:latin typeface="Georgia" pitchFamily="34" charset="0"/>
                <a:ea typeface="Georgia" pitchFamily="34" charset="-122"/>
                <a:cs typeface="Georgia" pitchFamily="34" charset="-120"/>
              </a:rPr>
              <a:t>Asperities (Microscopic Peaks)</a:t>
            </a:r>
            <a:endParaRPr lang="en-US" sz="1300" dirty="0"/>
          </a:p>
        </p:txBody>
      </p:sp>
      <p:sp>
        <p:nvSpPr>
          <p:cNvPr id="9" name="Text 6"/>
          <p:cNvSpPr/>
          <p:nvPr/>
        </p:nvSpPr>
        <p:spPr>
          <a:xfrm>
            <a:off x="950976" y="1307592"/>
            <a:ext cx="4754880" cy="502920"/>
          </a:xfrm>
          <a:prstGeom prst="rect">
            <a:avLst/>
          </a:prstGeom>
          <a:noFill/>
          <a:ln/>
        </p:spPr>
        <p:txBody>
          <a:bodyPr wrap="square" lIns="0" tIns="0" rIns="0" bIns="0" rtlCol="0" anchor="ctr"/>
          <a:lstStyle/>
          <a:p>
            <a:pPr marL="0" indent="0">
              <a:buNone/>
            </a:pPr>
            <a:r>
              <a:rPr lang="en-US" sz="1100" dirty="0">
                <a:solidFill>
                  <a:srgbClr val="CCCCCC"/>
                </a:solidFill>
                <a:latin typeface="Calibri" pitchFamily="34" charset="0"/>
                <a:ea typeface="Calibri" pitchFamily="34" charset="-122"/>
                <a:cs typeface="Calibri" pitchFamily="34" charset="-120"/>
              </a:rPr>
              <a:t>Even polished surfaces have microscopic bumps called asperities. When two surfaces touch, only the peaks (asperities) actually make contact — the true contact area is much smaller than apparent area.</a:t>
            </a:r>
            <a:endParaRPr lang="en-US" sz="1100" dirty="0"/>
          </a:p>
        </p:txBody>
      </p:sp>
      <p:sp>
        <p:nvSpPr>
          <p:cNvPr id="10" name="Shape 7"/>
          <p:cNvSpPr/>
          <p:nvPr/>
        </p:nvSpPr>
        <p:spPr>
          <a:xfrm>
            <a:off x="457200" y="1965960"/>
            <a:ext cx="5303520" cy="896112"/>
          </a:xfrm>
          <a:prstGeom prst="rect">
            <a:avLst/>
          </a:prstGeom>
          <a:solidFill>
            <a:srgbClr val="2E2E2E"/>
          </a:solidFill>
          <a:ln w="12700">
            <a:solidFill>
              <a:srgbClr val="444444"/>
            </a:solidFill>
            <a:prstDash val="solid"/>
          </a:ln>
        </p:spPr>
      </p:sp>
      <p:sp>
        <p:nvSpPr>
          <p:cNvPr id="11" name="Shape 8"/>
          <p:cNvSpPr/>
          <p:nvPr/>
        </p:nvSpPr>
        <p:spPr>
          <a:xfrm>
            <a:off x="457200" y="1965960"/>
            <a:ext cx="402336" cy="896112"/>
          </a:xfrm>
          <a:prstGeom prst="roundRect">
            <a:avLst>
              <a:gd name="adj" fmla="val 27273"/>
            </a:avLst>
          </a:prstGeom>
          <a:solidFill>
            <a:srgbClr val="C9974C"/>
          </a:solidFill>
          <a:ln w="12700">
            <a:solidFill>
              <a:srgbClr val="C9974C"/>
            </a:solidFill>
            <a:prstDash val="solid"/>
          </a:ln>
        </p:spPr>
      </p:sp>
      <p:sp>
        <p:nvSpPr>
          <p:cNvPr id="12" name="Text 9"/>
          <p:cNvSpPr/>
          <p:nvPr/>
        </p:nvSpPr>
        <p:spPr>
          <a:xfrm>
            <a:off x="457200" y="2221992"/>
            <a:ext cx="402336"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3" name="Text 10"/>
          <p:cNvSpPr/>
          <p:nvPr/>
        </p:nvSpPr>
        <p:spPr>
          <a:xfrm>
            <a:off x="950976" y="2020824"/>
            <a:ext cx="4754880" cy="256032"/>
          </a:xfrm>
          <a:prstGeom prst="rect">
            <a:avLst/>
          </a:prstGeom>
          <a:noFill/>
          <a:ln/>
        </p:spPr>
        <p:txBody>
          <a:bodyPr wrap="square" lIns="0" tIns="0" rIns="0" bIns="0" rtlCol="0" anchor="ctr"/>
          <a:lstStyle/>
          <a:p>
            <a:pPr marL="0" indent="0">
              <a:buNone/>
            </a:pPr>
            <a:r>
              <a:rPr lang="en-US" sz="1300" b="1" dirty="0">
                <a:solidFill>
                  <a:srgbClr val="D4A85A"/>
                </a:solidFill>
                <a:latin typeface="Georgia" pitchFamily="34" charset="0"/>
                <a:ea typeface="Georgia" pitchFamily="34" charset="-122"/>
                <a:cs typeface="Georgia" pitchFamily="34" charset="-120"/>
              </a:rPr>
              <a:t>Cold Welding &amp; Adhesion</a:t>
            </a:r>
            <a:endParaRPr lang="en-US" sz="1300" dirty="0"/>
          </a:p>
        </p:txBody>
      </p:sp>
      <p:sp>
        <p:nvSpPr>
          <p:cNvPr id="14" name="Text 11"/>
          <p:cNvSpPr/>
          <p:nvPr/>
        </p:nvSpPr>
        <p:spPr>
          <a:xfrm>
            <a:off x="950976" y="2313432"/>
            <a:ext cx="4754880" cy="502920"/>
          </a:xfrm>
          <a:prstGeom prst="rect">
            <a:avLst/>
          </a:prstGeom>
          <a:noFill/>
          <a:ln/>
        </p:spPr>
        <p:txBody>
          <a:bodyPr wrap="square" lIns="0" tIns="0" rIns="0" bIns="0" rtlCol="0" anchor="ctr"/>
          <a:lstStyle/>
          <a:p>
            <a:pPr marL="0" indent="0">
              <a:buNone/>
            </a:pPr>
            <a:r>
              <a:rPr lang="en-US" sz="1100" dirty="0">
                <a:solidFill>
                  <a:srgbClr val="CCCCCC"/>
                </a:solidFill>
                <a:latin typeface="Calibri" pitchFamily="34" charset="0"/>
                <a:ea typeface="Calibri" pitchFamily="34" charset="-122"/>
                <a:cs typeface="Calibri" pitchFamily="34" charset="-120"/>
              </a:rPr>
              <a:t>Atoms at the asperities come close enough for atomic bonds (van der Waals and metallic) to form — called micro-welds or cold welds. Breaking these welds requires force: that force IS friction.</a:t>
            </a:r>
            <a:endParaRPr lang="en-US" sz="1100" dirty="0"/>
          </a:p>
        </p:txBody>
      </p:sp>
      <p:sp>
        <p:nvSpPr>
          <p:cNvPr id="15" name="Shape 12"/>
          <p:cNvSpPr/>
          <p:nvPr/>
        </p:nvSpPr>
        <p:spPr>
          <a:xfrm>
            <a:off x="457200" y="2971800"/>
            <a:ext cx="5303520" cy="896112"/>
          </a:xfrm>
          <a:prstGeom prst="rect">
            <a:avLst/>
          </a:prstGeom>
          <a:solidFill>
            <a:srgbClr val="2E2E2E"/>
          </a:solidFill>
          <a:ln w="12700">
            <a:solidFill>
              <a:srgbClr val="444444"/>
            </a:solidFill>
            <a:prstDash val="solid"/>
          </a:ln>
        </p:spPr>
      </p:sp>
      <p:sp>
        <p:nvSpPr>
          <p:cNvPr id="16" name="Shape 13"/>
          <p:cNvSpPr/>
          <p:nvPr/>
        </p:nvSpPr>
        <p:spPr>
          <a:xfrm>
            <a:off x="457200" y="2971800"/>
            <a:ext cx="402336" cy="896112"/>
          </a:xfrm>
          <a:prstGeom prst="roundRect">
            <a:avLst>
              <a:gd name="adj" fmla="val 27273"/>
            </a:avLst>
          </a:prstGeom>
          <a:solidFill>
            <a:srgbClr val="2A7F7F"/>
          </a:solidFill>
          <a:ln w="12700">
            <a:solidFill>
              <a:srgbClr val="2A7F7F"/>
            </a:solidFill>
            <a:prstDash val="solid"/>
          </a:ln>
        </p:spPr>
      </p:sp>
      <p:sp>
        <p:nvSpPr>
          <p:cNvPr id="17" name="Text 14"/>
          <p:cNvSpPr/>
          <p:nvPr/>
        </p:nvSpPr>
        <p:spPr>
          <a:xfrm>
            <a:off x="457200" y="3227832"/>
            <a:ext cx="402336"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8" name="Text 15"/>
          <p:cNvSpPr/>
          <p:nvPr/>
        </p:nvSpPr>
        <p:spPr>
          <a:xfrm>
            <a:off x="950976" y="3026664"/>
            <a:ext cx="4754880" cy="256032"/>
          </a:xfrm>
          <a:prstGeom prst="rect">
            <a:avLst/>
          </a:prstGeom>
          <a:noFill/>
          <a:ln/>
        </p:spPr>
        <p:txBody>
          <a:bodyPr wrap="square" lIns="0" tIns="0" rIns="0" bIns="0" rtlCol="0" anchor="ctr"/>
          <a:lstStyle/>
          <a:p>
            <a:pPr marL="0" indent="0">
              <a:buNone/>
            </a:pPr>
            <a:r>
              <a:rPr lang="en-US" sz="1300" b="1" dirty="0">
                <a:solidFill>
                  <a:srgbClr val="66CCCC"/>
                </a:solidFill>
                <a:latin typeface="Georgia" pitchFamily="34" charset="0"/>
                <a:ea typeface="Georgia" pitchFamily="34" charset="-122"/>
                <a:cs typeface="Georgia" pitchFamily="34" charset="-120"/>
              </a:rPr>
              <a:t>Ploughing</a:t>
            </a:r>
            <a:endParaRPr lang="en-US" sz="1300" dirty="0"/>
          </a:p>
        </p:txBody>
      </p:sp>
      <p:sp>
        <p:nvSpPr>
          <p:cNvPr id="19" name="Text 16"/>
          <p:cNvSpPr/>
          <p:nvPr/>
        </p:nvSpPr>
        <p:spPr>
          <a:xfrm>
            <a:off x="950976" y="3319272"/>
            <a:ext cx="4754880" cy="502920"/>
          </a:xfrm>
          <a:prstGeom prst="rect">
            <a:avLst/>
          </a:prstGeom>
          <a:noFill/>
          <a:ln/>
        </p:spPr>
        <p:txBody>
          <a:bodyPr wrap="square" lIns="0" tIns="0" rIns="0" bIns="0" rtlCol="0" anchor="ctr"/>
          <a:lstStyle/>
          <a:p>
            <a:pPr marL="0" indent="0">
              <a:buNone/>
            </a:pPr>
            <a:r>
              <a:rPr lang="en-US" sz="1100" dirty="0">
                <a:solidFill>
                  <a:srgbClr val="CCCCCC"/>
                </a:solidFill>
                <a:latin typeface="Calibri" pitchFamily="34" charset="0"/>
                <a:ea typeface="Calibri" pitchFamily="34" charset="-122"/>
                <a:cs typeface="Calibri" pitchFamily="34" charset="-120"/>
              </a:rPr>
              <a:t>Harder asperities dig into softer surfaces and must be pushed aside ('ploughed') as motion occurs. This energy loss contributes to kinetic friction.</a:t>
            </a:r>
            <a:endParaRPr lang="en-US" sz="1100" dirty="0"/>
          </a:p>
        </p:txBody>
      </p:sp>
      <p:sp>
        <p:nvSpPr>
          <p:cNvPr id="20" name="Shape 17"/>
          <p:cNvSpPr/>
          <p:nvPr/>
        </p:nvSpPr>
        <p:spPr>
          <a:xfrm>
            <a:off x="457200" y="3977640"/>
            <a:ext cx="5303520" cy="896112"/>
          </a:xfrm>
          <a:prstGeom prst="rect">
            <a:avLst/>
          </a:prstGeom>
          <a:solidFill>
            <a:srgbClr val="2E2E2E"/>
          </a:solidFill>
          <a:ln w="12700">
            <a:solidFill>
              <a:srgbClr val="444444"/>
            </a:solidFill>
            <a:prstDash val="solid"/>
          </a:ln>
        </p:spPr>
      </p:sp>
      <p:sp>
        <p:nvSpPr>
          <p:cNvPr id="21" name="Shape 18"/>
          <p:cNvSpPr/>
          <p:nvPr/>
        </p:nvSpPr>
        <p:spPr>
          <a:xfrm>
            <a:off x="457200" y="3977640"/>
            <a:ext cx="402336" cy="896112"/>
          </a:xfrm>
          <a:prstGeom prst="roundRect">
            <a:avLst>
              <a:gd name="adj" fmla="val 27273"/>
            </a:avLst>
          </a:prstGeom>
          <a:solidFill>
            <a:srgbClr val="1E3A5F"/>
          </a:solidFill>
          <a:ln w="12700">
            <a:solidFill>
              <a:srgbClr val="1E3A5F"/>
            </a:solidFill>
            <a:prstDash val="solid"/>
          </a:ln>
        </p:spPr>
      </p:sp>
      <p:sp>
        <p:nvSpPr>
          <p:cNvPr id="22" name="Text 19"/>
          <p:cNvSpPr/>
          <p:nvPr/>
        </p:nvSpPr>
        <p:spPr>
          <a:xfrm>
            <a:off x="457200" y="4233672"/>
            <a:ext cx="402336"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3" name="Text 20"/>
          <p:cNvSpPr/>
          <p:nvPr/>
        </p:nvSpPr>
        <p:spPr>
          <a:xfrm>
            <a:off x="950976" y="4032504"/>
            <a:ext cx="4754880" cy="256032"/>
          </a:xfrm>
          <a:prstGeom prst="rect">
            <a:avLst/>
          </a:prstGeom>
          <a:noFill/>
          <a:ln/>
        </p:spPr>
        <p:txBody>
          <a:bodyPr wrap="square" lIns="0" tIns="0" rIns="0" bIns="0" rtlCol="0" anchor="ctr"/>
          <a:lstStyle/>
          <a:p>
            <a:pPr marL="0" indent="0">
              <a:buNone/>
            </a:pPr>
            <a:r>
              <a:rPr lang="en-US" sz="1300" b="1" dirty="0">
                <a:solidFill>
                  <a:srgbClr val="88AADD"/>
                </a:solidFill>
                <a:latin typeface="Georgia" pitchFamily="34" charset="0"/>
                <a:ea typeface="Georgia" pitchFamily="34" charset="-122"/>
                <a:cs typeface="Georgia" pitchFamily="34" charset="-120"/>
              </a:rPr>
              <a:t>Why Area Doesn't Matter</a:t>
            </a:r>
            <a:endParaRPr lang="en-US" sz="1300" dirty="0"/>
          </a:p>
        </p:txBody>
      </p:sp>
      <p:sp>
        <p:nvSpPr>
          <p:cNvPr id="24" name="Text 21"/>
          <p:cNvSpPr/>
          <p:nvPr/>
        </p:nvSpPr>
        <p:spPr>
          <a:xfrm>
            <a:off x="950976" y="4325112"/>
            <a:ext cx="4754880" cy="502920"/>
          </a:xfrm>
          <a:prstGeom prst="rect">
            <a:avLst/>
          </a:prstGeom>
          <a:noFill/>
          <a:ln/>
        </p:spPr>
        <p:txBody>
          <a:bodyPr wrap="square" lIns="0" tIns="0" rIns="0" bIns="0" rtlCol="0" anchor="ctr"/>
          <a:lstStyle/>
          <a:p>
            <a:pPr marL="0" indent="0">
              <a:buNone/>
            </a:pPr>
            <a:r>
              <a:rPr lang="en-US" sz="1100" dirty="0">
                <a:solidFill>
                  <a:srgbClr val="CCCCCC"/>
                </a:solidFill>
                <a:latin typeface="Calibri" pitchFamily="34" charset="0"/>
                <a:ea typeface="Calibri" pitchFamily="34" charset="-122"/>
                <a:cs typeface="Calibri" pitchFamily="34" charset="-120"/>
              </a:rPr>
              <a:t>More apparent area → more asperities, BUT each carries less load (lower pressure). The two effects cancel: f = μN is independent of contact area (Amonton's Law).</a:t>
            </a:r>
            <a:endParaRPr lang="en-US" sz="1100" dirty="0"/>
          </a:p>
        </p:txBody>
      </p:sp>
      <p:pic>
        <p:nvPicPr>
          <p:cNvPr id="26" name="Picture 2" descr="Friction | Physics">
            <a:extLst>
              <a:ext uri="{FF2B5EF4-FFF2-40B4-BE49-F238E27FC236}">
                <a16:creationId xmlns:a16="http://schemas.microsoft.com/office/drawing/2014/main" id="{DD7E4670-0546-4382-A382-A25A3A60C5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7296" y="1619250"/>
            <a:ext cx="3381375" cy="13525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marL="0" indent="0">
              <a:buNone/>
            </a:pPr>
            <a:r>
              <a:rPr lang="en-US" sz="3600" b="1" dirty="0">
                <a:solidFill>
                  <a:srgbClr val="2C2C2C"/>
                </a:solidFill>
                <a:latin typeface="Georgia" pitchFamily="34" charset="0"/>
                <a:ea typeface="Georgia" pitchFamily="34" charset="-122"/>
                <a:cs typeface="Georgia" pitchFamily="34" charset="-120"/>
              </a:rPr>
              <a:t>Types of Friction</a:t>
            </a:r>
            <a:endParaRPr lang="en-US" sz="3600" dirty="0"/>
          </a:p>
        </p:txBody>
      </p:sp>
      <p:sp>
        <p:nvSpPr>
          <p:cNvPr id="3" name="Shape 1"/>
          <p:cNvSpPr/>
          <p:nvPr/>
        </p:nvSpPr>
        <p:spPr>
          <a:xfrm>
            <a:off x="419481" y="946786"/>
            <a:ext cx="2057400" cy="4023360"/>
          </a:xfrm>
          <a:prstGeom prst="roundRect">
            <a:avLst>
              <a:gd name="adj" fmla="val 4444"/>
            </a:avLst>
          </a:prstGeom>
          <a:solidFill>
            <a:srgbClr val="FFFFFF"/>
          </a:solidFill>
          <a:ln w="12700">
            <a:solidFill>
              <a:srgbClr val="E5E0D8"/>
            </a:solidFill>
            <a:prstDash val="solid"/>
          </a:ln>
          <a:effectLst>
            <a:outerShdw blurRad="76200" dist="38100" dir="8100000" algn="bl" rotWithShape="0">
              <a:srgbClr val="000000">
                <a:alpha val="12000"/>
              </a:srgbClr>
            </a:outerShdw>
          </a:effectLst>
        </p:spPr>
      </p:sp>
      <p:sp>
        <p:nvSpPr>
          <p:cNvPr id="4" name="Shape 2"/>
          <p:cNvSpPr/>
          <p:nvPr/>
        </p:nvSpPr>
        <p:spPr>
          <a:xfrm>
            <a:off x="457200" y="932688"/>
            <a:ext cx="2057400" cy="548640"/>
          </a:xfrm>
          <a:prstGeom prst="roundRect">
            <a:avLst>
              <a:gd name="adj" fmla="val 16667"/>
            </a:avLst>
          </a:prstGeom>
          <a:solidFill>
            <a:srgbClr val="B85042"/>
          </a:solidFill>
          <a:ln w="12700">
            <a:solidFill>
              <a:srgbClr val="B85042"/>
            </a:solidFill>
            <a:prstDash val="solid"/>
          </a:ln>
        </p:spPr>
      </p:sp>
      <p:sp>
        <p:nvSpPr>
          <p:cNvPr id="5" name="Shape 3"/>
          <p:cNvSpPr/>
          <p:nvPr/>
        </p:nvSpPr>
        <p:spPr>
          <a:xfrm>
            <a:off x="457200" y="1280160"/>
            <a:ext cx="2057400" cy="201168"/>
          </a:xfrm>
          <a:prstGeom prst="rect">
            <a:avLst/>
          </a:prstGeom>
          <a:solidFill>
            <a:srgbClr val="B85042"/>
          </a:solidFill>
          <a:ln w="12700">
            <a:solidFill>
              <a:srgbClr val="B85042"/>
            </a:solidFill>
            <a:prstDash val="solid"/>
          </a:ln>
        </p:spPr>
      </p:sp>
      <p:sp>
        <p:nvSpPr>
          <p:cNvPr id="6" name="Text 4"/>
          <p:cNvSpPr/>
          <p:nvPr/>
        </p:nvSpPr>
        <p:spPr>
          <a:xfrm>
            <a:off x="457200" y="969264"/>
            <a:ext cx="2057400" cy="475488"/>
          </a:xfrm>
          <a:prstGeom prst="rect">
            <a:avLst/>
          </a:prstGeom>
          <a:noFill/>
          <a:ln/>
        </p:spPr>
        <p:txBody>
          <a:bodyPr wrap="square" lIns="0" tIns="0" rIns="0" bIns="0" rtlCol="0" anchor="ctr"/>
          <a:lstStyle/>
          <a:p>
            <a:pPr marL="0" indent="0" algn="ctr">
              <a:buNone/>
            </a:pPr>
            <a:r>
              <a:rPr lang="en-US" sz="2200" b="1" i="1" dirty="0">
                <a:solidFill>
                  <a:srgbClr val="FFFFFF"/>
                </a:solidFill>
                <a:latin typeface="Cambria" pitchFamily="34" charset="0"/>
                <a:ea typeface="Cambria" pitchFamily="34" charset="-122"/>
                <a:cs typeface="Cambria" pitchFamily="34" charset="-120"/>
              </a:rPr>
              <a:t>fₛ</a:t>
            </a:r>
            <a:endParaRPr lang="en-US" sz="2200" dirty="0"/>
          </a:p>
        </p:txBody>
      </p:sp>
      <p:sp>
        <p:nvSpPr>
          <p:cNvPr id="7" name="Text 5"/>
          <p:cNvSpPr/>
          <p:nvPr/>
        </p:nvSpPr>
        <p:spPr>
          <a:xfrm>
            <a:off x="548640" y="1554480"/>
            <a:ext cx="1874520" cy="402336"/>
          </a:xfrm>
          <a:prstGeom prst="rect">
            <a:avLst/>
          </a:prstGeom>
          <a:noFill/>
          <a:ln/>
        </p:spPr>
        <p:txBody>
          <a:bodyPr wrap="square" lIns="0" tIns="0" rIns="0" bIns="0" rtlCol="0" anchor="ctr"/>
          <a:lstStyle/>
          <a:p>
            <a:pPr marL="0" indent="0">
              <a:buNone/>
            </a:pPr>
            <a:r>
              <a:rPr lang="en-US" sz="1200" b="1" dirty="0">
                <a:solidFill>
                  <a:srgbClr val="B85042"/>
                </a:solidFill>
                <a:latin typeface="Georgia" pitchFamily="34" charset="0"/>
                <a:ea typeface="Georgia" pitchFamily="34" charset="-122"/>
                <a:cs typeface="Georgia" pitchFamily="34" charset="-120"/>
              </a:rPr>
              <a:t>Static Friction</a:t>
            </a:r>
            <a:endParaRPr lang="en-US" sz="1200" dirty="0"/>
          </a:p>
        </p:txBody>
      </p:sp>
      <p:sp>
        <p:nvSpPr>
          <p:cNvPr id="8" name="Text 6"/>
          <p:cNvSpPr/>
          <p:nvPr/>
        </p:nvSpPr>
        <p:spPr>
          <a:xfrm>
            <a:off x="548640" y="1528952"/>
            <a:ext cx="1874520" cy="1554480"/>
          </a:xfrm>
          <a:prstGeom prst="rect">
            <a:avLst/>
          </a:prstGeom>
          <a:noFill/>
          <a:ln/>
        </p:spPr>
        <p:txBody>
          <a:bodyPr wrap="square" lIns="0" tIns="0" rIns="0" bIns="0" rtlCol="0" anchor="ctr"/>
          <a:lstStyle/>
          <a:p>
            <a:pPr marL="0" indent="0">
              <a:buNone/>
            </a:pPr>
            <a:r>
              <a:rPr lang="en-US" sz="1050" dirty="0">
                <a:solidFill>
                  <a:srgbClr val="4A4A4A"/>
                </a:solidFill>
                <a:latin typeface="Calibri" pitchFamily="34" charset="0"/>
                <a:ea typeface="Calibri" pitchFamily="34" charset="-122"/>
                <a:cs typeface="Calibri" pitchFamily="34" charset="-120"/>
              </a:rPr>
              <a:t>Acts when surfaces are at rest relative to each other. Prevents motion from starting. Adjusts to match applied force up to a maximum value (fₛ_max).</a:t>
            </a:r>
            <a:endParaRPr lang="en-US" sz="1050" dirty="0"/>
          </a:p>
        </p:txBody>
      </p:sp>
      <p:sp>
        <p:nvSpPr>
          <p:cNvPr id="9" name="Shape 7"/>
          <p:cNvSpPr/>
          <p:nvPr/>
        </p:nvSpPr>
        <p:spPr>
          <a:xfrm>
            <a:off x="548640" y="2781680"/>
            <a:ext cx="1874520" cy="475488"/>
          </a:xfrm>
          <a:prstGeom prst="rect">
            <a:avLst/>
          </a:prstGeom>
          <a:solidFill>
            <a:srgbClr val="B85042">
              <a:alpha val="15000"/>
            </a:srgbClr>
          </a:solidFill>
          <a:ln w="12700">
            <a:solidFill>
              <a:srgbClr val="B85042"/>
            </a:solidFill>
            <a:prstDash val="solid"/>
          </a:ln>
        </p:spPr>
      </p:sp>
      <p:sp>
        <p:nvSpPr>
          <p:cNvPr id="10" name="Text 8"/>
          <p:cNvSpPr/>
          <p:nvPr/>
        </p:nvSpPr>
        <p:spPr>
          <a:xfrm>
            <a:off x="548640" y="2863975"/>
            <a:ext cx="1874520" cy="274320"/>
          </a:xfrm>
          <a:prstGeom prst="rect">
            <a:avLst/>
          </a:prstGeom>
          <a:noFill/>
          <a:ln/>
        </p:spPr>
        <p:txBody>
          <a:bodyPr wrap="square" lIns="0" tIns="0" rIns="0" bIns="0" rtlCol="0" anchor="ctr"/>
          <a:lstStyle/>
          <a:p>
            <a:pPr marL="0" indent="0" algn="ctr">
              <a:buNone/>
            </a:pPr>
            <a:r>
              <a:rPr lang="en-US" sz="1300" b="1" i="1" dirty="0">
                <a:solidFill>
                  <a:srgbClr val="B85042"/>
                </a:solidFill>
                <a:latin typeface="Cambria" pitchFamily="34" charset="0"/>
                <a:ea typeface="Cambria" pitchFamily="34" charset="-122"/>
                <a:cs typeface="Cambria" pitchFamily="34" charset="-120"/>
              </a:rPr>
              <a:t>0 ≤ fₛ ≤ μₛN</a:t>
            </a:r>
            <a:endParaRPr lang="en-US" sz="1300" dirty="0"/>
          </a:p>
        </p:txBody>
      </p:sp>
      <p:sp>
        <p:nvSpPr>
          <p:cNvPr id="11" name="Text 9"/>
          <p:cNvSpPr/>
          <p:nvPr/>
        </p:nvSpPr>
        <p:spPr>
          <a:xfrm>
            <a:off x="548640" y="3376039"/>
            <a:ext cx="1874520" cy="201168"/>
          </a:xfrm>
          <a:prstGeom prst="rect">
            <a:avLst/>
          </a:prstGeom>
          <a:noFill/>
          <a:ln/>
        </p:spPr>
        <p:txBody>
          <a:bodyPr wrap="square" lIns="0" tIns="0" rIns="0" bIns="0"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Maximum just before sliding</a:t>
            </a:r>
            <a:endParaRPr lang="en-US" sz="900" dirty="0"/>
          </a:p>
        </p:txBody>
      </p:sp>
      <p:sp>
        <p:nvSpPr>
          <p:cNvPr id="12" name="Shape 10"/>
          <p:cNvSpPr/>
          <p:nvPr/>
        </p:nvSpPr>
        <p:spPr>
          <a:xfrm>
            <a:off x="2633472" y="932688"/>
            <a:ext cx="2057400" cy="4023360"/>
          </a:xfrm>
          <a:prstGeom prst="roundRect">
            <a:avLst>
              <a:gd name="adj" fmla="val 4444"/>
            </a:avLst>
          </a:prstGeom>
          <a:solidFill>
            <a:srgbClr val="FFFFFF"/>
          </a:solidFill>
          <a:ln w="12700">
            <a:solidFill>
              <a:srgbClr val="E5E0D8"/>
            </a:solidFill>
            <a:prstDash val="solid"/>
          </a:ln>
          <a:effectLst>
            <a:outerShdw blurRad="76200" dist="38100" dir="8100000" algn="bl" rotWithShape="0">
              <a:srgbClr val="000000">
                <a:alpha val="12000"/>
              </a:srgbClr>
            </a:outerShdw>
          </a:effectLst>
        </p:spPr>
      </p:sp>
      <p:sp>
        <p:nvSpPr>
          <p:cNvPr id="13" name="Shape 11"/>
          <p:cNvSpPr/>
          <p:nvPr/>
        </p:nvSpPr>
        <p:spPr>
          <a:xfrm>
            <a:off x="2633472" y="932688"/>
            <a:ext cx="2057400" cy="548640"/>
          </a:xfrm>
          <a:prstGeom prst="roundRect">
            <a:avLst>
              <a:gd name="adj" fmla="val 16667"/>
            </a:avLst>
          </a:prstGeom>
          <a:solidFill>
            <a:srgbClr val="C9974C"/>
          </a:solidFill>
          <a:ln w="12700">
            <a:solidFill>
              <a:srgbClr val="C9974C"/>
            </a:solidFill>
            <a:prstDash val="solid"/>
          </a:ln>
        </p:spPr>
      </p:sp>
      <p:sp>
        <p:nvSpPr>
          <p:cNvPr id="14" name="Shape 12"/>
          <p:cNvSpPr/>
          <p:nvPr/>
        </p:nvSpPr>
        <p:spPr>
          <a:xfrm>
            <a:off x="2633472" y="1280160"/>
            <a:ext cx="2057400" cy="201168"/>
          </a:xfrm>
          <a:prstGeom prst="rect">
            <a:avLst/>
          </a:prstGeom>
          <a:solidFill>
            <a:srgbClr val="C9974C"/>
          </a:solidFill>
          <a:ln w="12700">
            <a:solidFill>
              <a:srgbClr val="C9974C"/>
            </a:solidFill>
            <a:prstDash val="solid"/>
          </a:ln>
        </p:spPr>
      </p:sp>
      <p:sp>
        <p:nvSpPr>
          <p:cNvPr id="15" name="Text 13"/>
          <p:cNvSpPr/>
          <p:nvPr/>
        </p:nvSpPr>
        <p:spPr>
          <a:xfrm>
            <a:off x="2633472" y="969264"/>
            <a:ext cx="2057400" cy="475488"/>
          </a:xfrm>
          <a:prstGeom prst="rect">
            <a:avLst/>
          </a:prstGeom>
          <a:noFill/>
          <a:ln/>
        </p:spPr>
        <p:txBody>
          <a:bodyPr wrap="square" lIns="0" tIns="0" rIns="0" bIns="0" rtlCol="0" anchor="ctr"/>
          <a:lstStyle/>
          <a:p>
            <a:pPr marL="0" indent="0" algn="ctr">
              <a:buNone/>
            </a:pPr>
            <a:r>
              <a:rPr lang="en-US" sz="2200" b="1" i="1" dirty="0">
                <a:solidFill>
                  <a:srgbClr val="FFFFFF"/>
                </a:solidFill>
                <a:latin typeface="Cambria" pitchFamily="34" charset="0"/>
                <a:ea typeface="Cambria" pitchFamily="34" charset="-122"/>
                <a:cs typeface="Cambria" pitchFamily="34" charset="-120"/>
              </a:rPr>
              <a:t>fₖ</a:t>
            </a:r>
            <a:endParaRPr lang="en-US" sz="2200" dirty="0"/>
          </a:p>
        </p:txBody>
      </p:sp>
      <p:sp>
        <p:nvSpPr>
          <p:cNvPr id="16" name="Text 14"/>
          <p:cNvSpPr/>
          <p:nvPr/>
        </p:nvSpPr>
        <p:spPr>
          <a:xfrm>
            <a:off x="2724912" y="1554480"/>
            <a:ext cx="1874520" cy="402336"/>
          </a:xfrm>
          <a:prstGeom prst="rect">
            <a:avLst/>
          </a:prstGeom>
          <a:noFill/>
          <a:ln/>
        </p:spPr>
        <p:txBody>
          <a:bodyPr wrap="square" lIns="0" tIns="0" rIns="0" bIns="0" rtlCol="0" anchor="ctr"/>
          <a:lstStyle/>
          <a:p>
            <a:pPr marL="0" indent="0">
              <a:buNone/>
            </a:pPr>
            <a:r>
              <a:rPr lang="en-US" sz="1200" b="1" dirty="0">
                <a:solidFill>
                  <a:srgbClr val="C9974C"/>
                </a:solidFill>
                <a:latin typeface="Georgia" pitchFamily="34" charset="0"/>
                <a:ea typeface="Georgia" pitchFamily="34" charset="-122"/>
                <a:cs typeface="Georgia" pitchFamily="34" charset="-120"/>
              </a:rPr>
              <a:t>Kinetic (Sliding) Friction</a:t>
            </a:r>
            <a:endParaRPr lang="en-US" sz="1200" dirty="0"/>
          </a:p>
        </p:txBody>
      </p:sp>
      <p:sp>
        <p:nvSpPr>
          <p:cNvPr id="17" name="Text 15"/>
          <p:cNvSpPr/>
          <p:nvPr/>
        </p:nvSpPr>
        <p:spPr>
          <a:xfrm>
            <a:off x="2697480" y="1632204"/>
            <a:ext cx="1874520" cy="1554480"/>
          </a:xfrm>
          <a:prstGeom prst="rect">
            <a:avLst/>
          </a:prstGeom>
          <a:noFill/>
          <a:ln/>
        </p:spPr>
        <p:txBody>
          <a:bodyPr wrap="square" lIns="0" tIns="0" rIns="0" bIns="0" rtlCol="0" anchor="ctr"/>
          <a:lstStyle/>
          <a:p>
            <a:pPr marL="0" indent="0">
              <a:buNone/>
            </a:pPr>
            <a:r>
              <a:rPr lang="en-US" sz="1050" dirty="0">
                <a:solidFill>
                  <a:srgbClr val="4A4A4A"/>
                </a:solidFill>
                <a:latin typeface="Calibri" pitchFamily="34" charset="0"/>
                <a:ea typeface="Calibri" pitchFamily="34" charset="-122"/>
                <a:cs typeface="Calibri" pitchFamily="34" charset="-120"/>
              </a:rPr>
              <a:t>Acts when surfaces slide against each other. Constant magnitude for given surfaces and normal force. Always less than maximum static friction.</a:t>
            </a:r>
            <a:endParaRPr lang="en-US" sz="1050" dirty="0"/>
          </a:p>
        </p:txBody>
      </p:sp>
      <p:sp>
        <p:nvSpPr>
          <p:cNvPr id="18" name="Shape 16"/>
          <p:cNvSpPr/>
          <p:nvPr/>
        </p:nvSpPr>
        <p:spPr>
          <a:xfrm>
            <a:off x="2697480" y="2817685"/>
            <a:ext cx="1874520" cy="475488"/>
          </a:xfrm>
          <a:prstGeom prst="rect">
            <a:avLst/>
          </a:prstGeom>
          <a:solidFill>
            <a:srgbClr val="C9974C">
              <a:alpha val="15000"/>
            </a:srgbClr>
          </a:solidFill>
          <a:ln w="12700">
            <a:solidFill>
              <a:srgbClr val="C9974C"/>
            </a:solidFill>
            <a:prstDash val="solid"/>
          </a:ln>
        </p:spPr>
      </p:sp>
      <p:sp>
        <p:nvSpPr>
          <p:cNvPr id="19" name="Text 17"/>
          <p:cNvSpPr/>
          <p:nvPr/>
        </p:nvSpPr>
        <p:spPr>
          <a:xfrm>
            <a:off x="2724912" y="3035808"/>
            <a:ext cx="1874520" cy="274320"/>
          </a:xfrm>
          <a:prstGeom prst="rect">
            <a:avLst/>
          </a:prstGeom>
          <a:noFill/>
          <a:ln/>
        </p:spPr>
        <p:txBody>
          <a:bodyPr wrap="square" lIns="0" tIns="0" rIns="0" bIns="0" rtlCol="0" anchor="ctr"/>
          <a:lstStyle/>
          <a:p>
            <a:pPr marL="0" indent="0" algn="ctr">
              <a:buNone/>
            </a:pPr>
            <a:r>
              <a:rPr lang="en-US" sz="1300" b="1" i="1" dirty="0">
                <a:solidFill>
                  <a:srgbClr val="C9974C"/>
                </a:solidFill>
                <a:latin typeface="Cambria" pitchFamily="34" charset="0"/>
                <a:ea typeface="Cambria" pitchFamily="34" charset="-122"/>
                <a:cs typeface="Cambria" pitchFamily="34" charset="-120"/>
              </a:rPr>
              <a:t>fₖ = μₖN</a:t>
            </a:r>
            <a:endParaRPr lang="en-US" sz="1300" dirty="0"/>
          </a:p>
        </p:txBody>
      </p:sp>
      <p:sp>
        <p:nvSpPr>
          <p:cNvPr id="20" name="Text 18"/>
          <p:cNvSpPr/>
          <p:nvPr/>
        </p:nvSpPr>
        <p:spPr>
          <a:xfrm>
            <a:off x="2633472" y="3310128"/>
            <a:ext cx="1874520" cy="201168"/>
          </a:xfrm>
          <a:prstGeom prst="rect">
            <a:avLst/>
          </a:prstGeom>
          <a:noFill/>
          <a:ln/>
        </p:spPr>
        <p:txBody>
          <a:bodyPr wrap="square" lIns="0" tIns="0" rIns="0" bIns="0"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μₖ &lt; μₛ always</a:t>
            </a:r>
            <a:endParaRPr lang="en-US" sz="900" dirty="0"/>
          </a:p>
        </p:txBody>
      </p:sp>
      <p:sp>
        <p:nvSpPr>
          <p:cNvPr id="21" name="Shape 19"/>
          <p:cNvSpPr/>
          <p:nvPr/>
        </p:nvSpPr>
        <p:spPr>
          <a:xfrm>
            <a:off x="4809744" y="932688"/>
            <a:ext cx="2057400" cy="4023360"/>
          </a:xfrm>
          <a:prstGeom prst="roundRect">
            <a:avLst>
              <a:gd name="adj" fmla="val 4444"/>
            </a:avLst>
          </a:prstGeom>
          <a:solidFill>
            <a:srgbClr val="FFFFFF"/>
          </a:solidFill>
          <a:ln w="12700">
            <a:solidFill>
              <a:srgbClr val="E5E0D8"/>
            </a:solidFill>
            <a:prstDash val="solid"/>
          </a:ln>
          <a:effectLst>
            <a:outerShdw blurRad="76200" dist="38100" dir="8100000" algn="bl" rotWithShape="0">
              <a:srgbClr val="000000">
                <a:alpha val="12000"/>
              </a:srgbClr>
            </a:outerShdw>
          </a:effectLst>
        </p:spPr>
      </p:sp>
      <p:sp>
        <p:nvSpPr>
          <p:cNvPr id="22" name="Shape 20"/>
          <p:cNvSpPr/>
          <p:nvPr/>
        </p:nvSpPr>
        <p:spPr>
          <a:xfrm>
            <a:off x="4809744" y="932688"/>
            <a:ext cx="2057400" cy="548640"/>
          </a:xfrm>
          <a:prstGeom prst="roundRect">
            <a:avLst>
              <a:gd name="adj" fmla="val 16667"/>
            </a:avLst>
          </a:prstGeom>
          <a:solidFill>
            <a:srgbClr val="2A7F7F"/>
          </a:solidFill>
          <a:ln w="12700">
            <a:solidFill>
              <a:srgbClr val="2A7F7F"/>
            </a:solidFill>
            <a:prstDash val="solid"/>
          </a:ln>
        </p:spPr>
      </p:sp>
      <p:sp>
        <p:nvSpPr>
          <p:cNvPr id="23" name="Shape 21"/>
          <p:cNvSpPr/>
          <p:nvPr/>
        </p:nvSpPr>
        <p:spPr>
          <a:xfrm>
            <a:off x="4809744" y="1280160"/>
            <a:ext cx="2057400" cy="201168"/>
          </a:xfrm>
          <a:prstGeom prst="rect">
            <a:avLst/>
          </a:prstGeom>
          <a:solidFill>
            <a:srgbClr val="2A7F7F"/>
          </a:solidFill>
          <a:ln w="12700">
            <a:solidFill>
              <a:srgbClr val="2A7F7F"/>
            </a:solidFill>
            <a:prstDash val="solid"/>
          </a:ln>
        </p:spPr>
      </p:sp>
      <p:sp>
        <p:nvSpPr>
          <p:cNvPr id="24" name="Text 22"/>
          <p:cNvSpPr/>
          <p:nvPr/>
        </p:nvSpPr>
        <p:spPr>
          <a:xfrm>
            <a:off x="4809744" y="969264"/>
            <a:ext cx="2057400" cy="475488"/>
          </a:xfrm>
          <a:prstGeom prst="rect">
            <a:avLst/>
          </a:prstGeom>
          <a:noFill/>
          <a:ln/>
        </p:spPr>
        <p:txBody>
          <a:bodyPr wrap="square" lIns="0" tIns="0" rIns="0" bIns="0" rtlCol="0" anchor="ctr"/>
          <a:lstStyle/>
          <a:p>
            <a:pPr marL="0" indent="0" algn="ctr">
              <a:buNone/>
            </a:pPr>
            <a:r>
              <a:rPr lang="en-US" sz="2200" b="1" i="1" dirty="0">
                <a:solidFill>
                  <a:srgbClr val="FFFFFF"/>
                </a:solidFill>
                <a:latin typeface="Cambria" pitchFamily="34" charset="0"/>
                <a:ea typeface="Cambria" pitchFamily="34" charset="-122"/>
                <a:cs typeface="Cambria" pitchFamily="34" charset="-120"/>
              </a:rPr>
              <a:t>fᵣ</a:t>
            </a:r>
            <a:endParaRPr lang="en-US" sz="2200" dirty="0"/>
          </a:p>
        </p:txBody>
      </p:sp>
      <p:sp>
        <p:nvSpPr>
          <p:cNvPr id="25" name="Text 23"/>
          <p:cNvSpPr/>
          <p:nvPr/>
        </p:nvSpPr>
        <p:spPr>
          <a:xfrm>
            <a:off x="4901184" y="1554480"/>
            <a:ext cx="1874520" cy="402336"/>
          </a:xfrm>
          <a:prstGeom prst="rect">
            <a:avLst/>
          </a:prstGeom>
          <a:noFill/>
          <a:ln/>
        </p:spPr>
        <p:txBody>
          <a:bodyPr wrap="square" lIns="0" tIns="0" rIns="0" bIns="0" rtlCol="0" anchor="ctr"/>
          <a:lstStyle/>
          <a:p>
            <a:pPr marL="0" indent="0">
              <a:buNone/>
            </a:pPr>
            <a:r>
              <a:rPr lang="en-US" sz="1200" b="1" dirty="0">
                <a:solidFill>
                  <a:srgbClr val="2A7F7F"/>
                </a:solidFill>
                <a:latin typeface="Georgia" pitchFamily="34" charset="0"/>
                <a:ea typeface="Georgia" pitchFamily="34" charset="-122"/>
                <a:cs typeface="Georgia" pitchFamily="34" charset="-120"/>
              </a:rPr>
              <a:t>Rolling Friction</a:t>
            </a:r>
            <a:endParaRPr lang="en-US" sz="1200" dirty="0"/>
          </a:p>
        </p:txBody>
      </p:sp>
      <p:sp>
        <p:nvSpPr>
          <p:cNvPr id="26" name="Text 24"/>
          <p:cNvSpPr/>
          <p:nvPr/>
        </p:nvSpPr>
        <p:spPr>
          <a:xfrm>
            <a:off x="4847463" y="1554480"/>
            <a:ext cx="1874520" cy="1554480"/>
          </a:xfrm>
          <a:prstGeom prst="rect">
            <a:avLst/>
          </a:prstGeom>
          <a:noFill/>
          <a:ln/>
        </p:spPr>
        <p:txBody>
          <a:bodyPr wrap="square" lIns="0" tIns="0" rIns="0" bIns="0" rtlCol="0" anchor="ctr"/>
          <a:lstStyle/>
          <a:p>
            <a:pPr marL="0" indent="0">
              <a:buNone/>
            </a:pPr>
            <a:r>
              <a:rPr lang="en-US" sz="1050" dirty="0">
                <a:solidFill>
                  <a:srgbClr val="4A4A4A"/>
                </a:solidFill>
                <a:latin typeface="Calibri" pitchFamily="34" charset="0"/>
                <a:ea typeface="Calibri" pitchFamily="34" charset="-122"/>
                <a:cs typeface="Calibri" pitchFamily="34" charset="-120"/>
              </a:rPr>
              <a:t>Opposes rolling motion. Much smaller than sliding friction. Due to deformation of the surface and rolling object at the contact zone (hysteresis).</a:t>
            </a:r>
            <a:endParaRPr lang="en-US" sz="1050" dirty="0"/>
          </a:p>
        </p:txBody>
      </p:sp>
      <p:sp>
        <p:nvSpPr>
          <p:cNvPr id="27" name="Shape 25"/>
          <p:cNvSpPr/>
          <p:nvPr/>
        </p:nvSpPr>
        <p:spPr>
          <a:xfrm>
            <a:off x="4847463" y="2770632"/>
            <a:ext cx="1874520" cy="475488"/>
          </a:xfrm>
          <a:prstGeom prst="rect">
            <a:avLst/>
          </a:prstGeom>
          <a:solidFill>
            <a:srgbClr val="2A7F7F">
              <a:alpha val="15000"/>
            </a:srgbClr>
          </a:solidFill>
          <a:ln w="12700">
            <a:solidFill>
              <a:srgbClr val="2A7F7F"/>
            </a:solidFill>
            <a:prstDash val="solid"/>
          </a:ln>
        </p:spPr>
      </p:sp>
      <p:sp>
        <p:nvSpPr>
          <p:cNvPr id="28" name="Text 26"/>
          <p:cNvSpPr/>
          <p:nvPr/>
        </p:nvSpPr>
        <p:spPr>
          <a:xfrm>
            <a:off x="4793742" y="2762250"/>
            <a:ext cx="1874520" cy="274320"/>
          </a:xfrm>
          <a:prstGeom prst="rect">
            <a:avLst/>
          </a:prstGeom>
          <a:noFill/>
          <a:ln/>
        </p:spPr>
        <p:txBody>
          <a:bodyPr wrap="square" lIns="0" tIns="0" rIns="0" bIns="0" rtlCol="0" anchor="ctr"/>
          <a:lstStyle/>
          <a:p>
            <a:pPr marL="0" indent="0" algn="ctr">
              <a:buNone/>
            </a:pPr>
            <a:r>
              <a:rPr lang="en-US" sz="1300" b="1" i="1" dirty="0">
                <a:solidFill>
                  <a:srgbClr val="2A7F7F"/>
                </a:solidFill>
                <a:latin typeface="Cambria" pitchFamily="34" charset="0"/>
                <a:ea typeface="Cambria" pitchFamily="34" charset="-122"/>
                <a:cs typeface="Cambria" pitchFamily="34" charset="-120"/>
              </a:rPr>
              <a:t>fᵣ = μᵣN</a:t>
            </a:r>
            <a:endParaRPr lang="en-US" sz="1300" dirty="0"/>
          </a:p>
        </p:txBody>
      </p:sp>
      <p:sp>
        <p:nvSpPr>
          <p:cNvPr id="29" name="Text 27"/>
          <p:cNvSpPr/>
          <p:nvPr/>
        </p:nvSpPr>
        <p:spPr>
          <a:xfrm>
            <a:off x="4847463" y="3264408"/>
            <a:ext cx="1874520" cy="201168"/>
          </a:xfrm>
          <a:prstGeom prst="rect">
            <a:avLst/>
          </a:prstGeom>
          <a:noFill/>
          <a:ln/>
        </p:spPr>
        <p:txBody>
          <a:bodyPr wrap="square" lIns="0" tIns="0" rIns="0" bIns="0"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μᵣ ≪ μₖ ≪ μₛ</a:t>
            </a:r>
            <a:endParaRPr lang="en-US" sz="900" dirty="0"/>
          </a:p>
        </p:txBody>
      </p:sp>
      <p:sp>
        <p:nvSpPr>
          <p:cNvPr id="30" name="Shape 28"/>
          <p:cNvSpPr/>
          <p:nvPr/>
        </p:nvSpPr>
        <p:spPr>
          <a:xfrm>
            <a:off x="6986016" y="932688"/>
            <a:ext cx="2057400" cy="4023360"/>
          </a:xfrm>
          <a:prstGeom prst="roundRect">
            <a:avLst>
              <a:gd name="adj" fmla="val 4444"/>
            </a:avLst>
          </a:prstGeom>
          <a:solidFill>
            <a:srgbClr val="FFFFFF"/>
          </a:solidFill>
          <a:ln w="12700">
            <a:solidFill>
              <a:srgbClr val="E5E0D8"/>
            </a:solidFill>
            <a:prstDash val="solid"/>
          </a:ln>
          <a:effectLst>
            <a:outerShdw blurRad="76200" dist="38100" dir="8100000" algn="bl" rotWithShape="0">
              <a:srgbClr val="000000">
                <a:alpha val="12000"/>
              </a:srgbClr>
            </a:outerShdw>
          </a:effectLst>
        </p:spPr>
      </p:sp>
      <p:sp>
        <p:nvSpPr>
          <p:cNvPr id="31" name="Shape 29"/>
          <p:cNvSpPr/>
          <p:nvPr/>
        </p:nvSpPr>
        <p:spPr>
          <a:xfrm>
            <a:off x="6986016" y="932688"/>
            <a:ext cx="2057400" cy="548640"/>
          </a:xfrm>
          <a:prstGeom prst="roundRect">
            <a:avLst>
              <a:gd name="adj" fmla="val 16667"/>
            </a:avLst>
          </a:prstGeom>
          <a:solidFill>
            <a:srgbClr val="1E3A5F"/>
          </a:solidFill>
          <a:ln w="12700">
            <a:solidFill>
              <a:srgbClr val="1E3A5F"/>
            </a:solidFill>
            <a:prstDash val="solid"/>
          </a:ln>
        </p:spPr>
      </p:sp>
      <p:sp>
        <p:nvSpPr>
          <p:cNvPr id="32" name="Shape 30"/>
          <p:cNvSpPr/>
          <p:nvPr/>
        </p:nvSpPr>
        <p:spPr>
          <a:xfrm>
            <a:off x="6986016" y="1280160"/>
            <a:ext cx="2057400" cy="201168"/>
          </a:xfrm>
          <a:prstGeom prst="rect">
            <a:avLst/>
          </a:prstGeom>
          <a:solidFill>
            <a:srgbClr val="1E3A5F"/>
          </a:solidFill>
          <a:ln w="12700">
            <a:solidFill>
              <a:srgbClr val="1E3A5F"/>
            </a:solidFill>
            <a:prstDash val="solid"/>
          </a:ln>
        </p:spPr>
      </p:sp>
      <p:sp>
        <p:nvSpPr>
          <p:cNvPr id="33" name="Text 31"/>
          <p:cNvSpPr/>
          <p:nvPr/>
        </p:nvSpPr>
        <p:spPr>
          <a:xfrm>
            <a:off x="6986016" y="969264"/>
            <a:ext cx="2057400" cy="475488"/>
          </a:xfrm>
          <a:prstGeom prst="rect">
            <a:avLst/>
          </a:prstGeom>
          <a:noFill/>
          <a:ln/>
        </p:spPr>
        <p:txBody>
          <a:bodyPr wrap="square" lIns="0" tIns="0" rIns="0" bIns="0" rtlCol="0" anchor="ctr"/>
          <a:lstStyle/>
          <a:p>
            <a:pPr marL="0" indent="0" algn="ctr">
              <a:buNone/>
            </a:pPr>
            <a:r>
              <a:rPr lang="en-US" sz="2200" b="1" i="1" dirty="0">
                <a:solidFill>
                  <a:srgbClr val="FFFFFF"/>
                </a:solidFill>
                <a:latin typeface="Cambria" pitchFamily="34" charset="0"/>
                <a:ea typeface="Cambria" pitchFamily="34" charset="-122"/>
                <a:cs typeface="Cambria" pitchFamily="34" charset="-120"/>
              </a:rPr>
              <a:t>Fd</a:t>
            </a:r>
            <a:endParaRPr lang="en-US" sz="2200" dirty="0"/>
          </a:p>
        </p:txBody>
      </p:sp>
      <p:sp>
        <p:nvSpPr>
          <p:cNvPr id="34" name="Text 32"/>
          <p:cNvSpPr/>
          <p:nvPr/>
        </p:nvSpPr>
        <p:spPr>
          <a:xfrm>
            <a:off x="7077456" y="1554480"/>
            <a:ext cx="1874520" cy="402336"/>
          </a:xfrm>
          <a:prstGeom prst="rect">
            <a:avLst/>
          </a:prstGeom>
          <a:noFill/>
          <a:ln/>
        </p:spPr>
        <p:txBody>
          <a:bodyPr wrap="square" lIns="0" tIns="0" rIns="0" bIns="0" rtlCol="0" anchor="ctr"/>
          <a:lstStyle/>
          <a:p>
            <a:pPr marL="0" indent="0">
              <a:buNone/>
            </a:pPr>
            <a:r>
              <a:rPr lang="en-US" sz="1200" b="1" dirty="0">
                <a:solidFill>
                  <a:srgbClr val="1E3A5F"/>
                </a:solidFill>
                <a:latin typeface="Georgia" pitchFamily="34" charset="0"/>
                <a:ea typeface="Georgia" pitchFamily="34" charset="-122"/>
                <a:cs typeface="Georgia" pitchFamily="34" charset="-120"/>
              </a:rPr>
              <a:t>Fluid Friction (Drag)</a:t>
            </a:r>
            <a:endParaRPr lang="en-US" sz="1200" dirty="0"/>
          </a:p>
        </p:txBody>
      </p:sp>
      <p:sp>
        <p:nvSpPr>
          <p:cNvPr id="35" name="Text 33"/>
          <p:cNvSpPr/>
          <p:nvPr/>
        </p:nvSpPr>
        <p:spPr>
          <a:xfrm>
            <a:off x="7077456" y="1482090"/>
            <a:ext cx="1874520" cy="1554480"/>
          </a:xfrm>
          <a:prstGeom prst="rect">
            <a:avLst/>
          </a:prstGeom>
          <a:noFill/>
          <a:ln/>
        </p:spPr>
        <p:txBody>
          <a:bodyPr wrap="square" lIns="0" tIns="0" rIns="0" bIns="0" rtlCol="0" anchor="ctr"/>
          <a:lstStyle/>
          <a:p>
            <a:pPr marL="0" indent="0">
              <a:buNone/>
            </a:pPr>
            <a:r>
              <a:rPr lang="en-US" sz="1050" dirty="0">
                <a:solidFill>
                  <a:srgbClr val="4A4A4A"/>
                </a:solidFill>
                <a:latin typeface="Calibri" pitchFamily="34" charset="0"/>
                <a:ea typeface="Calibri" pitchFamily="34" charset="-122"/>
                <a:cs typeface="Calibri" pitchFamily="34" charset="-120"/>
              </a:rPr>
              <a:t>Acts on objects moving through fluids (liquids or gases). Depends on speed, fluid viscosity, and object shape. Basis of Stokes' Law.</a:t>
            </a:r>
            <a:endParaRPr lang="en-US" sz="1050" dirty="0"/>
          </a:p>
        </p:txBody>
      </p:sp>
      <p:sp>
        <p:nvSpPr>
          <p:cNvPr id="36" name="Shape 34"/>
          <p:cNvSpPr/>
          <p:nvPr/>
        </p:nvSpPr>
        <p:spPr>
          <a:xfrm>
            <a:off x="7123176" y="2743200"/>
            <a:ext cx="1874520" cy="475488"/>
          </a:xfrm>
          <a:prstGeom prst="rect">
            <a:avLst/>
          </a:prstGeom>
          <a:solidFill>
            <a:srgbClr val="1E3A5F">
              <a:alpha val="15000"/>
            </a:srgbClr>
          </a:solidFill>
          <a:ln w="12700">
            <a:solidFill>
              <a:srgbClr val="1E3A5F"/>
            </a:solidFill>
            <a:prstDash val="solid"/>
          </a:ln>
        </p:spPr>
      </p:sp>
      <p:sp>
        <p:nvSpPr>
          <p:cNvPr id="37" name="Text 35"/>
          <p:cNvSpPr/>
          <p:nvPr/>
        </p:nvSpPr>
        <p:spPr>
          <a:xfrm>
            <a:off x="7077456" y="2706624"/>
            <a:ext cx="1874520" cy="274320"/>
          </a:xfrm>
          <a:prstGeom prst="rect">
            <a:avLst/>
          </a:prstGeom>
          <a:noFill/>
          <a:ln/>
        </p:spPr>
        <p:txBody>
          <a:bodyPr wrap="square" lIns="0" tIns="0" rIns="0" bIns="0" rtlCol="0" anchor="ctr"/>
          <a:lstStyle/>
          <a:p>
            <a:pPr marL="0" indent="0" algn="ctr">
              <a:buNone/>
            </a:pPr>
            <a:r>
              <a:rPr lang="en-US" sz="1300" b="1" i="1" dirty="0">
                <a:solidFill>
                  <a:srgbClr val="1E3A5F"/>
                </a:solidFill>
                <a:latin typeface="Cambria" pitchFamily="34" charset="0"/>
                <a:ea typeface="Cambria" pitchFamily="34" charset="-122"/>
                <a:cs typeface="Cambria" pitchFamily="34" charset="-120"/>
              </a:rPr>
              <a:t>Fd = 6πηrv</a:t>
            </a:r>
            <a:endParaRPr lang="en-US" sz="1300" dirty="0"/>
          </a:p>
        </p:txBody>
      </p:sp>
      <p:sp>
        <p:nvSpPr>
          <p:cNvPr id="38" name="Text 36"/>
          <p:cNvSpPr/>
          <p:nvPr/>
        </p:nvSpPr>
        <p:spPr>
          <a:xfrm>
            <a:off x="7168896" y="3194304"/>
            <a:ext cx="1874520" cy="201168"/>
          </a:xfrm>
          <a:prstGeom prst="rect">
            <a:avLst/>
          </a:prstGeom>
          <a:noFill/>
          <a:ln/>
        </p:spPr>
        <p:txBody>
          <a:bodyPr wrap="square" lIns="0" tIns="0" rIns="0" bIns="0"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Stokes' Law (spheres)</a:t>
            </a:r>
            <a:endParaRPr lang="en-US" sz="900" dirty="0"/>
          </a:p>
        </p:txBody>
      </p:sp>
      <p:sp>
        <p:nvSpPr>
          <p:cNvPr id="39" name="Shape 37"/>
          <p:cNvSpPr/>
          <p:nvPr/>
        </p:nvSpPr>
        <p:spPr>
          <a:xfrm>
            <a:off x="457200" y="4892040"/>
            <a:ext cx="8229600" cy="0"/>
          </a:xfrm>
          <a:prstGeom prst="rect">
            <a:avLst/>
          </a:prstGeom>
          <a:solidFill>
            <a:srgbClr val="B85042"/>
          </a:solidFill>
          <a:ln w="12700">
            <a:solidFill>
              <a:srgbClr val="B85042"/>
            </a:solidFill>
            <a:prstDash val="solid"/>
          </a:ln>
        </p:spPr>
      </p:sp>
      <p:pic>
        <p:nvPicPr>
          <p:cNvPr id="3074" name="Picture 2" descr="Frictional forces according to the ...">
            <a:extLst>
              <a:ext uri="{FF2B5EF4-FFF2-40B4-BE49-F238E27FC236}">
                <a16:creationId xmlns:a16="http://schemas.microsoft.com/office/drawing/2014/main" id="{559CFD59-47D0-48BC-A56C-EABE22DC70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5869" y="3706177"/>
            <a:ext cx="4257675" cy="10763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8309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marL="0" indent="0">
              <a:buNone/>
            </a:pPr>
            <a:r>
              <a:rPr lang="en-US" sz="3200" b="1" dirty="0">
                <a:solidFill>
                  <a:srgbClr val="2C2C2C"/>
                </a:solidFill>
                <a:latin typeface="Georgia" pitchFamily="34" charset="0"/>
                <a:ea typeface="Georgia" pitchFamily="34" charset="-122"/>
                <a:cs typeface="Georgia" pitchFamily="34" charset="-120"/>
              </a:rPr>
              <a:t>Laws of Friction (Amonton &amp; Coulomb)</a:t>
            </a:r>
            <a:endParaRPr lang="en-US" sz="3200" dirty="0"/>
          </a:p>
        </p:txBody>
      </p:sp>
      <p:sp>
        <p:nvSpPr>
          <p:cNvPr id="3" name="Shape 1"/>
          <p:cNvSpPr/>
          <p:nvPr/>
        </p:nvSpPr>
        <p:spPr>
          <a:xfrm>
            <a:off x="457200" y="960120"/>
            <a:ext cx="4114800" cy="1874520"/>
          </a:xfrm>
          <a:prstGeom prst="roundRect">
            <a:avLst>
              <a:gd name="adj" fmla="val 4878"/>
            </a:avLst>
          </a:prstGeom>
          <a:solidFill>
            <a:srgbClr val="FFFFFF"/>
          </a:solidFill>
          <a:ln w="12700">
            <a:solidFill>
              <a:srgbClr val="E5E0D8"/>
            </a:solidFill>
            <a:prstDash val="solid"/>
          </a:ln>
          <a:effectLst>
            <a:outerShdw blurRad="76200" dist="38100" dir="8100000" algn="bl" rotWithShape="0">
              <a:srgbClr val="000000">
                <a:alpha val="12000"/>
              </a:srgbClr>
            </a:outerShdw>
          </a:effectLst>
        </p:spPr>
      </p:sp>
      <p:sp>
        <p:nvSpPr>
          <p:cNvPr id="4" name="Shape 2"/>
          <p:cNvSpPr/>
          <p:nvPr/>
        </p:nvSpPr>
        <p:spPr>
          <a:xfrm>
            <a:off x="457200" y="960120"/>
            <a:ext cx="4114800" cy="502920"/>
          </a:xfrm>
          <a:prstGeom prst="roundRect">
            <a:avLst>
              <a:gd name="adj" fmla="val 18182"/>
            </a:avLst>
          </a:prstGeom>
          <a:solidFill>
            <a:srgbClr val="B85042"/>
          </a:solidFill>
          <a:ln w="12700">
            <a:solidFill>
              <a:srgbClr val="B85042"/>
            </a:solidFill>
            <a:prstDash val="solid"/>
          </a:ln>
        </p:spPr>
      </p:sp>
      <p:sp>
        <p:nvSpPr>
          <p:cNvPr id="5" name="Shape 3"/>
          <p:cNvSpPr/>
          <p:nvPr/>
        </p:nvSpPr>
        <p:spPr>
          <a:xfrm>
            <a:off x="457200" y="1280160"/>
            <a:ext cx="4114800" cy="182880"/>
          </a:xfrm>
          <a:prstGeom prst="rect">
            <a:avLst/>
          </a:prstGeom>
          <a:solidFill>
            <a:srgbClr val="B85042"/>
          </a:solidFill>
          <a:ln w="12700">
            <a:solidFill>
              <a:srgbClr val="B85042"/>
            </a:solidFill>
            <a:prstDash val="solid"/>
          </a:ln>
        </p:spPr>
      </p:sp>
      <p:sp>
        <p:nvSpPr>
          <p:cNvPr id="6" name="Text 4"/>
          <p:cNvSpPr/>
          <p:nvPr/>
        </p:nvSpPr>
        <p:spPr>
          <a:xfrm>
            <a:off x="457200" y="996696"/>
            <a:ext cx="1005840"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LAW I</a:t>
            </a:r>
            <a:endParaRPr lang="en-US" sz="1600" dirty="0"/>
          </a:p>
        </p:txBody>
      </p:sp>
      <p:sp>
        <p:nvSpPr>
          <p:cNvPr id="7" name="Text 5"/>
          <p:cNvSpPr/>
          <p:nvPr/>
        </p:nvSpPr>
        <p:spPr>
          <a:xfrm>
            <a:off x="1508760" y="1014984"/>
            <a:ext cx="2971800" cy="402336"/>
          </a:xfrm>
          <a:prstGeom prst="rect">
            <a:avLst/>
          </a:prstGeom>
          <a:noFill/>
          <a:ln/>
        </p:spPr>
        <p:txBody>
          <a:bodyPr wrap="square" lIns="0" tIns="0" rIns="0" bIns="0" rtlCol="0" anchor="ctr"/>
          <a:lstStyle/>
          <a:p>
            <a:pPr marL="0" indent="0">
              <a:buNone/>
            </a:pPr>
            <a:r>
              <a:rPr lang="en-US" sz="1200" b="1" dirty="0">
                <a:solidFill>
                  <a:srgbClr val="FFFFFF"/>
                </a:solidFill>
                <a:latin typeface="Georgia" pitchFamily="34" charset="0"/>
                <a:ea typeface="Georgia" pitchFamily="34" charset="-122"/>
                <a:cs typeface="Georgia" pitchFamily="34" charset="-120"/>
              </a:rPr>
              <a:t>Friction ∝ Normal Force</a:t>
            </a:r>
            <a:endParaRPr lang="en-US" sz="1200" dirty="0"/>
          </a:p>
        </p:txBody>
      </p:sp>
      <p:sp>
        <p:nvSpPr>
          <p:cNvPr id="8" name="Text 6"/>
          <p:cNvSpPr/>
          <p:nvPr/>
        </p:nvSpPr>
        <p:spPr>
          <a:xfrm>
            <a:off x="585216" y="1554480"/>
            <a:ext cx="3858768" cy="804672"/>
          </a:xfrm>
          <a:prstGeom prst="rect">
            <a:avLst/>
          </a:prstGeom>
          <a:noFill/>
          <a:ln/>
        </p:spPr>
        <p:txBody>
          <a:bodyPr wrap="square" lIns="0" tIns="0" rIns="0" bIns="0" rtlCol="0" anchor="ctr"/>
          <a:lstStyle/>
          <a:p>
            <a:pPr marL="0" indent="0">
              <a:buNone/>
            </a:pPr>
            <a:r>
              <a:rPr lang="en-US" sz="1150" dirty="0">
                <a:solidFill>
                  <a:srgbClr val="4A4A4A"/>
                </a:solidFill>
                <a:latin typeface="Calibri" pitchFamily="34" charset="0"/>
                <a:ea typeface="Calibri" pitchFamily="34" charset="-122"/>
                <a:cs typeface="Calibri" pitchFamily="34" charset="-120"/>
              </a:rPr>
              <a:t>The force of friction is directly proportional to the normal force pressing the surfaces together. Double the weight → double the friction force.</a:t>
            </a:r>
            <a:endParaRPr lang="en-US" sz="1150" dirty="0"/>
          </a:p>
        </p:txBody>
      </p:sp>
      <p:sp>
        <p:nvSpPr>
          <p:cNvPr id="9" name="Shape 7"/>
          <p:cNvSpPr/>
          <p:nvPr/>
        </p:nvSpPr>
        <p:spPr>
          <a:xfrm>
            <a:off x="585216" y="2395728"/>
            <a:ext cx="3858768" cy="347472"/>
          </a:xfrm>
          <a:prstGeom prst="rect">
            <a:avLst/>
          </a:prstGeom>
          <a:solidFill>
            <a:srgbClr val="F5E6E4"/>
          </a:solidFill>
          <a:ln w="12700">
            <a:solidFill>
              <a:srgbClr val="B85042"/>
            </a:solidFill>
            <a:prstDash val="solid"/>
          </a:ln>
        </p:spPr>
      </p:sp>
      <p:sp>
        <p:nvSpPr>
          <p:cNvPr id="10" name="Text 8"/>
          <p:cNvSpPr/>
          <p:nvPr/>
        </p:nvSpPr>
        <p:spPr>
          <a:xfrm>
            <a:off x="585216" y="2395728"/>
            <a:ext cx="3858768" cy="347472"/>
          </a:xfrm>
          <a:prstGeom prst="rect">
            <a:avLst/>
          </a:prstGeom>
          <a:noFill/>
          <a:ln/>
        </p:spPr>
        <p:txBody>
          <a:bodyPr wrap="square" lIns="0" tIns="0" rIns="0" bIns="0" rtlCol="0" anchor="ctr"/>
          <a:lstStyle/>
          <a:p>
            <a:pPr marL="0" indent="0" algn="ctr">
              <a:buNone/>
            </a:pPr>
            <a:r>
              <a:rPr lang="en-US" sz="1400" b="1" i="1" dirty="0">
                <a:solidFill>
                  <a:srgbClr val="B85042"/>
                </a:solidFill>
                <a:latin typeface="Cambria" pitchFamily="34" charset="0"/>
                <a:ea typeface="Cambria" pitchFamily="34" charset="-122"/>
                <a:cs typeface="Cambria" pitchFamily="34" charset="-120"/>
              </a:rPr>
              <a:t>f ∝ N   →   f = μN</a:t>
            </a:r>
            <a:endParaRPr lang="en-US" sz="1400" dirty="0"/>
          </a:p>
        </p:txBody>
      </p:sp>
      <p:sp>
        <p:nvSpPr>
          <p:cNvPr id="11" name="Shape 9"/>
          <p:cNvSpPr/>
          <p:nvPr/>
        </p:nvSpPr>
        <p:spPr>
          <a:xfrm>
            <a:off x="4800600" y="960120"/>
            <a:ext cx="4114800" cy="1874520"/>
          </a:xfrm>
          <a:prstGeom prst="roundRect">
            <a:avLst>
              <a:gd name="adj" fmla="val 4878"/>
            </a:avLst>
          </a:prstGeom>
          <a:solidFill>
            <a:srgbClr val="FFFFFF"/>
          </a:solidFill>
          <a:ln w="12700">
            <a:solidFill>
              <a:srgbClr val="E5E0D8"/>
            </a:solidFill>
            <a:prstDash val="solid"/>
          </a:ln>
          <a:effectLst>
            <a:outerShdw blurRad="76200" dist="38100" dir="8100000" algn="bl" rotWithShape="0">
              <a:srgbClr val="000000">
                <a:alpha val="12000"/>
              </a:srgbClr>
            </a:outerShdw>
          </a:effectLst>
        </p:spPr>
      </p:sp>
      <p:sp>
        <p:nvSpPr>
          <p:cNvPr id="12" name="Shape 10"/>
          <p:cNvSpPr/>
          <p:nvPr/>
        </p:nvSpPr>
        <p:spPr>
          <a:xfrm>
            <a:off x="4800600" y="960120"/>
            <a:ext cx="4114800" cy="502920"/>
          </a:xfrm>
          <a:prstGeom prst="roundRect">
            <a:avLst>
              <a:gd name="adj" fmla="val 18182"/>
            </a:avLst>
          </a:prstGeom>
          <a:solidFill>
            <a:srgbClr val="B85042"/>
          </a:solidFill>
          <a:ln w="12700">
            <a:solidFill>
              <a:srgbClr val="B85042"/>
            </a:solidFill>
            <a:prstDash val="solid"/>
          </a:ln>
        </p:spPr>
      </p:sp>
      <p:sp>
        <p:nvSpPr>
          <p:cNvPr id="13" name="Shape 11"/>
          <p:cNvSpPr/>
          <p:nvPr/>
        </p:nvSpPr>
        <p:spPr>
          <a:xfrm>
            <a:off x="4800600" y="1280160"/>
            <a:ext cx="4114800" cy="182880"/>
          </a:xfrm>
          <a:prstGeom prst="rect">
            <a:avLst/>
          </a:prstGeom>
          <a:solidFill>
            <a:srgbClr val="B85042"/>
          </a:solidFill>
          <a:ln w="12700">
            <a:solidFill>
              <a:srgbClr val="B85042"/>
            </a:solidFill>
            <a:prstDash val="solid"/>
          </a:ln>
        </p:spPr>
      </p:sp>
      <p:sp>
        <p:nvSpPr>
          <p:cNvPr id="14" name="Text 12"/>
          <p:cNvSpPr/>
          <p:nvPr/>
        </p:nvSpPr>
        <p:spPr>
          <a:xfrm>
            <a:off x="4800600" y="996696"/>
            <a:ext cx="1005840"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LAW II</a:t>
            </a:r>
            <a:endParaRPr lang="en-US" sz="1600" dirty="0"/>
          </a:p>
        </p:txBody>
      </p:sp>
      <p:sp>
        <p:nvSpPr>
          <p:cNvPr id="15" name="Text 13"/>
          <p:cNvSpPr/>
          <p:nvPr/>
        </p:nvSpPr>
        <p:spPr>
          <a:xfrm>
            <a:off x="5852160" y="1014984"/>
            <a:ext cx="2971800" cy="402336"/>
          </a:xfrm>
          <a:prstGeom prst="rect">
            <a:avLst/>
          </a:prstGeom>
          <a:noFill/>
          <a:ln/>
        </p:spPr>
        <p:txBody>
          <a:bodyPr wrap="square" lIns="0" tIns="0" rIns="0" bIns="0" rtlCol="0" anchor="ctr"/>
          <a:lstStyle/>
          <a:p>
            <a:pPr marL="0" indent="0">
              <a:buNone/>
            </a:pPr>
            <a:r>
              <a:rPr lang="en-US" sz="1200" b="1" dirty="0">
                <a:solidFill>
                  <a:srgbClr val="FFFFFF"/>
                </a:solidFill>
                <a:latin typeface="Georgia" pitchFamily="34" charset="0"/>
                <a:ea typeface="Georgia" pitchFamily="34" charset="-122"/>
                <a:cs typeface="Georgia" pitchFamily="34" charset="-120"/>
              </a:rPr>
              <a:t>Friction is Independent of Contact Area</a:t>
            </a:r>
            <a:endParaRPr lang="en-US" sz="1200" dirty="0"/>
          </a:p>
        </p:txBody>
      </p:sp>
      <p:sp>
        <p:nvSpPr>
          <p:cNvPr id="16" name="Text 14"/>
          <p:cNvSpPr/>
          <p:nvPr/>
        </p:nvSpPr>
        <p:spPr>
          <a:xfrm>
            <a:off x="4928616" y="1554480"/>
            <a:ext cx="3858768" cy="804672"/>
          </a:xfrm>
          <a:prstGeom prst="rect">
            <a:avLst/>
          </a:prstGeom>
          <a:noFill/>
          <a:ln/>
        </p:spPr>
        <p:txBody>
          <a:bodyPr wrap="square" lIns="0" tIns="0" rIns="0" bIns="0" rtlCol="0" anchor="ctr"/>
          <a:lstStyle/>
          <a:p>
            <a:pPr marL="0" indent="0">
              <a:buNone/>
            </a:pPr>
            <a:r>
              <a:rPr lang="en-US" sz="1150" dirty="0">
                <a:solidFill>
                  <a:srgbClr val="4A4A4A"/>
                </a:solidFill>
                <a:latin typeface="Calibri" pitchFamily="34" charset="0"/>
                <a:ea typeface="Calibri" pitchFamily="34" charset="-122"/>
                <a:cs typeface="Calibri" pitchFamily="34" charset="-120"/>
              </a:rPr>
              <a:t>For the same normal force, the friction force does not change if the contact area changes. A wide eraser and narrow eraser (same weight) feel the same friction.</a:t>
            </a:r>
            <a:endParaRPr lang="en-US" sz="1150" dirty="0"/>
          </a:p>
        </p:txBody>
      </p:sp>
      <p:sp>
        <p:nvSpPr>
          <p:cNvPr id="17" name="Shape 15"/>
          <p:cNvSpPr/>
          <p:nvPr/>
        </p:nvSpPr>
        <p:spPr>
          <a:xfrm>
            <a:off x="4928616" y="2395728"/>
            <a:ext cx="3858768" cy="347472"/>
          </a:xfrm>
          <a:prstGeom prst="rect">
            <a:avLst/>
          </a:prstGeom>
          <a:solidFill>
            <a:srgbClr val="F5E6E4"/>
          </a:solidFill>
          <a:ln w="12700">
            <a:solidFill>
              <a:srgbClr val="B85042"/>
            </a:solidFill>
            <a:prstDash val="solid"/>
          </a:ln>
        </p:spPr>
      </p:sp>
      <p:sp>
        <p:nvSpPr>
          <p:cNvPr id="18" name="Text 16"/>
          <p:cNvSpPr/>
          <p:nvPr/>
        </p:nvSpPr>
        <p:spPr>
          <a:xfrm>
            <a:off x="4928616" y="2395728"/>
            <a:ext cx="3858768" cy="347472"/>
          </a:xfrm>
          <a:prstGeom prst="rect">
            <a:avLst/>
          </a:prstGeom>
          <a:noFill/>
          <a:ln/>
        </p:spPr>
        <p:txBody>
          <a:bodyPr wrap="square" lIns="0" tIns="0" rIns="0" bIns="0" rtlCol="0" anchor="ctr"/>
          <a:lstStyle/>
          <a:p>
            <a:pPr marL="0" indent="0" algn="ctr">
              <a:buNone/>
            </a:pPr>
            <a:r>
              <a:rPr lang="en-US" sz="1400" b="1" i="1" dirty="0">
                <a:solidFill>
                  <a:srgbClr val="B85042"/>
                </a:solidFill>
                <a:latin typeface="Cambria" pitchFamily="34" charset="0"/>
                <a:ea typeface="Cambria" pitchFamily="34" charset="-122"/>
                <a:cs typeface="Cambria" pitchFamily="34" charset="-120"/>
              </a:rPr>
              <a:t>f ≠ f(A)   (area cancels)</a:t>
            </a:r>
            <a:endParaRPr lang="en-US" sz="1400" dirty="0"/>
          </a:p>
        </p:txBody>
      </p:sp>
      <p:sp>
        <p:nvSpPr>
          <p:cNvPr id="19" name="Shape 17"/>
          <p:cNvSpPr/>
          <p:nvPr/>
        </p:nvSpPr>
        <p:spPr>
          <a:xfrm>
            <a:off x="457200" y="2953512"/>
            <a:ext cx="4114800" cy="1874520"/>
          </a:xfrm>
          <a:prstGeom prst="roundRect">
            <a:avLst>
              <a:gd name="adj" fmla="val 4878"/>
            </a:avLst>
          </a:prstGeom>
          <a:solidFill>
            <a:srgbClr val="FFFFFF"/>
          </a:solidFill>
          <a:ln w="12700">
            <a:solidFill>
              <a:srgbClr val="E5E0D8"/>
            </a:solidFill>
            <a:prstDash val="solid"/>
          </a:ln>
          <a:effectLst>
            <a:outerShdw blurRad="76200" dist="38100" dir="8100000" algn="bl" rotWithShape="0">
              <a:srgbClr val="000000">
                <a:alpha val="12000"/>
              </a:srgbClr>
            </a:outerShdw>
          </a:effectLst>
        </p:spPr>
      </p:sp>
      <p:sp>
        <p:nvSpPr>
          <p:cNvPr id="20" name="Shape 18"/>
          <p:cNvSpPr/>
          <p:nvPr/>
        </p:nvSpPr>
        <p:spPr>
          <a:xfrm>
            <a:off x="457200" y="2953512"/>
            <a:ext cx="4114800" cy="502920"/>
          </a:xfrm>
          <a:prstGeom prst="roundRect">
            <a:avLst>
              <a:gd name="adj" fmla="val 18182"/>
            </a:avLst>
          </a:prstGeom>
          <a:solidFill>
            <a:srgbClr val="B85042"/>
          </a:solidFill>
          <a:ln w="12700">
            <a:solidFill>
              <a:srgbClr val="B85042"/>
            </a:solidFill>
            <a:prstDash val="solid"/>
          </a:ln>
        </p:spPr>
      </p:sp>
      <p:sp>
        <p:nvSpPr>
          <p:cNvPr id="21" name="Shape 19"/>
          <p:cNvSpPr/>
          <p:nvPr/>
        </p:nvSpPr>
        <p:spPr>
          <a:xfrm>
            <a:off x="457200" y="3273552"/>
            <a:ext cx="4114800" cy="182880"/>
          </a:xfrm>
          <a:prstGeom prst="rect">
            <a:avLst/>
          </a:prstGeom>
          <a:solidFill>
            <a:srgbClr val="B85042"/>
          </a:solidFill>
          <a:ln w="12700">
            <a:solidFill>
              <a:srgbClr val="B85042"/>
            </a:solidFill>
            <a:prstDash val="solid"/>
          </a:ln>
        </p:spPr>
      </p:sp>
      <p:sp>
        <p:nvSpPr>
          <p:cNvPr id="22" name="Text 20"/>
          <p:cNvSpPr/>
          <p:nvPr/>
        </p:nvSpPr>
        <p:spPr>
          <a:xfrm>
            <a:off x="457200" y="2990088"/>
            <a:ext cx="1005840"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LAW III</a:t>
            </a:r>
            <a:endParaRPr lang="en-US" sz="1600" dirty="0"/>
          </a:p>
        </p:txBody>
      </p:sp>
      <p:sp>
        <p:nvSpPr>
          <p:cNvPr id="23" name="Text 21"/>
          <p:cNvSpPr/>
          <p:nvPr/>
        </p:nvSpPr>
        <p:spPr>
          <a:xfrm>
            <a:off x="1508760" y="3008376"/>
            <a:ext cx="2971800" cy="402336"/>
          </a:xfrm>
          <a:prstGeom prst="rect">
            <a:avLst/>
          </a:prstGeom>
          <a:noFill/>
          <a:ln/>
        </p:spPr>
        <p:txBody>
          <a:bodyPr wrap="square" lIns="0" tIns="0" rIns="0" bIns="0" rtlCol="0" anchor="ctr"/>
          <a:lstStyle/>
          <a:p>
            <a:pPr marL="0" indent="0">
              <a:buNone/>
            </a:pPr>
            <a:r>
              <a:rPr lang="en-US" sz="1200" b="1" dirty="0">
                <a:solidFill>
                  <a:srgbClr val="FFFFFF"/>
                </a:solidFill>
                <a:latin typeface="Georgia" pitchFamily="34" charset="0"/>
                <a:ea typeface="Georgia" pitchFamily="34" charset="-122"/>
                <a:cs typeface="Georgia" pitchFamily="34" charset="-120"/>
              </a:rPr>
              <a:t>Kinetic Friction is Independent of Speed</a:t>
            </a:r>
            <a:endParaRPr lang="en-US" sz="1200" dirty="0"/>
          </a:p>
        </p:txBody>
      </p:sp>
      <p:sp>
        <p:nvSpPr>
          <p:cNvPr id="24" name="Text 22"/>
          <p:cNvSpPr/>
          <p:nvPr/>
        </p:nvSpPr>
        <p:spPr>
          <a:xfrm>
            <a:off x="585216" y="3547872"/>
            <a:ext cx="3858768" cy="804672"/>
          </a:xfrm>
          <a:prstGeom prst="rect">
            <a:avLst/>
          </a:prstGeom>
          <a:noFill/>
          <a:ln/>
        </p:spPr>
        <p:txBody>
          <a:bodyPr wrap="square" lIns="0" tIns="0" rIns="0" bIns="0" rtlCol="0" anchor="ctr"/>
          <a:lstStyle/>
          <a:p>
            <a:pPr marL="0" indent="0">
              <a:buNone/>
            </a:pPr>
            <a:r>
              <a:rPr lang="en-US" sz="1150" dirty="0">
                <a:solidFill>
                  <a:srgbClr val="4A4A4A"/>
                </a:solidFill>
                <a:latin typeface="Calibri" pitchFamily="34" charset="0"/>
                <a:ea typeface="Calibri" pitchFamily="34" charset="-122"/>
                <a:cs typeface="Calibri" pitchFamily="34" charset="-120"/>
              </a:rPr>
              <a:t>For dry surfaces (Coulomb friction), kinetic friction stays approximately constant regardless of sliding speed. (Not true for viscous or lubricated surfaces.)</a:t>
            </a:r>
            <a:endParaRPr lang="en-US" sz="1150" dirty="0"/>
          </a:p>
        </p:txBody>
      </p:sp>
      <p:sp>
        <p:nvSpPr>
          <p:cNvPr id="25" name="Shape 23"/>
          <p:cNvSpPr/>
          <p:nvPr/>
        </p:nvSpPr>
        <p:spPr>
          <a:xfrm>
            <a:off x="585216" y="4389120"/>
            <a:ext cx="3858768" cy="347472"/>
          </a:xfrm>
          <a:prstGeom prst="rect">
            <a:avLst/>
          </a:prstGeom>
          <a:solidFill>
            <a:srgbClr val="F5E6E4"/>
          </a:solidFill>
          <a:ln w="12700">
            <a:solidFill>
              <a:srgbClr val="B85042"/>
            </a:solidFill>
            <a:prstDash val="solid"/>
          </a:ln>
        </p:spPr>
      </p:sp>
      <p:sp>
        <p:nvSpPr>
          <p:cNvPr id="26" name="Text 24"/>
          <p:cNvSpPr/>
          <p:nvPr/>
        </p:nvSpPr>
        <p:spPr>
          <a:xfrm>
            <a:off x="585216" y="4389120"/>
            <a:ext cx="3858768" cy="347472"/>
          </a:xfrm>
          <a:prstGeom prst="rect">
            <a:avLst/>
          </a:prstGeom>
          <a:noFill/>
          <a:ln/>
        </p:spPr>
        <p:txBody>
          <a:bodyPr wrap="square" lIns="0" tIns="0" rIns="0" bIns="0" rtlCol="0" anchor="ctr"/>
          <a:lstStyle/>
          <a:p>
            <a:pPr marL="0" indent="0" algn="ctr">
              <a:buNone/>
            </a:pPr>
            <a:r>
              <a:rPr lang="en-US" sz="1400" b="1" i="1" dirty="0">
                <a:solidFill>
                  <a:srgbClr val="B85042"/>
                </a:solidFill>
                <a:latin typeface="Cambria" pitchFamily="34" charset="0"/>
                <a:ea typeface="Cambria" pitchFamily="34" charset="-122"/>
                <a:cs typeface="Cambria" pitchFamily="34" charset="-120"/>
              </a:rPr>
              <a:t>fₖ = μₖN = constant (Coulomb model)</a:t>
            </a:r>
            <a:endParaRPr lang="en-US" sz="1400" dirty="0"/>
          </a:p>
        </p:txBody>
      </p:sp>
      <p:sp>
        <p:nvSpPr>
          <p:cNvPr id="27" name="Shape 25"/>
          <p:cNvSpPr/>
          <p:nvPr/>
        </p:nvSpPr>
        <p:spPr>
          <a:xfrm>
            <a:off x="4800600" y="2953512"/>
            <a:ext cx="4114800" cy="1874520"/>
          </a:xfrm>
          <a:prstGeom prst="roundRect">
            <a:avLst>
              <a:gd name="adj" fmla="val 4878"/>
            </a:avLst>
          </a:prstGeom>
          <a:solidFill>
            <a:srgbClr val="FFFFFF"/>
          </a:solidFill>
          <a:ln w="12700">
            <a:solidFill>
              <a:srgbClr val="E5E0D8"/>
            </a:solidFill>
            <a:prstDash val="solid"/>
          </a:ln>
          <a:effectLst>
            <a:outerShdw blurRad="76200" dist="38100" dir="8100000" algn="bl" rotWithShape="0">
              <a:srgbClr val="000000">
                <a:alpha val="12000"/>
              </a:srgbClr>
            </a:outerShdw>
          </a:effectLst>
        </p:spPr>
      </p:sp>
      <p:sp>
        <p:nvSpPr>
          <p:cNvPr id="28" name="Shape 26"/>
          <p:cNvSpPr/>
          <p:nvPr/>
        </p:nvSpPr>
        <p:spPr>
          <a:xfrm>
            <a:off x="4800600" y="2953512"/>
            <a:ext cx="4114800" cy="502920"/>
          </a:xfrm>
          <a:prstGeom prst="roundRect">
            <a:avLst>
              <a:gd name="adj" fmla="val 18182"/>
            </a:avLst>
          </a:prstGeom>
          <a:solidFill>
            <a:srgbClr val="B85042"/>
          </a:solidFill>
          <a:ln w="12700">
            <a:solidFill>
              <a:srgbClr val="B85042"/>
            </a:solidFill>
            <a:prstDash val="solid"/>
          </a:ln>
        </p:spPr>
      </p:sp>
      <p:sp>
        <p:nvSpPr>
          <p:cNvPr id="29" name="Shape 27"/>
          <p:cNvSpPr/>
          <p:nvPr/>
        </p:nvSpPr>
        <p:spPr>
          <a:xfrm>
            <a:off x="4800600" y="3273552"/>
            <a:ext cx="4114800" cy="182880"/>
          </a:xfrm>
          <a:prstGeom prst="rect">
            <a:avLst/>
          </a:prstGeom>
          <a:solidFill>
            <a:srgbClr val="B85042"/>
          </a:solidFill>
          <a:ln w="12700">
            <a:solidFill>
              <a:srgbClr val="B85042"/>
            </a:solidFill>
            <a:prstDash val="solid"/>
          </a:ln>
        </p:spPr>
      </p:sp>
      <p:sp>
        <p:nvSpPr>
          <p:cNvPr id="30" name="Text 28"/>
          <p:cNvSpPr/>
          <p:nvPr/>
        </p:nvSpPr>
        <p:spPr>
          <a:xfrm>
            <a:off x="4800600" y="2990088"/>
            <a:ext cx="1005840"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LAW IV</a:t>
            </a:r>
            <a:endParaRPr lang="en-US" sz="1600" dirty="0"/>
          </a:p>
        </p:txBody>
      </p:sp>
      <p:sp>
        <p:nvSpPr>
          <p:cNvPr id="31" name="Text 29"/>
          <p:cNvSpPr/>
          <p:nvPr/>
        </p:nvSpPr>
        <p:spPr>
          <a:xfrm>
            <a:off x="5852160" y="3008376"/>
            <a:ext cx="2971800" cy="402336"/>
          </a:xfrm>
          <a:prstGeom prst="rect">
            <a:avLst/>
          </a:prstGeom>
          <a:noFill/>
          <a:ln/>
        </p:spPr>
        <p:txBody>
          <a:bodyPr wrap="square" lIns="0" tIns="0" rIns="0" bIns="0" rtlCol="0" anchor="ctr"/>
          <a:lstStyle/>
          <a:p>
            <a:pPr marL="0" indent="0">
              <a:buNone/>
            </a:pPr>
            <a:r>
              <a:rPr lang="en-US" sz="1200" b="1" dirty="0">
                <a:solidFill>
                  <a:srgbClr val="FFFFFF"/>
                </a:solidFill>
                <a:latin typeface="Georgia" pitchFamily="34" charset="0"/>
                <a:ea typeface="Georgia" pitchFamily="34" charset="-122"/>
                <a:cs typeface="Georgia" pitchFamily="34" charset="-120"/>
              </a:rPr>
              <a:t>Static &gt; Kinetic Friction</a:t>
            </a:r>
            <a:endParaRPr lang="en-US" sz="1200" dirty="0"/>
          </a:p>
        </p:txBody>
      </p:sp>
      <p:sp>
        <p:nvSpPr>
          <p:cNvPr id="32" name="Text 30"/>
          <p:cNvSpPr/>
          <p:nvPr/>
        </p:nvSpPr>
        <p:spPr>
          <a:xfrm>
            <a:off x="4928616" y="3547872"/>
            <a:ext cx="3858768" cy="804672"/>
          </a:xfrm>
          <a:prstGeom prst="rect">
            <a:avLst/>
          </a:prstGeom>
          <a:noFill/>
          <a:ln/>
        </p:spPr>
        <p:txBody>
          <a:bodyPr wrap="square" lIns="0" tIns="0" rIns="0" bIns="0" rtlCol="0" anchor="ctr"/>
          <a:lstStyle/>
          <a:p>
            <a:pPr marL="0" indent="0">
              <a:buNone/>
            </a:pPr>
            <a:r>
              <a:rPr lang="en-US" sz="1150" dirty="0">
                <a:solidFill>
                  <a:srgbClr val="4A4A4A"/>
                </a:solidFill>
                <a:latin typeface="Calibri" pitchFamily="34" charset="0"/>
                <a:ea typeface="Calibri" pitchFamily="34" charset="-122"/>
                <a:cs typeface="Calibri" pitchFamily="34" charset="-120"/>
              </a:rPr>
              <a:t>It is harder to START an object moving than to KEEP it moving. Maximum static friction always exceeds kinetic friction for the same surface pair.</a:t>
            </a:r>
            <a:endParaRPr lang="en-US" sz="1150" dirty="0"/>
          </a:p>
        </p:txBody>
      </p:sp>
      <p:sp>
        <p:nvSpPr>
          <p:cNvPr id="33" name="Shape 31"/>
          <p:cNvSpPr/>
          <p:nvPr/>
        </p:nvSpPr>
        <p:spPr>
          <a:xfrm>
            <a:off x="4928616" y="4389120"/>
            <a:ext cx="3858768" cy="347472"/>
          </a:xfrm>
          <a:prstGeom prst="rect">
            <a:avLst/>
          </a:prstGeom>
          <a:solidFill>
            <a:srgbClr val="F5E6E4"/>
          </a:solidFill>
          <a:ln w="12700">
            <a:solidFill>
              <a:srgbClr val="B85042"/>
            </a:solidFill>
            <a:prstDash val="solid"/>
          </a:ln>
        </p:spPr>
      </p:sp>
      <p:sp>
        <p:nvSpPr>
          <p:cNvPr id="34" name="Text 32"/>
          <p:cNvSpPr/>
          <p:nvPr/>
        </p:nvSpPr>
        <p:spPr>
          <a:xfrm>
            <a:off x="4928616" y="4389120"/>
            <a:ext cx="3858768" cy="347472"/>
          </a:xfrm>
          <a:prstGeom prst="rect">
            <a:avLst/>
          </a:prstGeom>
          <a:noFill/>
          <a:ln/>
        </p:spPr>
        <p:txBody>
          <a:bodyPr wrap="square" lIns="0" tIns="0" rIns="0" bIns="0" rtlCol="0" anchor="ctr"/>
          <a:lstStyle/>
          <a:p>
            <a:pPr marL="0" indent="0" algn="ctr">
              <a:buNone/>
            </a:pPr>
            <a:r>
              <a:rPr lang="en-US" sz="1400" b="1" i="1" dirty="0">
                <a:solidFill>
                  <a:srgbClr val="B85042"/>
                </a:solidFill>
                <a:latin typeface="Cambria" pitchFamily="34" charset="0"/>
                <a:ea typeface="Cambria" pitchFamily="34" charset="-122"/>
                <a:cs typeface="Cambria" pitchFamily="34" charset="-120"/>
              </a:rPr>
              <a:t>μₛ &gt; μₖ   always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marL="0" indent="0">
              <a:buNone/>
            </a:pPr>
            <a:r>
              <a:rPr lang="en-US" sz="3400" b="1" dirty="0">
                <a:solidFill>
                  <a:srgbClr val="2C2C2C"/>
                </a:solidFill>
                <a:latin typeface="Georgia" pitchFamily="34" charset="0"/>
                <a:ea typeface="Georgia" pitchFamily="34" charset="-122"/>
                <a:cs typeface="Georgia" pitchFamily="34" charset="-120"/>
              </a:rPr>
              <a:t>Static Friction — Derivation</a:t>
            </a:r>
            <a:endParaRPr lang="en-US" sz="3400" dirty="0"/>
          </a:p>
        </p:txBody>
      </p:sp>
      <p:sp>
        <p:nvSpPr>
          <p:cNvPr id="3" name="Shape 1"/>
          <p:cNvSpPr/>
          <p:nvPr/>
        </p:nvSpPr>
        <p:spPr>
          <a:xfrm>
            <a:off x="457200" y="960120"/>
            <a:ext cx="2743200" cy="1920240"/>
          </a:xfrm>
          <a:prstGeom prst="roundRect">
            <a:avLst>
              <a:gd name="adj" fmla="val 4762"/>
            </a:avLst>
          </a:prstGeom>
          <a:solidFill>
            <a:srgbClr val="FFFFFF"/>
          </a:solidFill>
          <a:ln w="12700">
            <a:solidFill>
              <a:srgbClr val="E5E0D8"/>
            </a:solidFill>
            <a:prstDash val="solid"/>
          </a:ln>
          <a:effectLst>
            <a:outerShdw blurRad="76200" dist="38100" dir="8100000" algn="bl" rotWithShape="0">
              <a:srgbClr val="000000">
                <a:alpha val="12000"/>
              </a:srgbClr>
            </a:outerShdw>
          </a:effectLst>
        </p:spPr>
      </p:sp>
      <p:sp>
        <p:nvSpPr>
          <p:cNvPr id="4" name="Shape 2"/>
          <p:cNvSpPr/>
          <p:nvPr/>
        </p:nvSpPr>
        <p:spPr>
          <a:xfrm>
            <a:off x="457200" y="960120"/>
            <a:ext cx="2743200" cy="402336"/>
          </a:xfrm>
          <a:prstGeom prst="roundRect">
            <a:avLst>
              <a:gd name="adj" fmla="val 27273"/>
            </a:avLst>
          </a:prstGeom>
          <a:solidFill>
            <a:srgbClr val="B85042"/>
          </a:solidFill>
          <a:ln w="12700">
            <a:solidFill>
              <a:srgbClr val="B85042"/>
            </a:solidFill>
            <a:prstDash val="solid"/>
          </a:ln>
        </p:spPr>
      </p:sp>
      <p:sp>
        <p:nvSpPr>
          <p:cNvPr id="5" name="Text 3"/>
          <p:cNvSpPr/>
          <p:nvPr/>
        </p:nvSpPr>
        <p:spPr>
          <a:xfrm>
            <a:off x="457200" y="996696"/>
            <a:ext cx="27432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Step 1</a:t>
            </a:r>
            <a:endParaRPr lang="en-US" sz="1200" dirty="0"/>
          </a:p>
        </p:txBody>
      </p:sp>
      <p:sp>
        <p:nvSpPr>
          <p:cNvPr id="6" name="Text 4"/>
          <p:cNvSpPr/>
          <p:nvPr/>
        </p:nvSpPr>
        <p:spPr>
          <a:xfrm>
            <a:off x="566928" y="1435608"/>
            <a:ext cx="2523744" cy="292608"/>
          </a:xfrm>
          <a:prstGeom prst="rect">
            <a:avLst/>
          </a:prstGeom>
          <a:noFill/>
          <a:ln/>
        </p:spPr>
        <p:txBody>
          <a:bodyPr wrap="square" lIns="0" tIns="0" rIns="0" bIns="0" rtlCol="0" anchor="ctr"/>
          <a:lstStyle/>
          <a:p>
            <a:pPr marL="0" indent="0">
              <a:buNone/>
            </a:pPr>
            <a:r>
              <a:rPr lang="en-US" sz="1250" b="1" dirty="0">
                <a:solidFill>
                  <a:srgbClr val="B85042"/>
                </a:solidFill>
                <a:latin typeface="Georgia" pitchFamily="34" charset="0"/>
                <a:ea typeface="Georgia" pitchFamily="34" charset="-122"/>
                <a:cs typeface="Georgia" pitchFamily="34" charset="-120"/>
              </a:rPr>
              <a:t>Set up the system</a:t>
            </a:r>
            <a:endParaRPr lang="en-US" sz="1250" dirty="0"/>
          </a:p>
        </p:txBody>
      </p:sp>
      <p:sp>
        <p:nvSpPr>
          <p:cNvPr id="7" name="Text 5"/>
          <p:cNvSpPr/>
          <p:nvPr/>
        </p:nvSpPr>
        <p:spPr>
          <a:xfrm>
            <a:off x="566928" y="1783080"/>
            <a:ext cx="2523744" cy="1005840"/>
          </a:xfrm>
          <a:prstGeom prst="rect">
            <a:avLst/>
          </a:prstGeom>
          <a:noFill/>
          <a:ln/>
        </p:spPr>
        <p:txBody>
          <a:bodyPr wrap="square" lIns="0" tIns="0" rIns="0" bIns="0" rtlCol="0" anchor="ctr"/>
          <a:lstStyle/>
          <a:p>
            <a:pPr marL="0" indent="0">
              <a:buNone/>
            </a:pPr>
            <a:r>
              <a:rPr lang="en-US" sz="1150" dirty="0">
                <a:solidFill>
                  <a:srgbClr val="4A4A4A"/>
                </a:solidFill>
                <a:latin typeface="Calibri" pitchFamily="34" charset="0"/>
                <a:ea typeface="Calibri" pitchFamily="34" charset="-122"/>
                <a:cs typeface="Calibri" pitchFamily="34" charset="-120"/>
              </a:rPr>
              <a:t>Consider a block of mass m resting on a horizontal surface. Apply an external horizontal force F. The block remains at rest (static equilibrium).</a:t>
            </a:r>
            <a:endParaRPr lang="en-US" sz="1150" dirty="0"/>
          </a:p>
        </p:txBody>
      </p:sp>
      <p:sp>
        <p:nvSpPr>
          <p:cNvPr id="8" name="Shape 6"/>
          <p:cNvSpPr/>
          <p:nvPr/>
        </p:nvSpPr>
        <p:spPr>
          <a:xfrm>
            <a:off x="3355848" y="960120"/>
            <a:ext cx="2743200" cy="1920240"/>
          </a:xfrm>
          <a:prstGeom prst="roundRect">
            <a:avLst>
              <a:gd name="adj" fmla="val 4762"/>
            </a:avLst>
          </a:prstGeom>
          <a:solidFill>
            <a:srgbClr val="FFFFFF"/>
          </a:solidFill>
          <a:ln w="12700">
            <a:solidFill>
              <a:srgbClr val="E5E0D8"/>
            </a:solidFill>
            <a:prstDash val="solid"/>
          </a:ln>
          <a:effectLst>
            <a:outerShdw blurRad="76200" dist="38100" dir="8100000" algn="bl" rotWithShape="0">
              <a:srgbClr val="000000">
                <a:alpha val="12000"/>
              </a:srgbClr>
            </a:outerShdw>
          </a:effectLst>
        </p:spPr>
      </p:sp>
      <p:sp>
        <p:nvSpPr>
          <p:cNvPr id="9" name="Shape 7"/>
          <p:cNvSpPr/>
          <p:nvPr/>
        </p:nvSpPr>
        <p:spPr>
          <a:xfrm>
            <a:off x="3355848" y="960120"/>
            <a:ext cx="2743200" cy="402336"/>
          </a:xfrm>
          <a:prstGeom prst="roundRect">
            <a:avLst>
              <a:gd name="adj" fmla="val 27273"/>
            </a:avLst>
          </a:prstGeom>
          <a:solidFill>
            <a:srgbClr val="4A4A4A"/>
          </a:solidFill>
          <a:ln w="12700">
            <a:solidFill>
              <a:srgbClr val="4A4A4A"/>
            </a:solidFill>
            <a:prstDash val="solid"/>
          </a:ln>
        </p:spPr>
      </p:sp>
      <p:sp>
        <p:nvSpPr>
          <p:cNvPr id="10" name="Text 8"/>
          <p:cNvSpPr/>
          <p:nvPr/>
        </p:nvSpPr>
        <p:spPr>
          <a:xfrm>
            <a:off x="3355848" y="996696"/>
            <a:ext cx="27432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Step 2</a:t>
            </a:r>
            <a:endParaRPr lang="en-US" sz="1200" dirty="0"/>
          </a:p>
        </p:txBody>
      </p:sp>
      <p:sp>
        <p:nvSpPr>
          <p:cNvPr id="11" name="Text 9"/>
          <p:cNvSpPr/>
          <p:nvPr/>
        </p:nvSpPr>
        <p:spPr>
          <a:xfrm>
            <a:off x="3465576" y="1435608"/>
            <a:ext cx="2523744" cy="292608"/>
          </a:xfrm>
          <a:prstGeom prst="rect">
            <a:avLst/>
          </a:prstGeom>
          <a:noFill/>
          <a:ln/>
        </p:spPr>
        <p:txBody>
          <a:bodyPr wrap="square" lIns="0" tIns="0" rIns="0" bIns="0" rtlCol="0" anchor="ctr"/>
          <a:lstStyle/>
          <a:p>
            <a:pPr marL="0" indent="0">
              <a:buNone/>
            </a:pPr>
            <a:r>
              <a:rPr lang="en-US" sz="1250" b="1" dirty="0">
                <a:solidFill>
                  <a:srgbClr val="4A4A4A"/>
                </a:solidFill>
                <a:latin typeface="Georgia" pitchFamily="34" charset="0"/>
                <a:ea typeface="Georgia" pitchFamily="34" charset="-122"/>
                <a:cs typeface="Georgia" pitchFamily="34" charset="-120"/>
              </a:rPr>
              <a:t>Apply Newton's 1st Law (vertical)</a:t>
            </a:r>
            <a:endParaRPr lang="en-US" sz="1250" dirty="0"/>
          </a:p>
        </p:txBody>
      </p:sp>
      <p:sp>
        <p:nvSpPr>
          <p:cNvPr id="12" name="Text 10"/>
          <p:cNvSpPr/>
          <p:nvPr/>
        </p:nvSpPr>
        <p:spPr>
          <a:xfrm>
            <a:off x="3465576" y="1783080"/>
            <a:ext cx="2523744" cy="1005840"/>
          </a:xfrm>
          <a:prstGeom prst="rect">
            <a:avLst/>
          </a:prstGeom>
          <a:noFill/>
          <a:ln/>
        </p:spPr>
        <p:txBody>
          <a:bodyPr wrap="square" lIns="0" tIns="0" rIns="0" bIns="0" rtlCol="0" anchor="ctr"/>
          <a:lstStyle/>
          <a:p>
            <a:pPr marL="0" indent="0">
              <a:buNone/>
            </a:pPr>
            <a:r>
              <a:rPr lang="en-US" sz="1150" dirty="0">
                <a:solidFill>
                  <a:srgbClr val="4A4A4A"/>
                </a:solidFill>
                <a:latin typeface="Calibri" pitchFamily="34" charset="0"/>
                <a:ea typeface="Calibri" pitchFamily="34" charset="-122"/>
                <a:cs typeface="Calibri" pitchFamily="34" charset="-120"/>
              </a:rPr>
              <a:t>Vertical equilibrium: ΣFᵧ = 0</a:t>
            </a:r>
            <a:endParaRPr lang="en-US" sz="1150" dirty="0"/>
          </a:p>
          <a:p>
            <a:pPr marL="0" indent="0">
              <a:buNone/>
            </a:pPr>
            <a:r>
              <a:rPr lang="en-US" sz="1150" dirty="0">
                <a:solidFill>
                  <a:srgbClr val="4A4A4A"/>
                </a:solidFill>
                <a:latin typeface="Calibri" pitchFamily="34" charset="0"/>
                <a:ea typeface="Calibri" pitchFamily="34" charset="-122"/>
                <a:cs typeface="Calibri" pitchFamily="34" charset="-120"/>
              </a:rPr>
              <a:t>N − mg = 0</a:t>
            </a:r>
            <a:endParaRPr lang="en-US" sz="1150" dirty="0"/>
          </a:p>
          <a:p>
            <a:pPr marL="0" indent="0">
              <a:buNone/>
            </a:pPr>
            <a:r>
              <a:rPr lang="en-US" sz="1150" dirty="0">
                <a:solidFill>
                  <a:srgbClr val="4A4A4A"/>
                </a:solidFill>
                <a:latin typeface="Calibri" pitchFamily="34" charset="0"/>
                <a:ea typeface="Calibri" pitchFamily="34" charset="-122"/>
                <a:cs typeface="Calibri" pitchFamily="34" charset="-120"/>
              </a:rPr>
              <a:t>∴  N = mg</a:t>
            </a:r>
            <a:endParaRPr lang="en-US" sz="1150" dirty="0"/>
          </a:p>
          <a:p>
            <a:pPr marL="0" indent="0">
              <a:buNone/>
            </a:pPr>
            <a:r>
              <a:rPr lang="en-US" sz="1150" dirty="0">
                <a:solidFill>
                  <a:srgbClr val="4A4A4A"/>
                </a:solidFill>
                <a:latin typeface="Calibri" pitchFamily="34" charset="0"/>
                <a:ea typeface="Calibri" pitchFamily="34" charset="-122"/>
                <a:cs typeface="Calibri" pitchFamily="34" charset="-120"/>
              </a:rPr>
              <a:t>(Normal force equals weight on flat surface)</a:t>
            </a:r>
            <a:endParaRPr lang="en-US" sz="1150" dirty="0"/>
          </a:p>
        </p:txBody>
      </p:sp>
      <p:sp>
        <p:nvSpPr>
          <p:cNvPr id="13" name="Shape 11"/>
          <p:cNvSpPr/>
          <p:nvPr/>
        </p:nvSpPr>
        <p:spPr>
          <a:xfrm>
            <a:off x="6254496" y="960120"/>
            <a:ext cx="2743200" cy="1920240"/>
          </a:xfrm>
          <a:prstGeom prst="roundRect">
            <a:avLst>
              <a:gd name="adj" fmla="val 4762"/>
            </a:avLst>
          </a:prstGeom>
          <a:solidFill>
            <a:srgbClr val="FFFFFF"/>
          </a:solidFill>
          <a:ln w="12700">
            <a:solidFill>
              <a:srgbClr val="E5E0D8"/>
            </a:solidFill>
            <a:prstDash val="solid"/>
          </a:ln>
          <a:effectLst>
            <a:outerShdw blurRad="76200" dist="38100" dir="8100000" algn="bl" rotWithShape="0">
              <a:srgbClr val="000000">
                <a:alpha val="12000"/>
              </a:srgbClr>
            </a:outerShdw>
          </a:effectLst>
        </p:spPr>
      </p:sp>
      <p:sp>
        <p:nvSpPr>
          <p:cNvPr id="14" name="Shape 12"/>
          <p:cNvSpPr/>
          <p:nvPr/>
        </p:nvSpPr>
        <p:spPr>
          <a:xfrm>
            <a:off x="6254496" y="960120"/>
            <a:ext cx="2743200" cy="402336"/>
          </a:xfrm>
          <a:prstGeom prst="roundRect">
            <a:avLst>
              <a:gd name="adj" fmla="val 27273"/>
            </a:avLst>
          </a:prstGeom>
          <a:solidFill>
            <a:srgbClr val="2A7F7F"/>
          </a:solidFill>
          <a:ln w="12700">
            <a:solidFill>
              <a:srgbClr val="2A7F7F"/>
            </a:solidFill>
            <a:prstDash val="solid"/>
          </a:ln>
        </p:spPr>
      </p:sp>
      <p:sp>
        <p:nvSpPr>
          <p:cNvPr id="15" name="Text 13"/>
          <p:cNvSpPr/>
          <p:nvPr/>
        </p:nvSpPr>
        <p:spPr>
          <a:xfrm>
            <a:off x="6254496" y="996696"/>
            <a:ext cx="27432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Step 3</a:t>
            </a:r>
            <a:endParaRPr lang="en-US" sz="1200" dirty="0"/>
          </a:p>
        </p:txBody>
      </p:sp>
      <p:sp>
        <p:nvSpPr>
          <p:cNvPr id="16" name="Text 14"/>
          <p:cNvSpPr/>
          <p:nvPr/>
        </p:nvSpPr>
        <p:spPr>
          <a:xfrm>
            <a:off x="6364224" y="1435608"/>
            <a:ext cx="2523744" cy="292608"/>
          </a:xfrm>
          <a:prstGeom prst="rect">
            <a:avLst/>
          </a:prstGeom>
          <a:noFill/>
          <a:ln/>
        </p:spPr>
        <p:txBody>
          <a:bodyPr wrap="square" lIns="0" tIns="0" rIns="0" bIns="0" rtlCol="0" anchor="ctr"/>
          <a:lstStyle/>
          <a:p>
            <a:pPr marL="0" indent="0">
              <a:buNone/>
            </a:pPr>
            <a:r>
              <a:rPr lang="en-US" sz="1250" b="1" dirty="0">
                <a:solidFill>
                  <a:srgbClr val="2A7F7F"/>
                </a:solidFill>
                <a:latin typeface="Georgia" pitchFamily="34" charset="0"/>
                <a:ea typeface="Georgia" pitchFamily="34" charset="-122"/>
                <a:cs typeface="Georgia" pitchFamily="34" charset="-120"/>
              </a:rPr>
              <a:t>Apply Newton's 1st Law (horizontal)</a:t>
            </a:r>
            <a:endParaRPr lang="en-US" sz="1250" dirty="0"/>
          </a:p>
        </p:txBody>
      </p:sp>
      <p:sp>
        <p:nvSpPr>
          <p:cNvPr id="17" name="Text 15"/>
          <p:cNvSpPr/>
          <p:nvPr/>
        </p:nvSpPr>
        <p:spPr>
          <a:xfrm>
            <a:off x="6364224" y="1783080"/>
            <a:ext cx="2523744" cy="1005840"/>
          </a:xfrm>
          <a:prstGeom prst="rect">
            <a:avLst/>
          </a:prstGeom>
          <a:noFill/>
          <a:ln/>
        </p:spPr>
        <p:txBody>
          <a:bodyPr wrap="square" lIns="0" tIns="0" rIns="0" bIns="0" rtlCol="0" anchor="ctr"/>
          <a:lstStyle/>
          <a:p>
            <a:pPr marL="0" indent="0">
              <a:buNone/>
            </a:pPr>
            <a:r>
              <a:rPr lang="en-US" sz="1150" dirty="0">
                <a:solidFill>
                  <a:srgbClr val="4A4A4A"/>
                </a:solidFill>
                <a:latin typeface="Calibri" pitchFamily="34" charset="0"/>
                <a:ea typeface="Calibri" pitchFamily="34" charset="-122"/>
                <a:cs typeface="Calibri" pitchFamily="34" charset="-120"/>
              </a:rPr>
              <a:t>Horizontal equilibrium: ΣFₓ = 0</a:t>
            </a:r>
            <a:endParaRPr lang="en-US" sz="1150" dirty="0"/>
          </a:p>
          <a:p>
            <a:pPr marL="0" indent="0">
              <a:buNone/>
            </a:pPr>
            <a:r>
              <a:rPr lang="en-US" sz="1150" dirty="0">
                <a:solidFill>
                  <a:srgbClr val="4A4A4A"/>
                </a:solidFill>
                <a:latin typeface="Calibri" pitchFamily="34" charset="0"/>
                <a:ea typeface="Calibri" pitchFamily="34" charset="-122"/>
                <a:cs typeface="Calibri" pitchFamily="34" charset="-120"/>
              </a:rPr>
              <a:t>F − fₛ = 0</a:t>
            </a:r>
            <a:endParaRPr lang="en-US" sz="1150" dirty="0"/>
          </a:p>
          <a:p>
            <a:pPr marL="0" indent="0">
              <a:buNone/>
            </a:pPr>
            <a:r>
              <a:rPr lang="en-US" sz="1150" dirty="0">
                <a:solidFill>
                  <a:srgbClr val="4A4A4A"/>
                </a:solidFill>
                <a:latin typeface="Calibri" pitchFamily="34" charset="0"/>
                <a:ea typeface="Calibri" pitchFamily="34" charset="-122"/>
                <a:cs typeface="Calibri" pitchFamily="34" charset="-120"/>
              </a:rPr>
              <a:t>∴  fₛ = F</a:t>
            </a:r>
            <a:endParaRPr lang="en-US" sz="1150" dirty="0"/>
          </a:p>
          <a:p>
            <a:pPr marL="0" indent="0">
              <a:buNone/>
            </a:pPr>
            <a:r>
              <a:rPr lang="en-US" sz="1150" dirty="0">
                <a:solidFill>
                  <a:srgbClr val="4A4A4A"/>
                </a:solidFill>
                <a:latin typeface="Calibri" pitchFamily="34" charset="0"/>
                <a:ea typeface="Calibri" pitchFamily="34" charset="-122"/>
                <a:cs typeface="Calibri" pitchFamily="34" charset="-120"/>
              </a:rPr>
              <a:t>(Static friction matches applied force exactly)</a:t>
            </a:r>
            <a:endParaRPr lang="en-US" sz="1150" dirty="0"/>
          </a:p>
        </p:txBody>
      </p:sp>
      <p:sp>
        <p:nvSpPr>
          <p:cNvPr id="18" name="Shape 16"/>
          <p:cNvSpPr/>
          <p:nvPr/>
        </p:nvSpPr>
        <p:spPr>
          <a:xfrm>
            <a:off x="457200" y="3063240"/>
            <a:ext cx="4114800" cy="1828800"/>
          </a:xfrm>
          <a:prstGeom prst="roundRect">
            <a:avLst>
              <a:gd name="adj" fmla="val 5000"/>
            </a:avLst>
          </a:prstGeom>
          <a:solidFill>
            <a:srgbClr val="FFFFFF"/>
          </a:solidFill>
          <a:ln w="12700">
            <a:solidFill>
              <a:srgbClr val="E5E0D8"/>
            </a:solidFill>
            <a:prstDash val="solid"/>
          </a:ln>
          <a:effectLst>
            <a:outerShdw blurRad="76200" dist="38100" dir="8100000" algn="bl" rotWithShape="0">
              <a:srgbClr val="000000">
                <a:alpha val="12000"/>
              </a:srgbClr>
            </a:outerShdw>
          </a:effectLst>
        </p:spPr>
      </p:sp>
      <p:sp>
        <p:nvSpPr>
          <p:cNvPr id="19" name="Shape 17"/>
          <p:cNvSpPr/>
          <p:nvPr/>
        </p:nvSpPr>
        <p:spPr>
          <a:xfrm>
            <a:off x="457200" y="3063240"/>
            <a:ext cx="4114800" cy="402336"/>
          </a:xfrm>
          <a:prstGeom prst="roundRect">
            <a:avLst>
              <a:gd name="adj" fmla="val 27273"/>
            </a:avLst>
          </a:prstGeom>
          <a:solidFill>
            <a:srgbClr val="1E3A5F"/>
          </a:solidFill>
          <a:ln w="12700">
            <a:solidFill>
              <a:srgbClr val="1E3A5F"/>
            </a:solidFill>
            <a:prstDash val="solid"/>
          </a:ln>
        </p:spPr>
      </p:sp>
      <p:sp>
        <p:nvSpPr>
          <p:cNvPr id="20" name="Text 18"/>
          <p:cNvSpPr/>
          <p:nvPr/>
        </p:nvSpPr>
        <p:spPr>
          <a:xfrm>
            <a:off x="457200" y="3099816"/>
            <a:ext cx="41148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Step 4</a:t>
            </a:r>
            <a:endParaRPr lang="en-US" sz="1200" dirty="0"/>
          </a:p>
        </p:txBody>
      </p:sp>
      <p:sp>
        <p:nvSpPr>
          <p:cNvPr id="21" name="Text 19"/>
          <p:cNvSpPr/>
          <p:nvPr/>
        </p:nvSpPr>
        <p:spPr>
          <a:xfrm>
            <a:off x="566928" y="3538728"/>
            <a:ext cx="3895344" cy="292608"/>
          </a:xfrm>
          <a:prstGeom prst="rect">
            <a:avLst/>
          </a:prstGeom>
          <a:noFill/>
          <a:ln/>
        </p:spPr>
        <p:txBody>
          <a:bodyPr wrap="square" lIns="0" tIns="0" rIns="0" bIns="0" rtlCol="0" anchor="ctr"/>
          <a:lstStyle/>
          <a:p>
            <a:pPr marL="0" indent="0">
              <a:buNone/>
            </a:pPr>
            <a:r>
              <a:rPr lang="en-US" sz="1250" b="1" dirty="0">
                <a:solidFill>
                  <a:srgbClr val="1E3A5F"/>
                </a:solidFill>
                <a:latin typeface="Georgia" pitchFamily="34" charset="0"/>
                <a:ea typeface="Georgia" pitchFamily="34" charset="-122"/>
                <a:cs typeface="Georgia" pitchFamily="34" charset="-120"/>
              </a:rPr>
              <a:t>Find the maximum (threshold)</a:t>
            </a:r>
            <a:endParaRPr lang="en-US" sz="1250" dirty="0"/>
          </a:p>
        </p:txBody>
      </p:sp>
      <p:sp>
        <p:nvSpPr>
          <p:cNvPr id="22" name="Text 20"/>
          <p:cNvSpPr/>
          <p:nvPr/>
        </p:nvSpPr>
        <p:spPr>
          <a:xfrm>
            <a:off x="566928" y="3886200"/>
            <a:ext cx="3895344" cy="914400"/>
          </a:xfrm>
          <a:prstGeom prst="rect">
            <a:avLst/>
          </a:prstGeom>
          <a:noFill/>
          <a:ln/>
        </p:spPr>
        <p:txBody>
          <a:bodyPr wrap="square" lIns="0" tIns="0" rIns="0" bIns="0" rtlCol="0" anchor="ctr"/>
          <a:lstStyle/>
          <a:p>
            <a:pPr marL="0" indent="0">
              <a:buNone/>
            </a:pPr>
            <a:r>
              <a:rPr lang="en-US" sz="1150" dirty="0">
                <a:solidFill>
                  <a:srgbClr val="4A4A4A"/>
                </a:solidFill>
                <a:latin typeface="Calibri" pitchFamily="34" charset="0"/>
                <a:ea typeface="Calibri" pitchFamily="34" charset="-122"/>
                <a:cs typeface="Calibri" pitchFamily="34" charset="-120"/>
              </a:rPr>
              <a:t>Experiment shows fₛ has a maximum value just before sliding:</a:t>
            </a:r>
            <a:endParaRPr lang="en-US" sz="1150" dirty="0"/>
          </a:p>
          <a:p>
            <a:pPr marL="0" indent="0">
              <a:buNone/>
            </a:pPr>
            <a:r>
              <a:rPr lang="en-US" sz="1150" dirty="0">
                <a:solidFill>
                  <a:srgbClr val="4A4A4A"/>
                </a:solidFill>
                <a:latin typeface="Calibri" pitchFamily="34" charset="0"/>
                <a:ea typeface="Calibri" pitchFamily="34" charset="-122"/>
                <a:cs typeface="Calibri" pitchFamily="34" charset="-120"/>
              </a:rPr>
              <a:t>fₛ_max = μₛ × N</a:t>
            </a:r>
            <a:endParaRPr lang="en-US" sz="1150" dirty="0"/>
          </a:p>
          <a:p>
            <a:pPr marL="0" indent="0">
              <a:buNone/>
            </a:pPr>
            <a:r>
              <a:rPr lang="en-US" sz="1150" dirty="0">
                <a:solidFill>
                  <a:srgbClr val="4A4A4A"/>
                </a:solidFill>
                <a:latin typeface="Calibri" pitchFamily="34" charset="0"/>
                <a:ea typeface="Calibri" pitchFamily="34" charset="-122"/>
                <a:cs typeface="Calibri" pitchFamily="34" charset="-120"/>
              </a:rPr>
              <a:t>(μₛ = coefficient of static friction)</a:t>
            </a:r>
            <a:endParaRPr lang="en-US" sz="1150" dirty="0"/>
          </a:p>
        </p:txBody>
      </p:sp>
      <p:sp>
        <p:nvSpPr>
          <p:cNvPr id="23" name="Shape 21"/>
          <p:cNvSpPr/>
          <p:nvPr/>
        </p:nvSpPr>
        <p:spPr>
          <a:xfrm>
            <a:off x="4800600" y="3063240"/>
            <a:ext cx="4114800" cy="1828800"/>
          </a:xfrm>
          <a:prstGeom prst="roundRect">
            <a:avLst>
              <a:gd name="adj" fmla="val 5000"/>
            </a:avLst>
          </a:prstGeom>
          <a:solidFill>
            <a:srgbClr val="F5E6E4"/>
          </a:solidFill>
          <a:ln w="25400">
            <a:solidFill>
              <a:srgbClr val="B85042"/>
            </a:solidFill>
            <a:prstDash val="solid"/>
          </a:ln>
          <a:effectLst>
            <a:outerShdw blurRad="76200" dist="38100" dir="8100000" algn="bl" rotWithShape="0">
              <a:srgbClr val="000000">
                <a:alpha val="12000"/>
              </a:srgbClr>
            </a:outerShdw>
          </a:effectLst>
        </p:spPr>
      </p:sp>
      <p:sp>
        <p:nvSpPr>
          <p:cNvPr id="24" name="Shape 22"/>
          <p:cNvSpPr/>
          <p:nvPr/>
        </p:nvSpPr>
        <p:spPr>
          <a:xfrm>
            <a:off x="4800600" y="3063240"/>
            <a:ext cx="4114800" cy="402336"/>
          </a:xfrm>
          <a:prstGeom prst="roundRect">
            <a:avLst>
              <a:gd name="adj" fmla="val 27273"/>
            </a:avLst>
          </a:prstGeom>
          <a:solidFill>
            <a:srgbClr val="B85042"/>
          </a:solidFill>
          <a:ln w="12700">
            <a:solidFill>
              <a:srgbClr val="B85042"/>
            </a:solidFill>
            <a:prstDash val="solid"/>
          </a:ln>
        </p:spPr>
      </p:sp>
      <p:sp>
        <p:nvSpPr>
          <p:cNvPr id="25" name="Text 23"/>
          <p:cNvSpPr/>
          <p:nvPr/>
        </p:nvSpPr>
        <p:spPr>
          <a:xfrm>
            <a:off x="4800600" y="3099816"/>
            <a:ext cx="41148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Result</a:t>
            </a:r>
            <a:endParaRPr lang="en-US" sz="1200" dirty="0"/>
          </a:p>
        </p:txBody>
      </p:sp>
      <p:sp>
        <p:nvSpPr>
          <p:cNvPr id="26" name="Text 24"/>
          <p:cNvSpPr/>
          <p:nvPr/>
        </p:nvSpPr>
        <p:spPr>
          <a:xfrm>
            <a:off x="4910328" y="3538728"/>
            <a:ext cx="3895344" cy="292608"/>
          </a:xfrm>
          <a:prstGeom prst="rect">
            <a:avLst/>
          </a:prstGeom>
          <a:noFill/>
          <a:ln/>
        </p:spPr>
        <p:txBody>
          <a:bodyPr wrap="square" lIns="0" tIns="0" rIns="0" bIns="0" rtlCol="0" anchor="ctr"/>
          <a:lstStyle/>
          <a:p>
            <a:pPr marL="0" indent="0">
              <a:buNone/>
            </a:pPr>
            <a:r>
              <a:rPr lang="en-US" sz="1250" b="1" dirty="0">
                <a:solidFill>
                  <a:srgbClr val="B85042"/>
                </a:solidFill>
                <a:latin typeface="Georgia" pitchFamily="34" charset="0"/>
                <a:ea typeface="Georgia" pitchFamily="34" charset="-122"/>
                <a:cs typeface="Georgia" pitchFamily="34" charset="-120"/>
              </a:rPr>
              <a:t>Static Friction Inequality</a:t>
            </a:r>
            <a:endParaRPr lang="en-US" sz="1250" dirty="0"/>
          </a:p>
        </p:txBody>
      </p:sp>
      <p:sp>
        <p:nvSpPr>
          <p:cNvPr id="27" name="Text 25"/>
          <p:cNvSpPr/>
          <p:nvPr/>
        </p:nvSpPr>
        <p:spPr>
          <a:xfrm>
            <a:off x="4910328" y="3886200"/>
            <a:ext cx="3895344" cy="914400"/>
          </a:xfrm>
          <a:prstGeom prst="rect">
            <a:avLst/>
          </a:prstGeom>
          <a:noFill/>
          <a:ln/>
        </p:spPr>
        <p:txBody>
          <a:bodyPr wrap="square" lIns="0" tIns="0" rIns="0" bIns="0" rtlCol="0" anchor="ctr"/>
          <a:lstStyle/>
          <a:p>
            <a:pPr marL="0" indent="0">
              <a:buNone/>
            </a:pPr>
            <a:r>
              <a:rPr lang="en-US" sz="1150" dirty="0">
                <a:solidFill>
                  <a:srgbClr val="4A4A4A"/>
                </a:solidFill>
                <a:latin typeface="Calibri" pitchFamily="34" charset="0"/>
                <a:ea typeface="Calibri" pitchFamily="34" charset="-122"/>
                <a:cs typeface="Calibri" pitchFamily="34" charset="-120"/>
              </a:rPr>
              <a:t>Combining: for any applied force F:</a:t>
            </a:r>
            <a:endParaRPr lang="en-US" sz="1150" dirty="0"/>
          </a:p>
          <a:p>
            <a:pPr marL="0" indent="0">
              <a:buNone/>
            </a:pPr>
            <a:r>
              <a:rPr lang="en-US" sz="1150" dirty="0">
                <a:solidFill>
                  <a:srgbClr val="4A4A4A"/>
                </a:solidFill>
                <a:latin typeface="Calibri" pitchFamily="34" charset="0"/>
                <a:ea typeface="Calibri" pitchFamily="34" charset="-122"/>
                <a:cs typeface="Calibri" pitchFamily="34" charset="-120"/>
              </a:rPr>
              <a:t>fₛ ≤ μₛN</a:t>
            </a:r>
            <a:endParaRPr lang="en-US" sz="1150" dirty="0"/>
          </a:p>
          <a:p>
            <a:pPr marL="0" indent="0">
              <a:buNone/>
            </a:pPr>
            <a:r>
              <a:rPr lang="en-US" sz="1150" dirty="0">
                <a:solidFill>
                  <a:srgbClr val="4A4A4A"/>
                </a:solidFill>
                <a:latin typeface="Calibri" pitchFamily="34" charset="0"/>
                <a:ea typeface="Calibri" pitchFamily="34" charset="-122"/>
                <a:cs typeface="Calibri" pitchFamily="34" charset="-120"/>
              </a:rPr>
              <a:t>Equality holds only at the point of impending motion.</a:t>
            </a:r>
            <a:endParaRPr lang="en-US" sz="1150" dirty="0"/>
          </a:p>
        </p:txBody>
      </p:sp>
      <p:sp>
        <p:nvSpPr>
          <p:cNvPr id="28" name="Shape 26"/>
          <p:cNvSpPr/>
          <p:nvPr/>
        </p:nvSpPr>
        <p:spPr>
          <a:xfrm>
            <a:off x="457200" y="4818888"/>
            <a:ext cx="8229600" cy="0"/>
          </a:xfrm>
          <a:prstGeom prst="rect">
            <a:avLst/>
          </a:prstGeom>
          <a:solidFill>
            <a:srgbClr val="B85042"/>
          </a:solidFill>
          <a:ln w="12700">
            <a:solidFill>
              <a:srgbClr val="B85042"/>
            </a:solidFill>
            <a:prstDash val="solid"/>
          </a:ln>
        </p:spPr>
      </p:sp>
      <p:sp>
        <p:nvSpPr>
          <p:cNvPr id="29" name="Text 27"/>
          <p:cNvSpPr/>
          <p:nvPr/>
        </p:nvSpPr>
        <p:spPr>
          <a:xfrm>
            <a:off x="457200" y="4681728"/>
            <a:ext cx="8229600" cy="292608"/>
          </a:xfrm>
          <a:prstGeom prst="rect">
            <a:avLst/>
          </a:prstGeom>
          <a:noFill/>
          <a:ln/>
        </p:spPr>
        <p:txBody>
          <a:bodyPr wrap="square" lIns="0" tIns="0" rIns="0" bIns="0" rtlCol="0" anchor="ctr"/>
          <a:lstStyle/>
          <a:p>
            <a:pPr marL="0" indent="0" algn="ctr">
              <a:buNone/>
            </a:pPr>
            <a:r>
              <a:rPr lang="en-US" sz="1200" b="1" i="1" dirty="0">
                <a:solidFill>
                  <a:srgbClr val="B85042"/>
                </a:solidFill>
                <a:latin typeface="Cambria" pitchFamily="34" charset="0"/>
                <a:ea typeface="Cambria" pitchFamily="34" charset="-122"/>
                <a:cs typeface="Cambria" pitchFamily="34" charset="-120"/>
              </a:rPr>
              <a:t>∴  fₛ ≤ μₛN       (fₛ_max = μₛN at impending motion)       Condition: F &lt; fₛ_max → no motion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2C2C2C"/>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Kinetic Friction — Derivation</a:t>
            </a:r>
            <a:endParaRPr lang="en-US" sz="2600" dirty="0"/>
          </a:p>
        </p:txBody>
      </p:sp>
      <p:sp>
        <p:nvSpPr>
          <p:cNvPr id="3" name="Shape 1"/>
          <p:cNvSpPr/>
          <p:nvPr/>
        </p:nvSpPr>
        <p:spPr>
          <a:xfrm>
            <a:off x="365760" y="987552"/>
            <a:ext cx="2788920" cy="1874520"/>
          </a:xfrm>
          <a:prstGeom prst="roundRect">
            <a:avLst>
              <a:gd name="adj" fmla="val 4878"/>
            </a:avLst>
          </a:prstGeom>
          <a:solidFill>
            <a:srgbClr val="2A2A2A"/>
          </a:solidFill>
          <a:ln w="12700">
            <a:solidFill>
              <a:srgbClr val="404040"/>
            </a:solidFill>
            <a:prstDash val="solid"/>
          </a:ln>
        </p:spPr>
      </p:sp>
      <p:sp>
        <p:nvSpPr>
          <p:cNvPr id="4" name="Shape 2"/>
          <p:cNvSpPr/>
          <p:nvPr/>
        </p:nvSpPr>
        <p:spPr>
          <a:xfrm>
            <a:off x="365760" y="987552"/>
            <a:ext cx="2788920" cy="438912"/>
          </a:xfrm>
          <a:prstGeom prst="roundRect">
            <a:avLst>
              <a:gd name="adj" fmla="val 25000"/>
            </a:avLst>
          </a:prstGeom>
          <a:solidFill>
            <a:srgbClr val="B85042"/>
          </a:solidFill>
          <a:ln w="12700">
            <a:solidFill>
              <a:srgbClr val="B85042"/>
            </a:solidFill>
            <a:prstDash val="solid"/>
          </a:ln>
        </p:spPr>
      </p:sp>
      <p:sp>
        <p:nvSpPr>
          <p:cNvPr id="5" name="Text 3"/>
          <p:cNvSpPr/>
          <p:nvPr/>
        </p:nvSpPr>
        <p:spPr>
          <a:xfrm>
            <a:off x="457200" y="1042416"/>
            <a:ext cx="2606040" cy="329184"/>
          </a:xfrm>
          <a:prstGeom prst="rect">
            <a:avLst/>
          </a:prstGeom>
          <a:noFill/>
          <a:ln/>
        </p:spPr>
        <p:txBody>
          <a:bodyPr wrap="square" lIns="0" tIns="0" rIns="0" bIns="0" rtlCol="0" anchor="ctr"/>
          <a:lstStyle/>
          <a:p>
            <a:pPr marL="0" indent="0">
              <a:buNone/>
            </a:pPr>
            <a:r>
              <a:rPr lang="en-US" sz="1250" b="1" dirty="0">
                <a:solidFill>
                  <a:srgbClr val="FFFFFF"/>
                </a:solidFill>
                <a:latin typeface="Georgia" pitchFamily="34" charset="0"/>
                <a:ea typeface="Georgia" pitchFamily="34" charset="-122"/>
                <a:cs typeface="Georgia" pitchFamily="34" charset="-120"/>
              </a:rPr>
              <a:t>1  Sliding Block Setup</a:t>
            </a:r>
            <a:endParaRPr lang="en-US" sz="1250" dirty="0"/>
          </a:p>
        </p:txBody>
      </p:sp>
      <p:sp>
        <p:nvSpPr>
          <p:cNvPr id="6" name="Text 4"/>
          <p:cNvSpPr/>
          <p:nvPr/>
        </p:nvSpPr>
        <p:spPr>
          <a:xfrm>
            <a:off x="457200" y="1536192"/>
            <a:ext cx="2606040" cy="1261872"/>
          </a:xfrm>
          <a:prstGeom prst="rect">
            <a:avLst/>
          </a:prstGeom>
          <a:noFill/>
          <a:ln/>
        </p:spPr>
        <p:txBody>
          <a:bodyPr wrap="square" lIns="0" tIns="0" rIns="0" bIns="0" rtlCol="0" anchor="ctr"/>
          <a:lstStyle/>
          <a:p>
            <a:pPr marL="0" indent="0">
              <a:buNone/>
            </a:pPr>
            <a:r>
              <a:rPr lang="en-US" sz="1200" dirty="0">
                <a:solidFill>
                  <a:srgbClr val="CCCCCC"/>
                </a:solidFill>
                <a:latin typeface="Calibri" pitchFamily="34" charset="0"/>
                <a:ea typeface="Calibri" pitchFamily="34" charset="-122"/>
                <a:cs typeface="Calibri" pitchFamily="34" charset="-120"/>
              </a:rPr>
              <a:t>Block mass m slides on surface with applied force F (F &gt; fₛ_max). Block now accelerates or moves at constant v.</a:t>
            </a:r>
            <a:endParaRPr lang="en-US" sz="1200" dirty="0"/>
          </a:p>
        </p:txBody>
      </p:sp>
      <p:sp>
        <p:nvSpPr>
          <p:cNvPr id="7" name="Shape 5"/>
          <p:cNvSpPr/>
          <p:nvPr/>
        </p:nvSpPr>
        <p:spPr>
          <a:xfrm>
            <a:off x="3291840" y="987552"/>
            <a:ext cx="2788920" cy="1874520"/>
          </a:xfrm>
          <a:prstGeom prst="roundRect">
            <a:avLst>
              <a:gd name="adj" fmla="val 4878"/>
            </a:avLst>
          </a:prstGeom>
          <a:solidFill>
            <a:srgbClr val="2A2A2A"/>
          </a:solidFill>
          <a:ln w="12700">
            <a:solidFill>
              <a:srgbClr val="404040"/>
            </a:solidFill>
            <a:prstDash val="solid"/>
          </a:ln>
        </p:spPr>
      </p:sp>
      <p:sp>
        <p:nvSpPr>
          <p:cNvPr id="8" name="Shape 6"/>
          <p:cNvSpPr/>
          <p:nvPr/>
        </p:nvSpPr>
        <p:spPr>
          <a:xfrm>
            <a:off x="3291840" y="987552"/>
            <a:ext cx="2788920" cy="438912"/>
          </a:xfrm>
          <a:prstGeom prst="roundRect">
            <a:avLst>
              <a:gd name="adj" fmla="val 25000"/>
            </a:avLst>
          </a:prstGeom>
          <a:solidFill>
            <a:srgbClr val="C9974C"/>
          </a:solidFill>
          <a:ln w="12700">
            <a:solidFill>
              <a:srgbClr val="C9974C"/>
            </a:solidFill>
            <a:prstDash val="solid"/>
          </a:ln>
        </p:spPr>
      </p:sp>
      <p:sp>
        <p:nvSpPr>
          <p:cNvPr id="9" name="Text 7"/>
          <p:cNvSpPr/>
          <p:nvPr/>
        </p:nvSpPr>
        <p:spPr>
          <a:xfrm>
            <a:off x="3383280" y="1042416"/>
            <a:ext cx="2606040" cy="329184"/>
          </a:xfrm>
          <a:prstGeom prst="rect">
            <a:avLst/>
          </a:prstGeom>
          <a:noFill/>
          <a:ln/>
        </p:spPr>
        <p:txBody>
          <a:bodyPr wrap="square" lIns="0" tIns="0" rIns="0" bIns="0" rtlCol="0" anchor="ctr"/>
          <a:lstStyle/>
          <a:p>
            <a:pPr marL="0" indent="0">
              <a:buNone/>
            </a:pPr>
            <a:r>
              <a:rPr lang="en-US" sz="1250" b="1" dirty="0">
                <a:solidFill>
                  <a:srgbClr val="FFFFFF"/>
                </a:solidFill>
                <a:latin typeface="Georgia" pitchFamily="34" charset="0"/>
                <a:ea typeface="Georgia" pitchFamily="34" charset="-122"/>
                <a:cs typeface="Georgia" pitchFamily="34" charset="-120"/>
              </a:rPr>
              <a:t>2  Vertical Equilibrium</a:t>
            </a:r>
            <a:endParaRPr lang="en-US" sz="1250" dirty="0"/>
          </a:p>
        </p:txBody>
      </p:sp>
      <p:sp>
        <p:nvSpPr>
          <p:cNvPr id="10" name="Text 8"/>
          <p:cNvSpPr/>
          <p:nvPr/>
        </p:nvSpPr>
        <p:spPr>
          <a:xfrm>
            <a:off x="3383280" y="1536192"/>
            <a:ext cx="2606040" cy="1261872"/>
          </a:xfrm>
          <a:prstGeom prst="rect">
            <a:avLst/>
          </a:prstGeom>
          <a:noFill/>
          <a:ln/>
        </p:spPr>
        <p:txBody>
          <a:bodyPr wrap="square" lIns="0" tIns="0" rIns="0" bIns="0" rtlCol="0" anchor="ctr"/>
          <a:lstStyle/>
          <a:p>
            <a:pPr marL="0" indent="0">
              <a:buNone/>
            </a:pPr>
            <a:r>
              <a:rPr lang="en-US" sz="1200" dirty="0">
                <a:solidFill>
                  <a:srgbClr val="CCCCCC"/>
                </a:solidFill>
                <a:latin typeface="Calibri" pitchFamily="34" charset="0"/>
                <a:ea typeface="Calibri" pitchFamily="34" charset="-122"/>
                <a:cs typeface="Calibri" pitchFamily="34" charset="-120"/>
              </a:rPr>
              <a:t>ΣFᵧ = 0  (no vertical motion)</a:t>
            </a:r>
            <a:endParaRPr lang="en-US" sz="1200" dirty="0"/>
          </a:p>
          <a:p>
            <a:pPr marL="0" indent="0">
              <a:buNone/>
            </a:pPr>
            <a:r>
              <a:rPr lang="en-US" sz="1200" dirty="0">
                <a:solidFill>
                  <a:srgbClr val="CCCCCC"/>
                </a:solidFill>
                <a:latin typeface="Calibri" pitchFamily="34" charset="0"/>
                <a:ea typeface="Calibri" pitchFamily="34" charset="-122"/>
                <a:cs typeface="Calibri" pitchFamily="34" charset="-120"/>
              </a:rPr>
              <a:t>N − mg = 0</a:t>
            </a:r>
            <a:endParaRPr lang="en-US" sz="1200" dirty="0"/>
          </a:p>
          <a:p>
            <a:pPr marL="0" indent="0">
              <a:buNone/>
            </a:pPr>
            <a:r>
              <a:rPr lang="en-US" sz="1200" dirty="0">
                <a:solidFill>
                  <a:srgbClr val="CCCCCC"/>
                </a:solidFill>
                <a:latin typeface="Calibri" pitchFamily="34" charset="0"/>
                <a:ea typeface="Calibri" pitchFamily="34" charset="-122"/>
                <a:cs typeface="Calibri" pitchFamily="34" charset="-120"/>
              </a:rPr>
              <a:t>∴  N = mg</a:t>
            </a:r>
            <a:endParaRPr lang="en-US" sz="1200" dirty="0"/>
          </a:p>
        </p:txBody>
      </p:sp>
      <p:sp>
        <p:nvSpPr>
          <p:cNvPr id="11" name="Shape 9"/>
          <p:cNvSpPr/>
          <p:nvPr/>
        </p:nvSpPr>
        <p:spPr>
          <a:xfrm>
            <a:off x="6217920" y="987552"/>
            <a:ext cx="2788920" cy="1874520"/>
          </a:xfrm>
          <a:prstGeom prst="roundRect">
            <a:avLst>
              <a:gd name="adj" fmla="val 4878"/>
            </a:avLst>
          </a:prstGeom>
          <a:solidFill>
            <a:srgbClr val="2A2A2A"/>
          </a:solidFill>
          <a:ln w="12700">
            <a:solidFill>
              <a:srgbClr val="404040"/>
            </a:solidFill>
            <a:prstDash val="solid"/>
          </a:ln>
        </p:spPr>
      </p:sp>
      <p:sp>
        <p:nvSpPr>
          <p:cNvPr id="12" name="Shape 10"/>
          <p:cNvSpPr/>
          <p:nvPr/>
        </p:nvSpPr>
        <p:spPr>
          <a:xfrm>
            <a:off x="6217920" y="987552"/>
            <a:ext cx="2788920" cy="438912"/>
          </a:xfrm>
          <a:prstGeom prst="roundRect">
            <a:avLst>
              <a:gd name="adj" fmla="val 25000"/>
            </a:avLst>
          </a:prstGeom>
          <a:solidFill>
            <a:srgbClr val="2A7F7F"/>
          </a:solidFill>
          <a:ln w="12700">
            <a:solidFill>
              <a:srgbClr val="2A7F7F"/>
            </a:solidFill>
            <a:prstDash val="solid"/>
          </a:ln>
        </p:spPr>
      </p:sp>
      <p:sp>
        <p:nvSpPr>
          <p:cNvPr id="13" name="Text 11"/>
          <p:cNvSpPr/>
          <p:nvPr/>
        </p:nvSpPr>
        <p:spPr>
          <a:xfrm>
            <a:off x="6309360" y="1042416"/>
            <a:ext cx="2606040" cy="329184"/>
          </a:xfrm>
          <a:prstGeom prst="rect">
            <a:avLst/>
          </a:prstGeom>
          <a:noFill/>
          <a:ln/>
        </p:spPr>
        <p:txBody>
          <a:bodyPr wrap="square" lIns="0" tIns="0" rIns="0" bIns="0" rtlCol="0" anchor="ctr"/>
          <a:lstStyle/>
          <a:p>
            <a:pPr marL="0" indent="0">
              <a:buNone/>
            </a:pPr>
            <a:r>
              <a:rPr lang="en-US" sz="1250" b="1" dirty="0">
                <a:solidFill>
                  <a:srgbClr val="FFFFFF"/>
                </a:solidFill>
                <a:latin typeface="Georgia" pitchFamily="34" charset="0"/>
                <a:ea typeface="Georgia" pitchFamily="34" charset="-122"/>
                <a:cs typeface="Georgia" pitchFamily="34" charset="-120"/>
              </a:rPr>
              <a:t>3  Horizontal (Newton's 2nd Law)</a:t>
            </a:r>
            <a:endParaRPr lang="en-US" sz="1250" dirty="0"/>
          </a:p>
        </p:txBody>
      </p:sp>
      <p:sp>
        <p:nvSpPr>
          <p:cNvPr id="14" name="Text 12"/>
          <p:cNvSpPr/>
          <p:nvPr/>
        </p:nvSpPr>
        <p:spPr>
          <a:xfrm>
            <a:off x="6309360" y="1536192"/>
            <a:ext cx="2606040" cy="1261872"/>
          </a:xfrm>
          <a:prstGeom prst="rect">
            <a:avLst/>
          </a:prstGeom>
          <a:noFill/>
          <a:ln/>
        </p:spPr>
        <p:txBody>
          <a:bodyPr wrap="square" lIns="0" tIns="0" rIns="0" bIns="0" rtlCol="0" anchor="ctr"/>
          <a:lstStyle/>
          <a:p>
            <a:pPr marL="0" indent="0">
              <a:buNone/>
            </a:pPr>
            <a:r>
              <a:rPr lang="en-US" sz="1200" dirty="0">
                <a:solidFill>
                  <a:srgbClr val="CCCCCC"/>
                </a:solidFill>
                <a:latin typeface="Calibri" pitchFamily="34" charset="0"/>
                <a:ea typeface="Calibri" pitchFamily="34" charset="-122"/>
                <a:cs typeface="Calibri" pitchFamily="34" charset="-120"/>
              </a:rPr>
              <a:t>ΣFₓ = ma</a:t>
            </a:r>
            <a:endParaRPr lang="en-US" sz="1200" dirty="0"/>
          </a:p>
          <a:p>
            <a:pPr marL="0" indent="0">
              <a:buNone/>
            </a:pPr>
            <a:r>
              <a:rPr lang="en-US" sz="1200" dirty="0">
                <a:solidFill>
                  <a:srgbClr val="CCCCCC"/>
                </a:solidFill>
                <a:latin typeface="Calibri" pitchFamily="34" charset="0"/>
                <a:ea typeface="Calibri" pitchFamily="34" charset="-122"/>
                <a:cs typeface="Calibri" pitchFamily="34" charset="-120"/>
              </a:rPr>
              <a:t>F − fₖ = ma</a:t>
            </a:r>
            <a:endParaRPr lang="en-US" sz="1200" dirty="0"/>
          </a:p>
          <a:p>
            <a:pPr marL="0" indent="0">
              <a:buNone/>
            </a:pPr>
            <a:r>
              <a:rPr lang="en-US" sz="1200" dirty="0">
                <a:solidFill>
                  <a:srgbClr val="CCCCCC"/>
                </a:solidFill>
                <a:latin typeface="Calibri" pitchFamily="34" charset="0"/>
                <a:ea typeface="Calibri" pitchFamily="34" charset="-122"/>
                <a:cs typeface="Calibri" pitchFamily="34" charset="-120"/>
              </a:rPr>
              <a:t>∴  fₖ = F − ma</a:t>
            </a:r>
            <a:endParaRPr lang="en-US" sz="1200" dirty="0"/>
          </a:p>
        </p:txBody>
      </p:sp>
      <p:sp>
        <p:nvSpPr>
          <p:cNvPr id="15" name="Shape 13"/>
          <p:cNvSpPr/>
          <p:nvPr/>
        </p:nvSpPr>
        <p:spPr>
          <a:xfrm>
            <a:off x="365760" y="2999232"/>
            <a:ext cx="2788920" cy="1874520"/>
          </a:xfrm>
          <a:prstGeom prst="roundRect">
            <a:avLst>
              <a:gd name="adj" fmla="val 4878"/>
            </a:avLst>
          </a:prstGeom>
          <a:solidFill>
            <a:srgbClr val="2A2A2A"/>
          </a:solidFill>
          <a:ln w="12700">
            <a:solidFill>
              <a:srgbClr val="404040"/>
            </a:solidFill>
            <a:prstDash val="solid"/>
          </a:ln>
        </p:spPr>
      </p:sp>
      <p:sp>
        <p:nvSpPr>
          <p:cNvPr id="16" name="Shape 14"/>
          <p:cNvSpPr/>
          <p:nvPr/>
        </p:nvSpPr>
        <p:spPr>
          <a:xfrm>
            <a:off x="365760" y="2999232"/>
            <a:ext cx="2788920" cy="438912"/>
          </a:xfrm>
          <a:prstGeom prst="roundRect">
            <a:avLst>
              <a:gd name="adj" fmla="val 25000"/>
            </a:avLst>
          </a:prstGeom>
          <a:solidFill>
            <a:srgbClr val="8888DD"/>
          </a:solidFill>
          <a:ln w="12700">
            <a:solidFill>
              <a:srgbClr val="8888DD"/>
            </a:solidFill>
            <a:prstDash val="solid"/>
          </a:ln>
        </p:spPr>
      </p:sp>
      <p:sp>
        <p:nvSpPr>
          <p:cNvPr id="17" name="Text 15"/>
          <p:cNvSpPr/>
          <p:nvPr/>
        </p:nvSpPr>
        <p:spPr>
          <a:xfrm>
            <a:off x="457200" y="3054096"/>
            <a:ext cx="2606040" cy="329184"/>
          </a:xfrm>
          <a:prstGeom prst="rect">
            <a:avLst/>
          </a:prstGeom>
          <a:noFill/>
          <a:ln/>
        </p:spPr>
        <p:txBody>
          <a:bodyPr wrap="square" lIns="0" tIns="0" rIns="0" bIns="0" rtlCol="0" anchor="ctr"/>
          <a:lstStyle/>
          <a:p>
            <a:pPr marL="0" indent="0">
              <a:buNone/>
            </a:pPr>
            <a:r>
              <a:rPr lang="en-US" sz="1250" b="1" dirty="0">
                <a:solidFill>
                  <a:srgbClr val="FFFFFF"/>
                </a:solidFill>
                <a:latin typeface="Georgia" pitchFamily="34" charset="0"/>
                <a:ea typeface="Georgia" pitchFamily="34" charset="-122"/>
                <a:cs typeface="Georgia" pitchFamily="34" charset="-120"/>
              </a:rPr>
              <a:t>4  Experimental Observation</a:t>
            </a:r>
            <a:endParaRPr lang="en-US" sz="1250" dirty="0"/>
          </a:p>
        </p:txBody>
      </p:sp>
      <p:sp>
        <p:nvSpPr>
          <p:cNvPr id="18" name="Text 16"/>
          <p:cNvSpPr/>
          <p:nvPr/>
        </p:nvSpPr>
        <p:spPr>
          <a:xfrm>
            <a:off x="457200" y="3547872"/>
            <a:ext cx="2606040" cy="1261872"/>
          </a:xfrm>
          <a:prstGeom prst="rect">
            <a:avLst/>
          </a:prstGeom>
          <a:noFill/>
          <a:ln/>
        </p:spPr>
        <p:txBody>
          <a:bodyPr wrap="square" lIns="0" tIns="0" rIns="0" bIns="0" rtlCol="0" anchor="ctr"/>
          <a:lstStyle/>
          <a:p>
            <a:pPr marL="0" indent="0">
              <a:buNone/>
            </a:pPr>
            <a:r>
              <a:rPr lang="en-US" sz="1200" dirty="0">
                <a:solidFill>
                  <a:srgbClr val="CCCCCC"/>
                </a:solidFill>
                <a:latin typeface="Calibri" pitchFamily="34" charset="0"/>
                <a:ea typeface="Calibri" pitchFamily="34" charset="-122"/>
                <a:cs typeface="Calibri" pitchFamily="34" charset="-120"/>
              </a:rPr>
              <a:t>For constant velocity (a = 0):</a:t>
            </a:r>
            <a:endParaRPr lang="en-US" sz="1200" dirty="0"/>
          </a:p>
          <a:p>
            <a:pPr marL="0" indent="0">
              <a:buNone/>
            </a:pPr>
            <a:r>
              <a:rPr lang="en-US" sz="1200" dirty="0">
                <a:solidFill>
                  <a:srgbClr val="CCCCCC"/>
                </a:solidFill>
                <a:latin typeface="Calibri" pitchFamily="34" charset="0"/>
                <a:ea typeface="Calibri" pitchFamily="34" charset="-122"/>
                <a:cs typeface="Calibri" pitchFamily="34" charset="-120"/>
              </a:rPr>
              <a:t>F = fₖ</a:t>
            </a:r>
            <a:endParaRPr lang="en-US" sz="1200" dirty="0"/>
          </a:p>
          <a:p>
            <a:pPr marL="0" indent="0">
              <a:buNone/>
            </a:pPr>
            <a:r>
              <a:rPr lang="en-US" sz="1200" dirty="0">
                <a:solidFill>
                  <a:srgbClr val="CCCCCC"/>
                </a:solidFill>
                <a:latin typeface="Calibri" pitchFamily="34" charset="0"/>
                <a:ea typeface="Calibri" pitchFamily="34" charset="-122"/>
                <a:cs typeface="Calibri" pitchFamily="34" charset="-120"/>
              </a:rPr>
              <a:t>Measuring F gives fₖ directly.</a:t>
            </a:r>
            <a:endParaRPr lang="en-US" sz="1200" dirty="0"/>
          </a:p>
        </p:txBody>
      </p:sp>
      <p:sp>
        <p:nvSpPr>
          <p:cNvPr id="19" name="Shape 17"/>
          <p:cNvSpPr/>
          <p:nvPr/>
        </p:nvSpPr>
        <p:spPr>
          <a:xfrm>
            <a:off x="3291840" y="2999232"/>
            <a:ext cx="2788920" cy="1874520"/>
          </a:xfrm>
          <a:prstGeom prst="roundRect">
            <a:avLst>
              <a:gd name="adj" fmla="val 4878"/>
            </a:avLst>
          </a:prstGeom>
          <a:solidFill>
            <a:srgbClr val="2A2A2A"/>
          </a:solidFill>
          <a:ln w="12700">
            <a:solidFill>
              <a:srgbClr val="404040"/>
            </a:solidFill>
            <a:prstDash val="solid"/>
          </a:ln>
        </p:spPr>
      </p:sp>
      <p:sp>
        <p:nvSpPr>
          <p:cNvPr id="20" name="Shape 18"/>
          <p:cNvSpPr/>
          <p:nvPr/>
        </p:nvSpPr>
        <p:spPr>
          <a:xfrm>
            <a:off x="3291840" y="2999232"/>
            <a:ext cx="2788920" cy="438912"/>
          </a:xfrm>
          <a:prstGeom prst="roundRect">
            <a:avLst>
              <a:gd name="adj" fmla="val 25000"/>
            </a:avLst>
          </a:prstGeom>
          <a:solidFill>
            <a:srgbClr val="A7BEAE"/>
          </a:solidFill>
          <a:ln w="12700">
            <a:solidFill>
              <a:srgbClr val="A7BEAE"/>
            </a:solidFill>
            <a:prstDash val="solid"/>
          </a:ln>
        </p:spPr>
      </p:sp>
      <p:sp>
        <p:nvSpPr>
          <p:cNvPr id="21" name="Text 19"/>
          <p:cNvSpPr/>
          <p:nvPr/>
        </p:nvSpPr>
        <p:spPr>
          <a:xfrm>
            <a:off x="3383280" y="3054096"/>
            <a:ext cx="2606040" cy="329184"/>
          </a:xfrm>
          <a:prstGeom prst="rect">
            <a:avLst/>
          </a:prstGeom>
          <a:noFill/>
          <a:ln/>
        </p:spPr>
        <p:txBody>
          <a:bodyPr wrap="square" lIns="0" tIns="0" rIns="0" bIns="0" rtlCol="0" anchor="ctr"/>
          <a:lstStyle/>
          <a:p>
            <a:pPr marL="0" indent="0">
              <a:buNone/>
            </a:pPr>
            <a:r>
              <a:rPr lang="en-US" sz="1250" b="1" dirty="0">
                <a:solidFill>
                  <a:srgbClr val="FFFFFF"/>
                </a:solidFill>
                <a:latin typeface="Georgia" pitchFamily="34" charset="0"/>
                <a:ea typeface="Georgia" pitchFamily="34" charset="-122"/>
                <a:cs typeface="Georgia" pitchFamily="34" charset="-120"/>
              </a:rPr>
              <a:t>5  Proportionality Law</a:t>
            </a:r>
            <a:endParaRPr lang="en-US" sz="1250" dirty="0"/>
          </a:p>
        </p:txBody>
      </p:sp>
      <p:sp>
        <p:nvSpPr>
          <p:cNvPr id="22" name="Text 20"/>
          <p:cNvSpPr/>
          <p:nvPr/>
        </p:nvSpPr>
        <p:spPr>
          <a:xfrm>
            <a:off x="3383280" y="3547872"/>
            <a:ext cx="2606040" cy="1261872"/>
          </a:xfrm>
          <a:prstGeom prst="rect">
            <a:avLst/>
          </a:prstGeom>
          <a:noFill/>
          <a:ln/>
        </p:spPr>
        <p:txBody>
          <a:bodyPr wrap="square" lIns="0" tIns="0" rIns="0" bIns="0" rtlCol="0" anchor="ctr"/>
          <a:lstStyle/>
          <a:p>
            <a:pPr marL="0" indent="0">
              <a:buNone/>
            </a:pPr>
            <a:r>
              <a:rPr lang="en-US" sz="1200" dirty="0">
                <a:solidFill>
                  <a:srgbClr val="CCCCCC"/>
                </a:solidFill>
                <a:latin typeface="Calibri" pitchFamily="34" charset="0"/>
                <a:ea typeface="Calibri" pitchFamily="34" charset="-122"/>
                <a:cs typeface="Calibri" pitchFamily="34" charset="-120"/>
              </a:rPr>
              <a:t>Experiments show fₖ ∝ N</a:t>
            </a:r>
            <a:endParaRPr lang="en-US" sz="1200" dirty="0"/>
          </a:p>
          <a:p>
            <a:pPr marL="0" indent="0">
              <a:buNone/>
            </a:pPr>
            <a:r>
              <a:rPr lang="en-US" sz="1200" dirty="0">
                <a:solidFill>
                  <a:srgbClr val="CCCCCC"/>
                </a:solidFill>
                <a:latin typeface="Calibri" pitchFamily="34" charset="0"/>
                <a:ea typeface="Calibri" pitchFamily="34" charset="-122"/>
                <a:cs typeface="Calibri" pitchFamily="34" charset="-120"/>
              </a:rPr>
              <a:t>Define proportionality constant μₖ:</a:t>
            </a:r>
            <a:endParaRPr lang="en-US" sz="1200" dirty="0"/>
          </a:p>
          <a:p>
            <a:pPr marL="0" indent="0">
              <a:buNone/>
            </a:pPr>
            <a:r>
              <a:rPr lang="en-US" sz="1200" dirty="0">
                <a:solidFill>
                  <a:srgbClr val="CCCCCC"/>
                </a:solidFill>
                <a:latin typeface="Calibri" pitchFamily="34" charset="0"/>
                <a:ea typeface="Calibri" pitchFamily="34" charset="-122"/>
                <a:cs typeface="Calibri" pitchFamily="34" charset="-120"/>
              </a:rPr>
              <a:t>fₖ = μₖ × N</a:t>
            </a:r>
            <a:endParaRPr lang="en-US" sz="1200" dirty="0"/>
          </a:p>
        </p:txBody>
      </p:sp>
      <p:sp>
        <p:nvSpPr>
          <p:cNvPr id="23" name="Shape 21"/>
          <p:cNvSpPr/>
          <p:nvPr/>
        </p:nvSpPr>
        <p:spPr>
          <a:xfrm>
            <a:off x="6217920" y="2999232"/>
            <a:ext cx="2788920" cy="1874520"/>
          </a:xfrm>
          <a:prstGeom prst="roundRect">
            <a:avLst>
              <a:gd name="adj" fmla="val 4878"/>
            </a:avLst>
          </a:prstGeom>
          <a:solidFill>
            <a:srgbClr val="2A2A2A"/>
          </a:solidFill>
          <a:ln w="12700">
            <a:solidFill>
              <a:srgbClr val="404040"/>
            </a:solidFill>
            <a:prstDash val="solid"/>
          </a:ln>
        </p:spPr>
      </p:sp>
      <p:sp>
        <p:nvSpPr>
          <p:cNvPr id="24" name="Shape 22"/>
          <p:cNvSpPr/>
          <p:nvPr/>
        </p:nvSpPr>
        <p:spPr>
          <a:xfrm>
            <a:off x="6217920" y="2999232"/>
            <a:ext cx="2788920" cy="438912"/>
          </a:xfrm>
          <a:prstGeom prst="roundRect">
            <a:avLst>
              <a:gd name="adj" fmla="val 25000"/>
            </a:avLst>
          </a:prstGeom>
          <a:solidFill>
            <a:srgbClr val="B85042"/>
          </a:solidFill>
          <a:ln w="12700">
            <a:solidFill>
              <a:srgbClr val="B85042"/>
            </a:solidFill>
            <a:prstDash val="solid"/>
          </a:ln>
        </p:spPr>
      </p:sp>
      <p:sp>
        <p:nvSpPr>
          <p:cNvPr id="25" name="Text 23"/>
          <p:cNvSpPr/>
          <p:nvPr/>
        </p:nvSpPr>
        <p:spPr>
          <a:xfrm>
            <a:off x="6309360" y="3054096"/>
            <a:ext cx="2606040" cy="329184"/>
          </a:xfrm>
          <a:prstGeom prst="rect">
            <a:avLst/>
          </a:prstGeom>
          <a:noFill/>
          <a:ln/>
        </p:spPr>
        <p:txBody>
          <a:bodyPr wrap="square" lIns="0" tIns="0" rIns="0" bIns="0" rtlCol="0" anchor="ctr"/>
          <a:lstStyle/>
          <a:p>
            <a:pPr marL="0" indent="0">
              <a:buNone/>
            </a:pPr>
            <a:r>
              <a:rPr lang="en-US" sz="1250" b="1" dirty="0">
                <a:solidFill>
                  <a:srgbClr val="FFFFFF"/>
                </a:solidFill>
                <a:latin typeface="Georgia" pitchFamily="34" charset="0"/>
                <a:ea typeface="Georgia" pitchFamily="34" charset="-122"/>
                <a:cs typeface="Georgia" pitchFamily="34" charset="-120"/>
              </a:rPr>
              <a:t>✓  Final Formula</a:t>
            </a:r>
            <a:endParaRPr lang="en-US" sz="1250" dirty="0"/>
          </a:p>
        </p:txBody>
      </p:sp>
      <p:sp>
        <p:nvSpPr>
          <p:cNvPr id="26" name="Text 24"/>
          <p:cNvSpPr/>
          <p:nvPr/>
        </p:nvSpPr>
        <p:spPr>
          <a:xfrm>
            <a:off x="6309360" y="3547872"/>
            <a:ext cx="2606040" cy="1261872"/>
          </a:xfrm>
          <a:prstGeom prst="rect">
            <a:avLst/>
          </a:prstGeom>
          <a:noFill/>
          <a:ln/>
        </p:spPr>
        <p:txBody>
          <a:bodyPr wrap="square" lIns="0" tIns="0" rIns="0" bIns="0" rtlCol="0" anchor="ctr"/>
          <a:lstStyle/>
          <a:p>
            <a:pPr marL="0" indent="0">
              <a:buNone/>
            </a:pPr>
            <a:r>
              <a:rPr lang="en-US" sz="1200" dirty="0">
                <a:solidFill>
                  <a:srgbClr val="CCCCCC"/>
                </a:solidFill>
                <a:latin typeface="Calibri" pitchFamily="34" charset="0"/>
                <a:ea typeface="Calibri" pitchFamily="34" charset="-122"/>
                <a:cs typeface="Calibri" pitchFamily="34" charset="-120"/>
              </a:rPr>
              <a:t>fₖ = μₖN</a:t>
            </a:r>
            <a:endParaRPr lang="en-US" sz="1200" dirty="0"/>
          </a:p>
          <a:p>
            <a:pPr marL="0" indent="0">
              <a:buNone/>
            </a:pPr>
            <a:r>
              <a:rPr lang="en-US" sz="1200" dirty="0">
                <a:solidFill>
                  <a:srgbClr val="CCCCCC"/>
                </a:solidFill>
                <a:latin typeface="Calibri" pitchFamily="34" charset="0"/>
                <a:ea typeface="Calibri" pitchFamily="34" charset="-122"/>
                <a:cs typeface="Calibri" pitchFamily="34" charset="-120"/>
              </a:rPr>
              <a:t>μₖ &lt; μₛ (always)</a:t>
            </a:r>
            <a:endParaRPr lang="en-US" sz="1200" dirty="0"/>
          </a:p>
          <a:p>
            <a:pPr marL="0" indent="0">
              <a:buNone/>
            </a:pPr>
            <a:r>
              <a:rPr lang="en-US" sz="1200" dirty="0">
                <a:solidFill>
                  <a:srgbClr val="CCCCCC"/>
                </a:solidFill>
                <a:latin typeface="Calibri" pitchFamily="34" charset="0"/>
                <a:ea typeface="Calibri" pitchFamily="34" charset="-122"/>
                <a:cs typeface="Calibri" pitchFamily="34" charset="-120"/>
              </a:rPr>
              <a:t>μₖ independent of speed (Coulomb)</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marL="0" indent="0">
              <a:buNone/>
            </a:pPr>
            <a:r>
              <a:rPr lang="en-US" sz="3400" b="1" dirty="0">
                <a:solidFill>
                  <a:srgbClr val="2C2C2C"/>
                </a:solidFill>
                <a:latin typeface="Georgia" pitchFamily="34" charset="0"/>
                <a:ea typeface="Georgia" pitchFamily="34" charset="-122"/>
                <a:cs typeface="Georgia" pitchFamily="34" charset="-120"/>
              </a:rPr>
              <a:t>Coefficient of Friction (μ)</a:t>
            </a:r>
            <a:endParaRPr lang="en-US" sz="3400" dirty="0"/>
          </a:p>
        </p:txBody>
      </p:sp>
      <p:sp>
        <p:nvSpPr>
          <p:cNvPr id="3" name="Shape 1"/>
          <p:cNvSpPr/>
          <p:nvPr/>
        </p:nvSpPr>
        <p:spPr>
          <a:xfrm>
            <a:off x="457200" y="914400"/>
            <a:ext cx="8229600" cy="594360"/>
          </a:xfrm>
          <a:prstGeom prst="rect">
            <a:avLst/>
          </a:prstGeom>
          <a:solidFill>
            <a:srgbClr val="B85042"/>
          </a:solidFill>
          <a:ln w="12700">
            <a:solidFill>
              <a:srgbClr val="B85042"/>
            </a:solidFill>
            <a:prstDash val="solid"/>
          </a:ln>
          <a:effectLst>
            <a:outerShdw blurRad="76200" dist="38100" dir="8100000" algn="bl" rotWithShape="0">
              <a:srgbClr val="000000">
                <a:alpha val="12000"/>
              </a:srgbClr>
            </a:outerShdw>
          </a:effectLst>
        </p:spPr>
      </p:sp>
      <p:sp>
        <p:nvSpPr>
          <p:cNvPr id="4" name="Text 2"/>
          <p:cNvSpPr/>
          <p:nvPr/>
        </p:nvSpPr>
        <p:spPr>
          <a:xfrm>
            <a:off x="594360" y="941832"/>
            <a:ext cx="7955280" cy="539496"/>
          </a:xfrm>
          <a:prstGeom prst="rect">
            <a:avLst/>
          </a:prstGeom>
          <a:noFill/>
          <a:ln/>
        </p:spPr>
        <p:txBody>
          <a:bodyPr wrap="square" lIns="50800" tIns="50800" rIns="50800" bIns="5080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μ is a dimensionless constant expressing the ratio of friction force to normal force. It depends ONLY on the pair of materials — not on mass, speed, or area.</a:t>
            </a:r>
            <a:endParaRPr lang="en-US" sz="1300" dirty="0"/>
          </a:p>
        </p:txBody>
      </p:sp>
      <p:sp>
        <p:nvSpPr>
          <p:cNvPr id="5" name="Shape 3"/>
          <p:cNvSpPr/>
          <p:nvPr/>
        </p:nvSpPr>
        <p:spPr>
          <a:xfrm>
            <a:off x="457200" y="1645920"/>
            <a:ext cx="4572000" cy="365760"/>
          </a:xfrm>
          <a:prstGeom prst="rect">
            <a:avLst/>
          </a:prstGeom>
          <a:solidFill>
            <a:srgbClr val="B85042"/>
          </a:solidFill>
          <a:ln w="12700">
            <a:solidFill>
              <a:srgbClr val="B85042"/>
            </a:solidFill>
            <a:prstDash val="solid"/>
          </a:ln>
        </p:spPr>
      </p:sp>
      <p:sp>
        <p:nvSpPr>
          <p:cNvPr id="6" name="Text 4"/>
          <p:cNvSpPr/>
          <p:nvPr/>
        </p:nvSpPr>
        <p:spPr>
          <a:xfrm>
            <a:off x="457200" y="1664208"/>
            <a:ext cx="45720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Surface Pair</a:t>
            </a:r>
            <a:endParaRPr lang="en-US" sz="1200" dirty="0"/>
          </a:p>
        </p:txBody>
      </p:sp>
      <p:sp>
        <p:nvSpPr>
          <p:cNvPr id="7" name="Shape 5"/>
          <p:cNvSpPr/>
          <p:nvPr/>
        </p:nvSpPr>
        <p:spPr>
          <a:xfrm>
            <a:off x="5120640" y="1645920"/>
            <a:ext cx="1828800" cy="365760"/>
          </a:xfrm>
          <a:prstGeom prst="rect">
            <a:avLst/>
          </a:prstGeom>
          <a:solidFill>
            <a:srgbClr val="B85042"/>
          </a:solidFill>
          <a:ln w="12700">
            <a:solidFill>
              <a:srgbClr val="B85042"/>
            </a:solidFill>
            <a:prstDash val="solid"/>
          </a:ln>
        </p:spPr>
      </p:sp>
      <p:sp>
        <p:nvSpPr>
          <p:cNvPr id="8" name="Text 6"/>
          <p:cNvSpPr/>
          <p:nvPr/>
        </p:nvSpPr>
        <p:spPr>
          <a:xfrm>
            <a:off x="5120640" y="1664208"/>
            <a:ext cx="18288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μₛ (static)</a:t>
            </a:r>
            <a:endParaRPr lang="en-US" sz="1200" dirty="0"/>
          </a:p>
        </p:txBody>
      </p:sp>
      <p:sp>
        <p:nvSpPr>
          <p:cNvPr id="9" name="Shape 7"/>
          <p:cNvSpPr/>
          <p:nvPr/>
        </p:nvSpPr>
        <p:spPr>
          <a:xfrm>
            <a:off x="7040880" y="1645920"/>
            <a:ext cx="1828800" cy="365760"/>
          </a:xfrm>
          <a:prstGeom prst="rect">
            <a:avLst/>
          </a:prstGeom>
          <a:solidFill>
            <a:srgbClr val="B85042"/>
          </a:solidFill>
          <a:ln w="12700">
            <a:solidFill>
              <a:srgbClr val="B85042"/>
            </a:solidFill>
            <a:prstDash val="solid"/>
          </a:ln>
        </p:spPr>
      </p:sp>
      <p:sp>
        <p:nvSpPr>
          <p:cNvPr id="10" name="Text 8"/>
          <p:cNvSpPr/>
          <p:nvPr/>
        </p:nvSpPr>
        <p:spPr>
          <a:xfrm>
            <a:off x="7040880" y="1664208"/>
            <a:ext cx="18288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μₖ (kinetic)</a:t>
            </a:r>
            <a:endParaRPr lang="en-US" sz="1200" dirty="0"/>
          </a:p>
        </p:txBody>
      </p:sp>
      <p:sp>
        <p:nvSpPr>
          <p:cNvPr id="11" name="Shape 9"/>
          <p:cNvSpPr/>
          <p:nvPr/>
        </p:nvSpPr>
        <p:spPr>
          <a:xfrm>
            <a:off x="457200" y="2011680"/>
            <a:ext cx="4572000" cy="365760"/>
          </a:xfrm>
          <a:prstGeom prst="rect">
            <a:avLst/>
          </a:prstGeom>
          <a:solidFill>
            <a:srgbClr val="FFFFFF"/>
          </a:solidFill>
          <a:ln w="9525">
            <a:solidFill>
              <a:srgbClr val="E5E0D8"/>
            </a:solidFill>
            <a:prstDash val="solid"/>
          </a:ln>
        </p:spPr>
      </p:sp>
      <p:sp>
        <p:nvSpPr>
          <p:cNvPr id="12" name="Text 10"/>
          <p:cNvSpPr/>
          <p:nvPr/>
        </p:nvSpPr>
        <p:spPr>
          <a:xfrm>
            <a:off x="530352" y="2066544"/>
            <a:ext cx="4425696" cy="256032"/>
          </a:xfrm>
          <a:prstGeom prst="rect">
            <a:avLst/>
          </a:prstGeom>
          <a:noFill/>
          <a:ln/>
        </p:spPr>
        <p:txBody>
          <a:bodyPr wrap="square" lIns="0" tIns="0" rIns="0" bIns="0" rtlCol="0" anchor="ctr"/>
          <a:lstStyle/>
          <a:p>
            <a:pPr marL="0" indent="0" algn="l">
              <a:buNone/>
            </a:pPr>
            <a:r>
              <a:rPr lang="en-US" sz="1100" dirty="0">
                <a:solidFill>
                  <a:srgbClr val="4A4A4A"/>
                </a:solidFill>
                <a:latin typeface="Calibri" pitchFamily="34" charset="0"/>
                <a:ea typeface="Calibri" pitchFamily="34" charset="-122"/>
                <a:cs typeface="Calibri" pitchFamily="34" charset="-120"/>
              </a:rPr>
              <a:t>Rubber on dry concrete</a:t>
            </a:r>
            <a:endParaRPr lang="en-US" sz="1100" dirty="0"/>
          </a:p>
        </p:txBody>
      </p:sp>
      <p:sp>
        <p:nvSpPr>
          <p:cNvPr id="13" name="Shape 11"/>
          <p:cNvSpPr/>
          <p:nvPr/>
        </p:nvSpPr>
        <p:spPr>
          <a:xfrm>
            <a:off x="5120640" y="2011680"/>
            <a:ext cx="1828800" cy="365760"/>
          </a:xfrm>
          <a:prstGeom prst="rect">
            <a:avLst/>
          </a:prstGeom>
          <a:solidFill>
            <a:srgbClr val="FFFFFF"/>
          </a:solidFill>
          <a:ln w="9525">
            <a:solidFill>
              <a:srgbClr val="E5E0D8"/>
            </a:solidFill>
            <a:prstDash val="solid"/>
          </a:ln>
        </p:spPr>
      </p:sp>
      <p:sp>
        <p:nvSpPr>
          <p:cNvPr id="14" name="Text 12"/>
          <p:cNvSpPr/>
          <p:nvPr/>
        </p:nvSpPr>
        <p:spPr>
          <a:xfrm>
            <a:off x="5193792" y="2066544"/>
            <a:ext cx="1682496" cy="256032"/>
          </a:xfrm>
          <a:prstGeom prst="rect">
            <a:avLst/>
          </a:prstGeom>
          <a:noFill/>
          <a:ln/>
        </p:spPr>
        <p:txBody>
          <a:bodyPr wrap="square" lIns="0" tIns="0" rIns="0" bIns="0" rtlCol="0" anchor="ctr"/>
          <a:lstStyle/>
          <a:p>
            <a:pPr marL="0" indent="0" algn="ctr">
              <a:buNone/>
            </a:pPr>
            <a:r>
              <a:rPr lang="en-US" sz="1100" dirty="0">
                <a:solidFill>
                  <a:srgbClr val="4A4A4A"/>
                </a:solidFill>
                <a:latin typeface="Calibri" pitchFamily="34" charset="0"/>
                <a:ea typeface="Calibri" pitchFamily="34" charset="-122"/>
                <a:cs typeface="Calibri" pitchFamily="34" charset="-120"/>
              </a:rPr>
              <a:t>0.6 – 0.8</a:t>
            </a:r>
            <a:endParaRPr lang="en-US" sz="1100" dirty="0"/>
          </a:p>
        </p:txBody>
      </p:sp>
      <p:sp>
        <p:nvSpPr>
          <p:cNvPr id="15" name="Shape 13"/>
          <p:cNvSpPr/>
          <p:nvPr/>
        </p:nvSpPr>
        <p:spPr>
          <a:xfrm>
            <a:off x="7040880" y="2011680"/>
            <a:ext cx="1828800" cy="365760"/>
          </a:xfrm>
          <a:prstGeom prst="rect">
            <a:avLst/>
          </a:prstGeom>
          <a:solidFill>
            <a:srgbClr val="FFFFFF"/>
          </a:solidFill>
          <a:ln w="9525">
            <a:solidFill>
              <a:srgbClr val="E5E0D8"/>
            </a:solidFill>
            <a:prstDash val="solid"/>
          </a:ln>
        </p:spPr>
      </p:sp>
      <p:sp>
        <p:nvSpPr>
          <p:cNvPr id="16" name="Text 14"/>
          <p:cNvSpPr/>
          <p:nvPr/>
        </p:nvSpPr>
        <p:spPr>
          <a:xfrm>
            <a:off x="7114032" y="2066544"/>
            <a:ext cx="1682496" cy="256032"/>
          </a:xfrm>
          <a:prstGeom prst="rect">
            <a:avLst/>
          </a:prstGeom>
          <a:noFill/>
          <a:ln/>
        </p:spPr>
        <p:txBody>
          <a:bodyPr wrap="square" lIns="0" tIns="0" rIns="0" bIns="0" rtlCol="0" anchor="ctr"/>
          <a:lstStyle/>
          <a:p>
            <a:pPr marL="0" indent="0" algn="ctr">
              <a:buNone/>
            </a:pPr>
            <a:r>
              <a:rPr lang="en-US" sz="1100" dirty="0">
                <a:solidFill>
                  <a:srgbClr val="4A4A4A"/>
                </a:solidFill>
                <a:latin typeface="Calibri" pitchFamily="34" charset="0"/>
                <a:ea typeface="Calibri" pitchFamily="34" charset="-122"/>
                <a:cs typeface="Calibri" pitchFamily="34" charset="-120"/>
              </a:rPr>
              <a:t>0.5 – 0.7</a:t>
            </a:r>
            <a:endParaRPr lang="en-US" sz="1100" dirty="0"/>
          </a:p>
        </p:txBody>
      </p:sp>
      <p:sp>
        <p:nvSpPr>
          <p:cNvPr id="17" name="Shape 15"/>
          <p:cNvSpPr/>
          <p:nvPr/>
        </p:nvSpPr>
        <p:spPr>
          <a:xfrm>
            <a:off x="457200" y="2377440"/>
            <a:ext cx="4572000" cy="365760"/>
          </a:xfrm>
          <a:prstGeom prst="rect">
            <a:avLst/>
          </a:prstGeom>
          <a:solidFill>
            <a:srgbClr val="F7F4EF"/>
          </a:solidFill>
          <a:ln w="9525">
            <a:solidFill>
              <a:srgbClr val="E5E0D8"/>
            </a:solidFill>
            <a:prstDash val="solid"/>
          </a:ln>
        </p:spPr>
      </p:sp>
      <p:sp>
        <p:nvSpPr>
          <p:cNvPr id="18" name="Text 16"/>
          <p:cNvSpPr/>
          <p:nvPr/>
        </p:nvSpPr>
        <p:spPr>
          <a:xfrm>
            <a:off x="530352" y="2432304"/>
            <a:ext cx="4425696" cy="256032"/>
          </a:xfrm>
          <a:prstGeom prst="rect">
            <a:avLst/>
          </a:prstGeom>
          <a:noFill/>
          <a:ln/>
        </p:spPr>
        <p:txBody>
          <a:bodyPr wrap="square" lIns="0" tIns="0" rIns="0" bIns="0" rtlCol="0" anchor="ctr"/>
          <a:lstStyle/>
          <a:p>
            <a:pPr marL="0" indent="0" algn="l">
              <a:buNone/>
            </a:pPr>
            <a:r>
              <a:rPr lang="en-US" sz="1100" dirty="0">
                <a:solidFill>
                  <a:srgbClr val="4A4A4A"/>
                </a:solidFill>
                <a:latin typeface="Calibri" pitchFamily="34" charset="0"/>
                <a:ea typeface="Calibri" pitchFamily="34" charset="-122"/>
                <a:cs typeface="Calibri" pitchFamily="34" charset="-120"/>
              </a:rPr>
              <a:t>Steel on steel (dry)</a:t>
            </a:r>
            <a:endParaRPr lang="en-US" sz="1100" dirty="0"/>
          </a:p>
        </p:txBody>
      </p:sp>
      <p:sp>
        <p:nvSpPr>
          <p:cNvPr id="19" name="Shape 17"/>
          <p:cNvSpPr/>
          <p:nvPr/>
        </p:nvSpPr>
        <p:spPr>
          <a:xfrm>
            <a:off x="5120640" y="2377440"/>
            <a:ext cx="1828800" cy="365760"/>
          </a:xfrm>
          <a:prstGeom prst="rect">
            <a:avLst/>
          </a:prstGeom>
          <a:solidFill>
            <a:srgbClr val="F7F4EF"/>
          </a:solidFill>
          <a:ln w="9525">
            <a:solidFill>
              <a:srgbClr val="E5E0D8"/>
            </a:solidFill>
            <a:prstDash val="solid"/>
          </a:ln>
        </p:spPr>
      </p:sp>
      <p:sp>
        <p:nvSpPr>
          <p:cNvPr id="20" name="Text 18"/>
          <p:cNvSpPr/>
          <p:nvPr/>
        </p:nvSpPr>
        <p:spPr>
          <a:xfrm>
            <a:off x="5193792" y="2432304"/>
            <a:ext cx="1682496" cy="256032"/>
          </a:xfrm>
          <a:prstGeom prst="rect">
            <a:avLst/>
          </a:prstGeom>
          <a:noFill/>
          <a:ln/>
        </p:spPr>
        <p:txBody>
          <a:bodyPr wrap="square" lIns="0" tIns="0" rIns="0" bIns="0" rtlCol="0" anchor="ctr"/>
          <a:lstStyle/>
          <a:p>
            <a:pPr marL="0" indent="0" algn="ctr">
              <a:buNone/>
            </a:pPr>
            <a:r>
              <a:rPr lang="en-US" sz="1100" dirty="0">
                <a:solidFill>
                  <a:srgbClr val="4A4A4A"/>
                </a:solidFill>
                <a:latin typeface="Calibri" pitchFamily="34" charset="0"/>
                <a:ea typeface="Calibri" pitchFamily="34" charset="-122"/>
                <a:cs typeface="Calibri" pitchFamily="34" charset="-120"/>
              </a:rPr>
              <a:t>0.74</a:t>
            </a:r>
            <a:endParaRPr lang="en-US" sz="1100" dirty="0"/>
          </a:p>
        </p:txBody>
      </p:sp>
      <p:sp>
        <p:nvSpPr>
          <p:cNvPr id="21" name="Shape 19"/>
          <p:cNvSpPr/>
          <p:nvPr/>
        </p:nvSpPr>
        <p:spPr>
          <a:xfrm>
            <a:off x="7040880" y="2377440"/>
            <a:ext cx="1828800" cy="365760"/>
          </a:xfrm>
          <a:prstGeom prst="rect">
            <a:avLst/>
          </a:prstGeom>
          <a:solidFill>
            <a:srgbClr val="F7F4EF"/>
          </a:solidFill>
          <a:ln w="9525">
            <a:solidFill>
              <a:srgbClr val="E5E0D8"/>
            </a:solidFill>
            <a:prstDash val="solid"/>
          </a:ln>
        </p:spPr>
      </p:sp>
      <p:sp>
        <p:nvSpPr>
          <p:cNvPr id="22" name="Text 20"/>
          <p:cNvSpPr/>
          <p:nvPr/>
        </p:nvSpPr>
        <p:spPr>
          <a:xfrm>
            <a:off x="7114032" y="2432304"/>
            <a:ext cx="1682496" cy="256032"/>
          </a:xfrm>
          <a:prstGeom prst="rect">
            <a:avLst/>
          </a:prstGeom>
          <a:noFill/>
          <a:ln/>
        </p:spPr>
        <p:txBody>
          <a:bodyPr wrap="square" lIns="0" tIns="0" rIns="0" bIns="0" rtlCol="0" anchor="ctr"/>
          <a:lstStyle/>
          <a:p>
            <a:pPr marL="0" indent="0" algn="ctr">
              <a:buNone/>
            </a:pPr>
            <a:r>
              <a:rPr lang="en-US" sz="1100" dirty="0">
                <a:solidFill>
                  <a:srgbClr val="4A4A4A"/>
                </a:solidFill>
                <a:latin typeface="Calibri" pitchFamily="34" charset="0"/>
                <a:ea typeface="Calibri" pitchFamily="34" charset="-122"/>
                <a:cs typeface="Calibri" pitchFamily="34" charset="-120"/>
              </a:rPr>
              <a:t>0.57</a:t>
            </a:r>
            <a:endParaRPr lang="en-US" sz="1100" dirty="0"/>
          </a:p>
        </p:txBody>
      </p:sp>
      <p:sp>
        <p:nvSpPr>
          <p:cNvPr id="23" name="Shape 21"/>
          <p:cNvSpPr/>
          <p:nvPr/>
        </p:nvSpPr>
        <p:spPr>
          <a:xfrm>
            <a:off x="457200" y="2743200"/>
            <a:ext cx="4572000" cy="365760"/>
          </a:xfrm>
          <a:prstGeom prst="rect">
            <a:avLst/>
          </a:prstGeom>
          <a:solidFill>
            <a:srgbClr val="FFFFFF"/>
          </a:solidFill>
          <a:ln w="9525">
            <a:solidFill>
              <a:srgbClr val="E5E0D8"/>
            </a:solidFill>
            <a:prstDash val="solid"/>
          </a:ln>
        </p:spPr>
      </p:sp>
      <p:sp>
        <p:nvSpPr>
          <p:cNvPr id="24" name="Text 22"/>
          <p:cNvSpPr/>
          <p:nvPr/>
        </p:nvSpPr>
        <p:spPr>
          <a:xfrm>
            <a:off x="530352" y="2798064"/>
            <a:ext cx="4425696" cy="256032"/>
          </a:xfrm>
          <a:prstGeom prst="rect">
            <a:avLst/>
          </a:prstGeom>
          <a:noFill/>
          <a:ln/>
        </p:spPr>
        <p:txBody>
          <a:bodyPr wrap="square" lIns="0" tIns="0" rIns="0" bIns="0" rtlCol="0" anchor="ctr"/>
          <a:lstStyle/>
          <a:p>
            <a:pPr marL="0" indent="0" algn="l">
              <a:buNone/>
            </a:pPr>
            <a:r>
              <a:rPr lang="en-US" sz="1100" dirty="0">
                <a:solidFill>
                  <a:srgbClr val="4A4A4A"/>
                </a:solidFill>
                <a:latin typeface="Calibri" pitchFamily="34" charset="0"/>
                <a:ea typeface="Calibri" pitchFamily="34" charset="-122"/>
                <a:cs typeface="Calibri" pitchFamily="34" charset="-120"/>
              </a:rPr>
              <a:t>Wood on wood</a:t>
            </a:r>
            <a:endParaRPr lang="en-US" sz="1100" dirty="0"/>
          </a:p>
        </p:txBody>
      </p:sp>
      <p:sp>
        <p:nvSpPr>
          <p:cNvPr id="25" name="Shape 23"/>
          <p:cNvSpPr/>
          <p:nvPr/>
        </p:nvSpPr>
        <p:spPr>
          <a:xfrm>
            <a:off x="5120640" y="2743200"/>
            <a:ext cx="1828800" cy="365760"/>
          </a:xfrm>
          <a:prstGeom prst="rect">
            <a:avLst/>
          </a:prstGeom>
          <a:solidFill>
            <a:srgbClr val="FFFFFF"/>
          </a:solidFill>
          <a:ln w="9525">
            <a:solidFill>
              <a:srgbClr val="E5E0D8"/>
            </a:solidFill>
            <a:prstDash val="solid"/>
          </a:ln>
        </p:spPr>
      </p:sp>
      <p:sp>
        <p:nvSpPr>
          <p:cNvPr id="26" name="Text 24"/>
          <p:cNvSpPr/>
          <p:nvPr/>
        </p:nvSpPr>
        <p:spPr>
          <a:xfrm>
            <a:off x="5193792" y="2798064"/>
            <a:ext cx="1682496" cy="256032"/>
          </a:xfrm>
          <a:prstGeom prst="rect">
            <a:avLst/>
          </a:prstGeom>
          <a:noFill/>
          <a:ln/>
        </p:spPr>
        <p:txBody>
          <a:bodyPr wrap="square" lIns="0" tIns="0" rIns="0" bIns="0" rtlCol="0" anchor="ctr"/>
          <a:lstStyle/>
          <a:p>
            <a:pPr marL="0" indent="0" algn="ctr">
              <a:buNone/>
            </a:pPr>
            <a:r>
              <a:rPr lang="en-US" sz="1100" dirty="0">
                <a:solidFill>
                  <a:srgbClr val="4A4A4A"/>
                </a:solidFill>
                <a:latin typeface="Calibri" pitchFamily="34" charset="0"/>
                <a:ea typeface="Calibri" pitchFamily="34" charset="-122"/>
                <a:cs typeface="Calibri" pitchFamily="34" charset="-120"/>
              </a:rPr>
              <a:t>0.25 – 0.5</a:t>
            </a:r>
            <a:endParaRPr lang="en-US" sz="1100" dirty="0"/>
          </a:p>
        </p:txBody>
      </p:sp>
      <p:sp>
        <p:nvSpPr>
          <p:cNvPr id="27" name="Shape 25"/>
          <p:cNvSpPr/>
          <p:nvPr/>
        </p:nvSpPr>
        <p:spPr>
          <a:xfrm>
            <a:off x="7040880" y="2743200"/>
            <a:ext cx="1828800" cy="365760"/>
          </a:xfrm>
          <a:prstGeom prst="rect">
            <a:avLst/>
          </a:prstGeom>
          <a:solidFill>
            <a:srgbClr val="FFFFFF"/>
          </a:solidFill>
          <a:ln w="9525">
            <a:solidFill>
              <a:srgbClr val="E5E0D8"/>
            </a:solidFill>
            <a:prstDash val="solid"/>
          </a:ln>
        </p:spPr>
      </p:sp>
      <p:sp>
        <p:nvSpPr>
          <p:cNvPr id="28" name="Text 26"/>
          <p:cNvSpPr/>
          <p:nvPr/>
        </p:nvSpPr>
        <p:spPr>
          <a:xfrm>
            <a:off x="7114032" y="2798064"/>
            <a:ext cx="1682496" cy="256032"/>
          </a:xfrm>
          <a:prstGeom prst="rect">
            <a:avLst/>
          </a:prstGeom>
          <a:noFill/>
          <a:ln/>
        </p:spPr>
        <p:txBody>
          <a:bodyPr wrap="square" lIns="0" tIns="0" rIns="0" bIns="0" rtlCol="0" anchor="ctr"/>
          <a:lstStyle/>
          <a:p>
            <a:pPr marL="0" indent="0" algn="ctr">
              <a:buNone/>
            </a:pPr>
            <a:r>
              <a:rPr lang="en-US" sz="1100" dirty="0">
                <a:solidFill>
                  <a:srgbClr val="4A4A4A"/>
                </a:solidFill>
                <a:latin typeface="Calibri" pitchFamily="34" charset="0"/>
                <a:ea typeface="Calibri" pitchFamily="34" charset="-122"/>
                <a:cs typeface="Calibri" pitchFamily="34" charset="-120"/>
              </a:rPr>
              <a:t>0.2</a:t>
            </a:r>
            <a:endParaRPr lang="en-US" sz="1100" dirty="0"/>
          </a:p>
        </p:txBody>
      </p:sp>
      <p:sp>
        <p:nvSpPr>
          <p:cNvPr id="29" name="Shape 27"/>
          <p:cNvSpPr/>
          <p:nvPr/>
        </p:nvSpPr>
        <p:spPr>
          <a:xfrm>
            <a:off x="457200" y="3108960"/>
            <a:ext cx="4572000" cy="365760"/>
          </a:xfrm>
          <a:prstGeom prst="rect">
            <a:avLst/>
          </a:prstGeom>
          <a:solidFill>
            <a:srgbClr val="F7F4EF"/>
          </a:solidFill>
          <a:ln w="9525">
            <a:solidFill>
              <a:srgbClr val="E5E0D8"/>
            </a:solidFill>
            <a:prstDash val="solid"/>
          </a:ln>
        </p:spPr>
      </p:sp>
      <p:sp>
        <p:nvSpPr>
          <p:cNvPr id="30" name="Text 28"/>
          <p:cNvSpPr/>
          <p:nvPr/>
        </p:nvSpPr>
        <p:spPr>
          <a:xfrm>
            <a:off x="530352" y="3163824"/>
            <a:ext cx="4425696" cy="256032"/>
          </a:xfrm>
          <a:prstGeom prst="rect">
            <a:avLst/>
          </a:prstGeom>
          <a:noFill/>
          <a:ln/>
        </p:spPr>
        <p:txBody>
          <a:bodyPr wrap="square" lIns="0" tIns="0" rIns="0" bIns="0" rtlCol="0" anchor="ctr"/>
          <a:lstStyle/>
          <a:p>
            <a:pPr marL="0" indent="0" algn="l">
              <a:buNone/>
            </a:pPr>
            <a:r>
              <a:rPr lang="en-US" sz="1100" dirty="0">
                <a:solidFill>
                  <a:srgbClr val="4A4A4A"/>
                </a:solidFill>
                <a:latin typeface="Calibri" pitchFamily="34" charset="0"/>
                <a:ea typeface="Calibri" pitchFamily="34" charset="-122"/>
                <a:cs typeface="Calibri" pitchFamily="34" charset="-120"/>
              </a:rPr>
              <a:t>Ice on steel</a:t>
            </a:r>
            <a:endParaRPr lang="en-US" sz="1100" dirty="0"/>
          </a:p>
        </p:txBody>
      </p:sp>
      <p:sp>
        <p:nvSpPr>
          <p:cNvPr id="31" name="Shape 29"/>
          <p:cNvSpPr/>
          <p:nvPr/>
        </p:nvSpPr>
        <p:spPr>
          <a:xfrm>
            <a:off x="5120640" y="3108960"/>
            <a:ext cx="1828800" cy="365760"/>
          </a:xfrm>
          <a:prstGeom prst="rect">
            <a:avLst/>
          </a:prstGeom>
          <a:solidFill>
            <a:srgbClr val="F7F4EF"/>
          </a:solidFill>
          <a:ln w="9525">
            <a:solidFill>
              <a:srgbClr val="E5E0D8"/>
            </a:solidFill>
            <a:prstDash val="solid"/>
          </a:ln>
        </p:spPr>
      </p:sp>
      <p:sp>
        <p:nvSpPr>
          <p:cNvPr id="32" name="Text 30"/>
          <p:cNvSpPr/>
          <p:nvPr/>
        </p:nvSpPr>
        <p:spPr>
          <a:xfrm>
            <a:off x="5193792" y="3163824"/>
            <a:ext cx="1682496" cy="256032"/>
          </a:xfrm>
          <a:prstGeom prst="rect">
            <a:avLst/>
          </a:prstGeom>
          <a:noFill/>
          <a:ln/>
        </p:spPr>
        <p:txBody>
          <a:bodyPr wrap="square" lIns="0" tIns="0" rIns="0" bIns="0" rtlCol="0" anchor="ctr"/>
          <a:lstStyle/>
          <a:p>
            <a:pPr marL="0" indent="0" algn="ctr">
              <a:buNone/>
            </a:pPr>
            <a:r>
              <a:rPr lang="en-US" sz="1100" dirty="0">
                <a:solidFill>
                  <a:srgbClr val="4A4A4A"/>
                </a:solidFill>
                <a:latin typeface="Calibri" pitchFamily="34" charset="0"/>
                <a:ea typeface="Calibri" pitchFamily="34" charset="-122"/>
                <a:cs typeface="Calibri" pitchFamily="34" charset="-120"/>
              </a:rPr>
              <a:t>0.03</a:t>
            </a:r>
            <a:endParaRPr lang="en-US" sz="1100" dirty="0"/>
          </a:p>
        </p:txBody>
      </p:sp>
      <p:sp>
        <p:nvSpPr>
          <p:cNvPr id="33" name="Shape 31"/>
          <p:cNvSpPr/>
          <p:nvPr/>
        </p:nvSpPr>
        <p:spPr>
          <a:xfrm>
            <a:off x="7040880" y="3108960"/>
            <a:ext cx="1828800" cy="365760"/>
          </a:xfrm>
          <a:prstGeom prst="rect">
            <a:avLst/>
          </a:prstGeom>
          <a:solidFill>
            <a:srgbClr val="F7F4EF"/>
          </a:solidFill>
          <a:ln w="9525">
            <a:solidFill>
              <a:srgbClr val="E5E0D8"/>
            </a:solidFill>
            <a:prstDash val="solid"/>
          </a:ln>
        </p:spPr>
      </p:sp>
      <p:sp>
        <p:nvSpPr>
          <p:cNvPr id="34" name="Text 32"/>
          <p:cNvSpPr/>
          <p:nvPr/>
        </p:nvSpPr>
        <p:spPr>
          <a:xfrm>
            <a:off x="7114032" y="3163824"/>
            <a:ext cx="1682496" cy="256032"/>
          </a:xfrm>
          <a:prstGeom prst="rect">
            <a:avLst/>
          </a:prstGeom>
          <a:noFill/>
          <a:ln/>
        </p:spPr>
        <p:txBody>
          <a:bodyPr wrap="square" lIns="0" tIns="0" rIns="0" bIns="0" rtlCol="0" anchor="ctr"/>
          <a:lstStyle/>
          <a:p>
            <a:pPr marL="0" indent="0" algn="ctr">
              <a:buNone/>
            </a:pPr>
            <a:r>
              <a:rPr lang="en-US" sz="1100" dirty="0">
                <a:solidFill>
                  <a:srgbClr val="4A4A4A"/>
                </a:solidFill>
                <a:latin typeface="Calibri" pitchFamily="34" charset="0"/>
                <a:ea typeface="Calibri" pitchFamily="34" charset="-122"/>
                <a:cs typeface="Calibri" pitchFamily="34" charset="-120"/>
              </a:rPr>
              <a:t>0.015</a:t>
            </a:r>
            <a:endParaRPr lang="en-US" sz="1100" dirty="0"/>
          </a:p>
        </p:txBody>
      </p:sp>
      <p:sp>
        <p:nvSpPr>
          <p:cNvPr id="35" name="Shape 33"/>
          <p:cNvSpPr/>
          <p:nvPr/>
        </p:nvSpPr>
        <p:spPr>
          <a:xfrm>
            <a:off x="457200" y="3474720"/>
            <a:ext cx="4572000" cy="365760"/>
          </a:xfrm>
          <a:prstGeom prst="rect">
            <a:avLst/>
          </a:prstGeom>
          <a:solidFill>
            <a:srgbClr val="FFFFFF"/>
          </a:solidFill>
          <a:ln w="9525">
            <a:solidFill>
              <a:srgbClr val="E5E0D8"/>
            </a:solidFill>
            <a:prstDash val="solid"/>
          </a:ln>
        </p:spPr>
      </p:sp>
      <p:sp>
        <p:nvSpPr>
          <p:cNvPr id="36" name="Text 34"/>
          <p:cNvSpPr/>
          <p:nvPr/>
        </p:nvSpPr>
        <p:spPr>
          <a:xfrm>
            <a:off x="530352" y="3529584"/>
            <a:ext cx="4425696" cy="256032"/>
          </a:xfrm>
          <a:prstGeom prst="rect">
            <a:avLst/>
          </a:prstGeom>
          <a:noFill/>
          <a:ln/>
        </p:spPr>
        <p:txBody>
          <a:bodyPr wrap="square" lIns="0" tIns="0" rIns="0" bIns="0" rtlCol="0" anchor="ctr"/>
          <a:lstStyle/>
          <a:p>
            <a:pPr marL="0" indent="0" algn="l">
              <a:buNone/>
            </a:pPr>
            <a:r>
              <a:rPr lang="en-US" sz="1100" dirty="0">
                <a:solidFill>
                  <a:srgbClr val="4A4A4A"/>
                </a:solidFill>
                <a:latin typeface="Calibri" pitchFamily="34" charset="0"/>
                <a:ea typeface="Calibri" pitchFamily="34" charset="-122"/>
                <a:cs typeface="Calibri" pitchFamily="34" charset="-120"/>
              </a:rPr>
              <a:t>Teflon on steel</a:t>
            </a:r>
            <a:endParaRPr lang="en-US" sz="1100" dirty="0"/>
          </a:p>
        </p:txBody>
      </p:sp>
      <p:sp>
        <p:nvSpPr>
          <p:cNvPr id="37" name="Shape 35"/>
          <p:cNvSpPr/>
          <p:nvPr/>
        </p:nvSpPr>
        <p:spPr>
          <a:xfrm>
            <a:off x="5120640" y="3474720"/>
            <a:ext cx="1828800" cy="365760"/>
          </a:xfrm>
          <a:prstGeom prst="rect">
            <a:avLst/>
          </a:prstGeom>
          <a:solidFill>
            <a:srgbClr val="FFFFFF"/>
          </a:solidFill>
          <a:ln w="9525">
            <a:solidFill>
              <a:srgbClr val="E5E0D8"/>
            </a:solidFill>
            <a:prstDash val="solid"/>
          </a:ln>
        </p:spPr>
      </p:sp>
      <p:sp>
        <p:nvSpPr>
          <p:cNvPr id="38" name="Text 36"/>
          <p:cNvSpPr/>
          <p:nvPr/>
        </p:nvSpPr>
        <p:spPr>
          <a:xfrm>
            <a:off x="5193792" y="3529584"/>
            <a:ext cx="1682496" cy="256032"/>
          </a:xfrm>
          <a:prstGeom prst="rect">
            <a:avLst/>
          </a:prstGeom>
          <a:noFill/>
          <a:ln/>
        </p:spPr>
        <p:txBody>
          <a:bodyPr wrap="square" lIns="0" tIns="0" rIns="0" bIns="0" rtlCol="0" anchor="ctr"/>
          <a:lstStyle/>
          <a:p>
            <a:pPr marL="0" indent="0" algn="ctr">
              <a:buNone/>
            </a:pPr>
            <a:r>
              <a:rPr lang="en-US" sz="1100" dirty="0">
                <a:solidFill>
                  <a:srgbClr val="4A4A4A"/>
                </a:solidFill>
                <a:latin typeface="Calibri" pitchFamily="34" charset="0"/>
                <a:ea typeface="Calibri" pitchFamily="34" charset="-122"/>
                <a:cs typeface="Calibri" pitchFamily="34" charset="-120"/>
              </a:rPr>
              <a:t>0.04</a:t>
            </a:r>
            <a:endParaRPr lang="en-US" sz="1100" dirty="0"/>
          </a:p>
        </p:txBody>
      </p:sp>
      <p:sp>
        <p:nvSpPr>
          <p:cNvPr id="39" name="Shape 37"/>
          <p:cNvSpPr/>
          <p:nvPr/>
        </p:nvSpPr>
        <p:spPr>
          <a:xfrm>
            <a:off x="7040880" y="3474720"/>
            <a:ext cx="1828800" cy="365760"/>
          </a:xfrm>
          <a:prstGeom prst="rect">
            <a:avLst/>
          </a:prstGeom>
          <a:solidFill>
            <a:srgbClr val="FFFFFF"/>
          </a:solidFill>
          <a:ln w="9525">
            <a:solidFill>
              <a:srgbClr val="E5E0D8"/>
            </a:solidFill>
            <a:prstDash val="solid"/>
          </a:ln>
        </p:spPr>
      </p:sp>
      <p:sp>
        <p:nvSpPr>
          <p:cNvPr id="40" name="Text 38"/>
          <p:cNvSpPr/>
          <p:nvPr/>
        </p:nvSpPr>
        <p:spPr>
          <a:xfrm>
            <a:off x="7114032" y="3529584"/>
            <a:ext cx="1682496" cy="256032"/>
          </a:xfrm>
          <a:prstGeom prst="rect">
            <a:avLst/>
          </a:prstGeom>
          <a:noFill/>
          <a:ln/>
        </p:spPr>
        <p:txBody>
          <a:bodyPr wrap="square" lIns="0" tIns="0" rIns="0" bIns="0" rtlCol="0" anchor="ctr"/>
          <a:lstStyle/>
          <a:p>
            <a:pPr marL="0" indent="0" algn="ctr">
              <a:buNone/>
            </a:pPr>
            <a:r>
              <a:rPr lang="en-US" sz="1100" dirty="0">
                <a:solidFill>
                  <a:srgbClr val="4A4A4A"/>
                </a:solidFill>
                <a:latin typeface="Calibri" pitchFamily="34" charset="0"/>
                <a:ea typeface="Calibri" pitchFamily="34" charset="-122"/>
                <a:cs typeface="Calibri" pitchFamily="34" charset="-120"/>
              </a:rPr>
              <a:t>0.04</a:t>
            </a:r>
            <a:endParaRPr lang="en-US" sz="1100" dirty="0"/>
          </a:p>
        </p:txBody>
      </p:sp>
      <p:sp>
        <p:nvSpPr>
          <p:cNvPr id="41" name="Shape 39"/>
          <p:cNvSpPr/>
          <p:nvPr/>
        </p:nvSpPr>
        <p:spPr>
          <a:xfrm>
            <a:off x="457200" y="3840480"/>
            <a:ext cx="4572000" cy="365760"/>
          </a:xfrm>
          <a:prstGeom prst="rect">
            <a:avLst/>
          </a:prstGeom>
          <a:solidFill>
            <a:srgbClr val="F7F4EF"/>
          </a:solidFill>
          <a:ln w="9525">
            <a:solidFill>
              <a:srgbClr val="E5E0D8"/>
            </a:solidFill>
            <a:prstDash val="solid"/>
          </a:ln>
        </p:spPr>
      </p:sp>
      <p:sp>
        <p:nvSpPr>
          <p:cNvPr id="42" name="Text 40"/>
          <p:cNvSpPr/>
          <p:nvPr/>
        </p:nvSpPr>
        <p:spPr>
          <a:xfrm>
            <a:off x="530352" y="3895344"/>
            <a:ext cx="4425696" cy="256032"/>
          </a:xfrm>
          <a:prstGeom prst="rect">
            <a:avLst/>
          </a:prstGeom>
          <a:noFill/>
          <a:ln/>
        </p:spPr>
        <p:txBody>
          <a:bodyPr wrap="square" lIns="0" tIns="0" rIns="0" bIns="0" rtlCol="0" anchor="ctr"/>
          <a:lstStyle/>
          <a:p>
            <a:pPr marL="0" indent="0" algn="l">
              <a:buNone/>
            </a:pPr>
            <a:r>
              <a:rPr lang="en-US" sz="1100" dirty="0">
                <a:solidFill>
                  <a:srgbClr val="4A4A4A"/>
                </a:solidFill>
                <a:latin typeface="Calibri" pitchFamily="34" charset="0"/>
                <a:ea typeface="Calibri" pitchFamily="34" charset="-122"/>
                <a:cs typeface="Calibri" pitchFamily="34" charset="-120"/>
              </a:rPr>
              <a:t>Leather on oak</a:t>
            </a:r>
            <a:endParaRPr lang="en-US" sz="1100" dirty="0"/>
          </a:p>
        </p:txBody>
      </p:sp>
      <p:sp>
        <p:nvSpPr>
          <p:cNvPr id="43" name="Shape 41"/>
          <p:cNvSpPr/>
          <p:nvPr/>
        </p:nvSpPr>
        <p:spPr>
          <a:xfrm>
            <a:off x="5120640" y="3840480"/>
            <a:ext cx="1828800" cy="365760"/>
          </a:xfrm>
          <a:prstGeom prst="rect">
            <a:avLst/>
          </a:prstGeom>
          <a:solidFill>
            <a:srgbClr val="F7F4EF"/>
          </a:solidFill>
          <a:ln w="9525">
            <a:solidFill>
              <a:srgbClr val="E5E0D8"/>
            </a:solidFill>
            <a:prstDash val="solid"/>
          </a:ln>
        </p:spPr>
      </p:sp>
      <p:sp>
        <p:nvSpPr>
          <p:cNvPr id="44" name="Text 42"/>
          <p:cNvSpPr/>
          <p:nvPr/>
        </p:nvSpPr>
        <p:spPr>
          <a:xfrm>
            <a:off x="5193792" y="3895344"/>
            <a:ext cx="1682496" cy="256032"/>
          </a:xfrm>
          <a:prstGeom prst="rect">
            <a:avLst/>
          </a:prstGeom>
          <a:noFill/>
          <a:ln/>
        </p:spPr>
        <p:txBody>
          <a:bodyPr wrap="square" lIns="0" tIns="0" rIns="0" bIns="0" rtlCol="0" anchor="ctr"/>
          <a:lstStyle/>
          <a:p>
            <a:pPr marL="0" indent="0" algn="ctr">
              <a:buNone/>
            </a:pPr>
            <a:r>
              <a:rPr lang="en-US" sz="1100" dirty="0">
                <a:solidFill>
                  <a:srgbClr val="4A4A4A"/>
                </a:solidFill>
                <a:latin typeface="Calibri" pitchFamily="34" charset="0"/>
                <a:ea typeface="Calibri" pitchFamily="34" charset="-122"/>
                <a:cs typeface="Calibri" pitchFamily="34" charset="-120"/>
              </a:rPr>
              <a:t>0.61</a:t>
            </a:r>
            <a:endParaRPr lang="en-US" sz="1100" dirty="0"/>
          </a:p>
        </p:txBody>
      </p:sp>
      <p:sp>
        <p:nvSpPr>
          <p:cNvPr id="45" name="Shape 43"/>
          <p:cNvSpPr/>
          <p:nvPr/>
        </p:nvSpPr>
        <p:spPr>
          <a:xfrm>
            <a:off x="7040880" y="3840480"/>
            <a:ext cx="1828800" cy="365760"/>
          </a:xfrm>
          <a:prstGeom prst="rect">
            <a:avLst/>
          </a:prstGeom>
          <a:solidFill>
            <a:srgbClr val="F7F4EF"/>
          </a:solidFill>
          <a:ln w="9525">
            <a:solidFill>
              <a:srgbClr val="E5E0D8"/>
            </a:solidFill>
            <a:prstDash val="solid"/>
          </a:ln>
        </p:spPr>
      </p:sp>
      <p:sp>
        <p:nvSpPr>
          <p:cNvPr id="46" name="Text 44"/>
          <p:cNvSpPr/>
          <p:nvPr/>
        </p:nvSpPr>
        <p:spPr>
          <a:xfrm>
            <a:off x="7114032" y="3895344"/>
            <a:ext cx="1682496" cy="256032"/>
          </a:xfrm>
          <a:prstGeom prst="rect">
            <a:avLst/>
          </a:prstGeom>
          <a:noFill/>
          <a:ln/>
        </p:spPr>
        <p:txBody>
          <a:bodyPr wrap="square" lIns="0" tIns="0" rIns="0" bIns="0" rtlCol="0" anchor="ctr"/>
          <a:lstStyle/>
          <a:p>
            <a:pPr marL="0" indent="0" algn="ctr">
              <a:buNone/>
            </a:pPr>
            <a:r>
              <a:rPr lang="en-US" sz="1100" dirty="0">
                <a:solidFill>
                  <a:srgbClr val="4A4A4A"/>
                </a:solidFill>
                <a:latin typeface="Calibri" pitchFamily="34" charset="0"/>
                <a:ea typeface="Calibri" pitchFamily="34" charset="-122"/>
                <a:cs typeface="Calibri" pitchFamily="34" charset="-120"/>
              </a:rPr>
              <a:t>0.52</a:t>
            </a:r>
            <a:endParaRPr lang="en-US" sz="1100" dirty="0"/>
          </a:p>
        </p:txBody>
      </p:sp>
      <p:sp>
        <p:nvSpPr>
          <p:cNvPr id="47" name="Shape 45"/>
          <p:cNvSpPr/>
          <p:nvPr/>
        </p:nvSpPr>
        <p:spPr>
          <a:xfrm>
            <a:off x="457200" y="4206240"/>
            <a:ext cx="4572000" cy="365760"/>
          </a:xfrm>
          <a:prstGeom prst="rect">
            <a:avLst/>
          </a:prstGeom>
          <a:solidFill>
            <a:srgbClr val="FFFFFF"/>
          </a:solidFill>
          <a:ln w="9525">
            <a:solidFill>
              <a:srgbClr val="E5E0D8"/>
            </a:solidFill>
            <a:prstDash val="solid"/>
          </a:ln>
        </p:spPr>
      </p:sp>
      <p:sp>
        <p:nvSpPr>
          <p:cNvPr id="48" name="Text 46"/>
          <p:cNvSpPr/>
          <p:nvPr/>
        </p:nvSpPr>
        <p:spPr>
          <a:xfrm>
            <a:off x="530352" y="4261104"/>
            <a:ext cx="4425696" cy="256032"/>
          </a:xfrm>
          <a:prstGeom prst="rect">
            <a:avLst/>
          </a:prstGeom>
          <a:noFill/>
          <a:ln/>
        </p:spPr>
        <p:txBody>
          <a:bodyPr wrap="square" lIns="0" tIns="0" rIns="0" bIns="0" rtlCol="0" anchor="ctr"/>
          <a:lstStyle/>
          <a:p>
            <a:pPr marL="0" indent="0" algn="l">
              <a:buNone/>
            </a:pPr>
            <a:r>
              <a:rPr lang="en-US" sz="1100" dirty="0">
                <a:solidFill>
                  <a:srgbClr val="4A4A4A"/>
                </a:solidFill>
                <a:latin typeface="Calibri" pitchFamily="34" charset="0"/>
                <a:ea typeface="Calibri" pitchFamily="34" charset="-122"/>
                <a:cs typeface="Calibri" pitchFamily="34" charset="-120"/>
              </a:rPr>
              <a:t>Rubber on wet road</a:t>
            </a:r>
            <a:endParaRPr lang="en-US" sz="1100" dirty="0"/>
          </a:p>
        </p:txBody>
      </p:sp>
      <p:sp>
        <p:nvSpPr>
          <p:cNvPr id="49" name="Shape 47"/>
          <p:cNvSpPr/>
          <p:nvPr/>
        </p:nvSpPr>
        <p:spPr>
          <a:xfrm>
            <a:off x="5120640" y="4206240"/>
            <a:ext cx="1828800" cy="365760"/>
          </a:xfrm>
          <a:prstGeom prst="rect">
            <a:avLst/>
          </a:prstGeom>
          <a:solidFill>
            <a:srgbClr val="FFFFFF"/>
          </a:solidFill>
          <a:ln w="9525">
            <a:solidFill>
              <a:srgbClr val="E5E0D8"/>
            </a:solidFill>
            <a:prstDash val="solid"/>
          </a:ln>
        </p:spPr>
      </p:sp>
      <p:sp>
        <p:nvSpPr>
          <p:cNvPr id="50" name="Text 48"/>
          <p:cNvSpPr/>
          <p:nvPr/>
        </p:nvSpPr>
        <p:spPr>
          <a:xfrm>
            <a:off x="5193792" y="4261104"/>
            <a:ext cx="1682496" cy="256032"/>
          </a:xfrm>
          <a:prstGeom prst="rect">
            <a:avLst/>
          </a:prstGeom>
          <a:noFill/>
          <a:ln/>
        </p:spPr>
        <p:txBody>
          <a:bodyPr wrap="square" lIns="0" tIns="0" rIns="0" bIns="0" rtlCol="0" anchor="ctr"/>
          <a:lstStyle/>
          <a:p>
            <a:pPr marL="0" indent="0" algn="ctr">
              <a:buNone/>
            </a:pPr>
            <a:r>
              <a:rPr lang="en-US" sz="1100" dirty="0">
                <a:solidFill>
                  <a:srgbClr val="4A4A4A"/>
                </a:solidFill>
                <a:latin typeface="Calibri" pitchFamily="34" charset="0"/>
                <a:ea typeface="Calibri" pitchFamily="34" charset="-122"/>
                <a:cs typeface="Calibri" pitchFamily="34" charset="-120"/>
              </a:rPr>
              <a:t>0.4 – 0.5</a:t>
            </a:r>
            <a:endParaRPr lang="en-US" sz="1100" dirty="0"/>
          </a:p>
        </p:txBody>
      </p:sp>
      <p:sp>
        <p:nvSpPr>
          <p:cNvPr id="51" name="Shape 49"/>
          <p:cNvSpPr/>
          <p:nvPr/>
        </p:nvSpPr>
        <p:spPr>
          <a:xfrm>
            <a:off x="7040880" y="4206240"/>
            <a:ext cx="1828800" cy="365760"/>
          </a:xfrm>
          <a:prstGeom prst="rect">
            <a:avLst/>
          </a:prstGeom>
          <a:solidFill>
            <a:srgbClr val="FFFFFF"/>
          </a:solidFill>
          <a:ln w="9525">
            <a:solidFill>
              <a:srgbClr val="E5E0D8"/>
            </a:solidFill>
            <a:prstDash val="solid"/>
          </a:ln>
        </p:spPr>
      </p:sp>
      <p:sp>
        <p:nvSpPr>
          <p:cNvPr id="52" name="Text 50"/>
          <p:cNvSpPr/>
          <p:nvPr/>
        </p:nvSpPr>
        <p:spPr>
          <a:xfrm>
            <a:off x="7114032" y="4261104"/>
            <a:ext cx="1682496" cy="256032"/>
          </a:xfrm>
          <a:prstGeom prst="rect">
            <a:avLst/>
          </a:prstGeom>
          <a:noFill/>
          <a:ln/>
        </p:spPr>
        <p:txBody>
          <a:bodyPr wrap="square" lIns="0" tIns="0" rIns="0" bIns="0" rtlCol="0" anchor="ctr"/>
          <a:lstStyle/>
          <a:p>
            <a:pPr marL="0" indent="0" algn="ctr">
              <a:buNone/>
            </a:pPr>
            <a:r>
              <a:rPr lang="en-US" sz="1100" dirty="0">
                <a:solidFill>
                  <a:srgbClr val="4A4A4A"/>
                </a:solidFill>
                <a:latin typeface="Calibri" pitchFamily="34" charset="0"/>
                <a:ea typeface="Calibri" pitchFamily="34" charset="-122"/>
                <a:cs typeface="Calibri" pitchFamily="34" charset="-120"/>
              </a:rPr>
              <a:t>0.25</a:t>
            </a:r>
            <a:endParaRPr lang="en-US" sz="1100" dirty="0"/>
          </a:p>
        </p:txBody>
      </p:sp>
      <p:sp>
        <p:nvSpPr>
          <p:cNvPr id="53" name="Shape 51"/>
          <p:cNvSpPr/>
          <p:nvPr/>
        </p:nvSpPr>
        <p:spPr>
          <a:xfrm>
            <a:off x="457200" y="4572000"/>
            <a:ext cx="4572000" cy="365760"/>
          </a:xfrm>
          <a:prstGeom prst="rect">
            <a:avLst/>
          </a:prstGeom>
          <a:solidFill>
            <a:srgbClr val="F7F4EF"/>
          </a:solidFill>
          <a:ln w="9525">
            <a:solidFill>
              <a:srgbClr val="E5E0D8"/>
            </a:solidFill>
            <a:prstDash val="solid"/>
          </a:ln>
        </p:spPr>
      </p:sp>
      <p:sp>
        <p:nvSpPr>
          <p:cNvPr id="54" name="Text 52"/>
          <p:cNvSpPr/>
          <p:nvPr/>
        </p:nvSpPr>
        <p:spPr>
          <a:xfrm>
            <a:off x="530352" y="4626864"/>
            <a:ext cx="4425696" cy="256032"/>
          </a:xfrm>
          <a:prstGeom prst="rect">
            <a:avLst/>
          </a:prstGeom>
          <a:noFill/>
          <a:ln/>
        </p:spPr>
        <p:txBody>
          <a:bodyPr wrap="square" lIns="0" tIns="0" rIns="0" bIns="0" rtlCol="0" anchor="ctr"/>
          <a:lstStyle/>
          <a:p>
            <a:pPr marL="0" indent="0" algn="l">
              <a:buNone/>
            </a:pPr>
            <a:r>
              <a:rPr lang="en-US" sz="1100" dirty="0">
                <a:solidFill>
                  <a:srgbClr val="4A4A4A"/>
                </a:solidFill>
                <a:latin typeface="Calibri" pitchFamily="34" charset="0"/>
                <a:ea typeface="Calibri" pitchFamily="34" charset="-122"/>
                <a:cs typeface="Calibri" pitchFamily="34" charset="-120"/>
              </a:rPr>
              <a:t>Bone on cartilage</a:t>
            </a:r>
            <a:endParaRPr lang="en-US" sz="1100" dirty="0"/>
          </a:p>
        </p:txBody>
      </p:sp>
      <p:sp>
        <p:nvSpPr>
          <p:cNvPr id="55" name="Shape 53"/>
          <p:cNvSpPr/>
          <p:nvPr/>
        </p:nvSpPr>
        <p:spPr>
          <a:xfrm>
            <a:off x="5120640" y="4572000"/>
            <a:ext cx="1828800" cy="365760"/>
          </a:xfrm>
          <a:prstGeom prst="rect">
            <a:avLst/>
          </a:prstGeom>
          <a:solidFill>
            <a:srgbClr val="F7F4EF"/>
          </a:solidFill>
          <a:ln w="9525">
            <a:solidFill>
              <a:srgbClr val="E5E0D8"/>
            </a:solidFill>
            <a:prstDash val="solid"/>
          </a:ln>
        </p:spPr>
      </p:sp>
      <p:sp>
        <p:nvSpPr>
          <p:cNvPr id="56" name="Text 54"/>
          <p:cNvSpPr/>
          <p:nvPr/>
        </p:nvSpPr>
        <p:spPr>
          <a:xfrm>
            <a:off x="5193792" y="4626864"/>
            <a:ext cx="1682496" cy="256032"/>
          </a:xfrm>
          <a:prstGeom prst="rect">
            <a:avLst/>
          </a:prstGeom>
          <a:noFill/>
          <a:ln/>
        </p:spPr>
        <p:txBody>
          <a:bodyPr wrap="square" lIns="0" tIns="0" rIns="0" bIns="0" rtlCol="0" anchor="ctr"/>
          <a:lstStyle/>
          <a:p>
            <a:pPr marL="0" indent="0" algn="ctr">
              <a:buNone/>
            </a:pPr>
            <a:r>
              <a:rPr lang="en-US" sz="1100" dirty="0">
                <a:solidFill>
                  <a:srgbClr val="4A4A4A"/>
                </a:solidFill>
                <a:latin typeface="Calibri" pitchFamily="34" charset="0"/>
                <a:ea typeface="Calibri" pitchFamily="34" charset="-122"/>
                <a:cs typeface="Calibri" pitchFamily="34" charset="-120"/>
              </a:rPr>
              <a:t>0.01</a:t>
            </a:r>
            <a:endParaRPr lang="en-US" sz="1100" dirty="0"/>
          </a:p>
        </p:txBody>
      </p:sp>
      <p:sp>
        <p:nvSpPr>
          <p:cNvPr id="57" name="Shape 55"/>
          <p:cNvSpPr/>
          <p:nvPr/>
        </p:nvSpPr>
        <p:spPr>
          <a:xfrm>
            <a:off x="7040880" y="4572000"/>
            <a:ext cx="1828800" cy="365760"/>
          </a:xfrm>
          <a:prstGeom prst="rect">
            <a:avLst/>
          </a:prstGeom>
          <a:solidFill>
            <a:srgbClr val="F7F4EF"/>
          </a:solidFill>
          <a:ln w="9525">
            <a:solidFill>
              <a:srgbClr val="E5E0D8"/>
            </a:solidFill>
            <a:prstDash val="solid"/>
          </a:ln>
        </p:spPr>
      </p:sp>
      <p:sp>
        <p:nvSpPr>
          <p:cNvPr id="58" name="Text 56"/>
          <p:cNvSpPr/>
          <p:nvPr/>
        </p:nvSpPr>
        <p:spPr>
          <a:xfrm>
            <a:off x="7114032" y="4626864"/>
            <a:ext cx="1682496" cy="256032"/>
          </a:xfrm>
          <a:prstGeom prst="rect">
            <a:avLst/>
          </a:prstGeom>
          <a:noFill/>
          <a:ln/>
        </p:spPr>
        <p:txBody>
          <a:bodyPr wrap="square" lIns="0" tIns="0" rIns="0" bIns="0" rtlCol="0" anchor="ctr"/>
          <a:lstStyle/>
          <a:p>
            <a:pPr marL="0" indent="0" algn="ctr">
              <a:buNone/>
            </a:pPr>
            <a:r>
              <a:rPr lang="en-US" sz="1100" dirty="0">
                <a:solidFill>
                  <a:srgbClr val="4A4A4A"/>
                </a:solidFill>
                <a:latin typeface="Calibri" pitchFamily="34" charset="0"/>
                <a:ea typeface="Calibri" pitchFamily="34" charset="-122"/>
                <a:cs typeface="Calibri" pitchFamily="34" charset="-120"/>
              </a:rPr>
              <a:t>0.003</a:t>
            </a:r>
            <a:endParaRPr lang="en-US" sz="1100" dirty="0"/>
          </a:p>
        </p:txBody>
      </p:sp>
      <p:sp>
        <p:nvSpPr>
          <p:cNvPr id="59" name="Text 57"/>
          <p:cNvSpPr/>
          <p:nvPr/>
        </p:nvSpPr>
        <p:spPr>
          <a:xfrm>
            <a:off x="457200" y="4992624"/>
            <a:ext cx="8229600" cy="228600"/>
          </a:xfrm>
          <a:prstGeom prst="rect">
            <a:avLst/>
          </a:prstGeom>
          <a:noFill/>
          <a:ln/>
        </p:spPr>
        <p:txBody>
          <a:bodyPr wrap="square" lIns="0" tIns="0" rIns="0" bIns="0" rtlCol="0" anchor="ctr"/>
          <a:lstStyle/>
          <a:p>
            <a:pPr marL="0" indent="0" algn="ctr">
              <a:buNone/>
            </a:pPr>
            <a:r>
              <a:rPr lang="en-US" sz="1100" i="1" dirty="0">
                <a:solidFill>
                  <a:srgbClr val="B85042"/>
                </a:solidFill>
                <a:latin typeface="Calibri" pitchFamily="34" charset="0"/>
                <a:ea typeface="Calibri" pitchFamily="34" charset="-122"/>
                <a:cs typeface="Calibri" pitchFamily="34" charset="-120"/>
              </a:rPr>
              <a:t>💡  Lower μ = less friction (slippery)    Higher μ = more friction (grippier)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marL="0" indent="0">
              <a:buNone/>
            </a:pPr>
            <a:r>
              <a:rPr lang="en-US" sz="3400" b="1" dirty="0">
                <a:solidFill>
                  <a:srgbClr val="2C2C2C"/>
                </a:solidFill>
                <a:latin typeface="Georgia" pitchFamily="34" charset="0"/>
                <a:ea typeface="Georgia" pitchFamily="34" charset="-122"/>
                <a:cs typeface="Georgia" pitchFamily="34" charset="-120"/>
              </a:rPr>
              <a:t>Friction on an Inclined Plane</a:t>
            </a:r>
            <a:endParaRPr lang="en-US" sz="3400" dirty="0"/>
          </a:p>
        </p:txBody>
      </p:sp>
      <p:sp>
        <p:nvSpPr>
          <p:cNvPr id="4" name="Text 1"/>
          <p:cNvSpPr/>
          <p:nvPr/>
        </p:nvSpPr>
        <p:spPr>
          <a:xfrm>
            <a:off x="457200" y="3520440"/>
            <a:ext cx="3657600" cy="201168"/>
          </a:xfrm>
          <a:prstGeom prst="rect">
            <a:avLst/>
          </a:prstGeom>
          <a:noFill/>
          <a:ln/>
        </p:spPr>
        <p:txBody>
          <a:bodyPr wrap="square" lIns="0" tIns="0" rIns="0" bIns="0"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Block on inclined plane — weight components</a:t>
            </a:r>
            <a:endParaRPr lang="en-US" sz="900" dirty="0"/>
          </a:p>
        </p:txBody>
      </p:sp>
      <p:sp>
        <p:nvSpPr>
          <p:cNvPr id="5" name="Shape 2"/>
          <p:cNvSpPr/>
          <p:nvPr/>
        </p:nvSpPr>
        <p:spPr>
          <a:xfrm>
            <a:off x="4297680" y="960120"/>
            <a:ext cx="4389120" cy="731520"/>
          </a:xfrm>
          <a:prstGeom prst="rect">
            <a:avLst/>
          </a:prstGeom>
          <a:solidFill>
            <a:srgbClr val="FFFFFF"/>
          </a:solidFill>
          <a:ln w="12700">
            <a:solidFill>
              <a:srgbClr val="E5E0D8"/>
            </a:solidFill>
            <a:prstDash val="solid"/>
          </a:ln>
        </p:spPr>
      </p:sp>
      <p:sp>
        <p:nvSpPr>
          <p:cNvPr id="6" name="Shape 3"/>
          <p:cNvSpPr/>
          <p:nvPr/>
        </p:nvSpPr>
        <p:spPr>
          <a:xfrm>
            <a:off x="4297680" y="960120"/>
            <a:ext cx="73152" cy="731520"/>
          </a:xfrm>
          <a:prstGeom prst="rect">
            <a:avLst/>
          </a:prstGeom>
          <a:solidFill>
            <a:srgbClr val="B85042"/>
          </a:solidFill>
          <a:ln w="12700">
            <a:solidFill>
              <a:srgbClr val="B85042"/>
            </a:solidFill>
            <a:prstDash val="solid"/>
          </a:ln>
        </p:spPr>
      </p:sp>
      <p:sp>
        <p:nvSpPr>
          <p:cNvPr id="7" name="Text 4"/>
          <p:cNvSpPr/>
          <p:nvPr/>
        </p:nvSpPr>
        <p:spPr>
          <a:xfrm>
            <a:off x="4443984" y="1005840"/>
            <a:ext cx="4114800" cy="219456"/>
          </a:xfrm>
          <a:prstGeom prst="rect">
            <a:avLst/>
          </a:prstGeom>
          <a:noFill/>
          <a:ln/>
        </p:spPr>
        <p:txBody>
          <a:bodyPr wrap="square" lIns="0" tIns="0" rIns="0" bIns="0" rtlCol="0" anchor="ctr"/>
          <a:lstStyle/>
          <a:p>
            <a:pPr marL="0" indent="0">
              <a:buNone/>
            </a:pPr>
            <a:r>
              <a:rPr lang="en-US" sz="1200" b="1" dirty="0">
                <a:solidFill>
                  <a:srgbClr val="B85042"/>
                </a:solidFill>
                <a:latin typeface="Georgia" pitchFamily="34" charset="0"/>
                <a:ea typeface="Georgia" pitchFamily="34" charset="-122"/>
                <a:cs typeface="Georgia" pitchFamily="34" charset="-120"/>
              </a:rPr>
              <a:t>Resolve Weight Components</a:t>
            </a:r>
            <a:endParaRPr lang="en-US" sz="1200" dirty="0"/>
          </a:p>
        </p:txBody>
      </p:sp>
      <p:sp>
        <p:nvSpPr>
          <p:cNvPr id="8" name="Text 5"/>
          <p:cNvSpPr/>
          <p:nvPr/>
        </p:nvSpPr>
        <p:spPr>
          <a:xfrm>
            <a:off x="4443984" y="1261872"/>
            <a:ext cx="4114800" cy="402336"/>
          </a:xfrm>
          <a:prstGeom prst="rect">
            <a:avLst/>
          </a:prstGeom>
          <a:noFill/>
          <a:ln/>
        </p:spPr>
        <p:txBody>
          <a:bodyPr wrap="square" lIns="0" tIns="0" rIns="0" bIns="0" rtlCol="0" anchor="ctr"/>
          <a:lstStyle/>
          <a:p>
            <a:pPr marL="0" indent="0">
              <a:buNone/>
            </a:pPr>
            <a:r>
              <a:rPr lang="en-US" sz="1150" dirty="0">
                <a:solidFill>
                  <a:srgbClr val="4A4A4A"/>
                </a:solidFill>
                <a:latin typeface="Calibri" pitchFamily="34" charset="0"/>
                <a:ea typeface="Calibri" pitchFamily="34" charset="-122"/>
                <a:cs typeface="Calibri" pitchFamily="34" charset="-120"/>
              </a:rPr>
              <a:t>Along plane: W∥ = mg sinθ</a:t>
            </a:r>
            <a:endParaRPr lang="en-US" sz="1150" dirty="0"/>
          </a:p>
          <a:p>
            <a:pPr marL="0" indent="0">
              <a:buNone/>
            </a:pPr>
            <a:r>
              <a:rPr lang="en-US" sz="1150" dirty="0">
                <a:solidFill>
                  <a:srgbClr val="4A4A4A"/>
                </a:solidFill>
                <a:latin typeface="Calibri" pitchFamily="34" charset="0"/>
                <a:ea typeface="Calibri" pitchFamily="34" charset="-122"/>
                <a:cs typeface="Calibri" pitchFamily="34" charset="-120"/>
              </a:rPr>
              <a:t>Perpendicular: W⊥ = mg cosθ</a:t>
            </a:r>
            <a:endParaRPr lang="en-US" sz="1150" dirty="0"/>
          </a:p>
        </p:txBody>
      </p:sp>
      <p:sp>
        <p:nvSpPr>
          <p:cNvPr id="9" name="Shape 6"/>
          <p:cNvSpPr/>
          <p:nvPr/>
        </p:nvSpPr>
        <p:spPr>
          <a:xfrm>
            <a:off x="4297680" y="1764792"/>
            <a:ext cx="4389120" cy="731520"/>
          </a:xfrm>
          <a:prstGeom prst="rect">
            <a:avLst/>
          </a:prstGeom>
          <a:solidFill>
            <a:srgbClr val="F7F4EF"/>
          </a:solidFill>
          <a:ln w="12700">
            <a:solidFill>
              <a:srgbClr val="E5E0D8"/>
            </a:solidFill>
            <a:prstDash val="solid"/>
          </a:ln>
        </p:spPr>
      </p:sp>
      <p:sp>
        <p:nvSpPr>
          <p:cNvPr id="10" name="Shape 7"/>
          <p:cNvSpPr/>
          <p:nvPr/>
        </p:nvSpPr>
        <p:spPr>
          <a:xfrm>
            <a:off x="4297680" y="1764792"/>
            <a:ext cx="73152" cy="731520"/>
          </a:xfrm>
          <a:prstGeom prst="rect">
            <a:avLst/>
          </a:prstGeom>
          <a:solidFill>
            <a:srgbClr val="B85042"/>
          </a:solidFill>
          <a:ln w="12700">
            <a:solidFill>
              <a:srgbClr val="B85042"/>
            </a:solidFill>
            <a:prstDash val="solid"/>
          </a:ln>
        </p:spPr>
      </p:sp>
      <p:sp>
        <p:nvSpPr>
          <p:cNvPr id="11" name="Text 8"/>
          <p:cNvSpPr/>
          <p:nvPr/>
        </p:nvSpPr>
        <p:spPr>
          <a:xfrm>
            <a:off x="4443984" y="1810512"/>
            <a:ext cx="4114800" cy="219456"/>
          </a:xfrm>
          <a:prstGeom prst="rect">
            <a:avLst/>
          </a:prstGeom>
          <a:noFill/>
          <a:ln/>
        </p:spPr>
        <p:txBody>
          <a:bodyPr wrap="square" lIns="0" tIns="0" rIns="0" bIns="0" rtlCol="0" anchor="ctr"/>
          <a:lstStyle/>
          <a:p>
            <a:pPr marL="0" indent="0">
              <a:buNone/>
            </a:pPr>
            <a:r>
              <a:rPr lang="en-US" sz="1200" b="1" dirty="0">
                <a:solidFill>
                  <a:srgbClr val="B85042"/>
                </a:solidFill>
                <a:latin typeface="Georgia" pitchFamily="34" charset="0"/>
                <a:ea typeface="Georgia" pitchFamily="34" charset="-122"/>
                <a:cs typeface="Georgia" pitchFamily="34" charset="-120"/>
              </a:rPr>
              <a:t>Normal Force</a:t>
            </a:r>
            <a:endParaRPr lang="en-US" sz="1200" dirty="0"/>
          </a:p>
        </p:txBody>
      </p:sp>
      <p:sp>
        <p:nvSpPr>
          <p:cNvPr id="12" name="Text 9"/>
          <p:cNvSpPr/>
          <p:nvPr/>
        </p:nvSpPr>
        <p:spPr>
          <a:xfrm>
            <a:off x="4443984" y="2066544"/>
            <a:ext cx="4114800" cy="402336"/>
          </a:xfrm>
          <a:prstGeom prst="rect">
            <a:avLst/>
          </a:prstGeom>
          <a:noFill/>
          <a:ln/>
        </p:spPr>
        <p:txBody>
          <a:bodyPr wrap="square" lIns="0" tIns="0" rIns="0" bIns="0" rtlCol="0" anchor="ctr"/>
          <a:lstStyle/>
          <a:p>
            <a:pPr marL="0" indent="0">
              <a:buNone/>
            </a:pPr>
            <a:r>
              <a:rPr lang="en-US" sz="1150" dirty="0">
                <a:solidFill>
                  <a:srgbClr val="4A4A4A"/>
                </a:solidFill>
                <a:latin typeface="Calibri" pitchFamily="34" charset="0"/>
                <a:ea typeface="Calibri" pitchFamily="34" charset="-122"/>
                <a:cs typeface="Calibri" pitchFamily="34" charset="-120"/>
              </a:rPr>
              <a:t>N = mg cosθ</a:t>
            </a:r>
            <a:endParaRPr lang="en-US" sz="1150" dirty="0"/>
          </a:p>
          <a:p>
            <a:pPr marL="0" indent="0">
              <a:buNone/>
            </a:pPr>
            <a:r>
              <a:rPr lang="en-US" sz="1150" dirty="0">
                <a:solidFill>
                  <a:srgbClr val="4A4A4A"/>
                </a:solidFill>
                <a:latin typeface="Calibri" pitchFamily="34" charset="0"/>
                <a:ea typeface="Calibri" pitchFamily="34" charset="-122"/>
                <a:cs typeface="Calibri" pitchFamily="34" charset="-120"/>
              </a:rPr>
              <a:t>(balances W⊥, no perpendicular accel.)</a:t>
            </a:r>
            <a:endParaRPr lang="en-US" sz="1150" dirty="0"/>
          </a:p>
        </p:txBody>
      </p:sp>
      <p:sp>
        <p:nvSpPr>
          <p:cNvPr id="13" name="Shape 10"/>
          <p:cNvSpPr/>
          <p:nvPr/>
        </p:nvSpPr>
        <p:spPr>
          <a:xfrm>
            <a:off x="4297680" y="2569464"/>
            <a:ext cx="4389120" cy="731520"/>
          </a:xfrm>
          <a:prstGeom prst="rect">
            <a:avLst/>
          </a:prstGeom>
          <a:solidFill>
            <a:srgbClr val="FFFFFF"/>
          </a:solidFill>
          <a:ln w="12700">
            <a:solidFill>
              <a:srgbClr val="E5E0D8"/>
            </a:solidFill>
            <a:prstDash val="solid"/>
          </a:ln>
        </p:spPr>
      </p:sp>
      <p:sp>
        <p:nvSpPr>
          <p:cNvPr id="14" name="Shape 11"/>
          <p:cNvSpPr/>
          <p:nvPr/>
        </p:nvSpPr>
        <p:spPr>
          <a:xfrm>
            <a:off x="4297680" y="2569464"/>
            <a:ext cx="73152" cy="731520"/>
          </a:xfrm>
          <a:prstGeom prst="rect">
            <a:avLst/>
          </a:prstGeom>
          <a:solidFill>
            <a:srgbClr val="B85042"/>
          </a:solidFill>
          <a:ln w="12700">
            <a:solidFill>
              <a:srgbClr val="B85042"/>
            </a:solidFill>
            <a:prstDash val="solid"/>
          </a:ln>
        </p:spPr>
      </p:sp>
      <p:sp>
        <p:nvSpPr>
          <p:cNvPr id="15" name="Text 12"/>
          <p:cNvSpPr/>
          <p:nvPr/>
        </p:nvSpPr>
        <p:spPr>
          <a:xfrm>
            <a:off x="4443984" y="2615184"/>
            <a:ext cx="4114800" cy="219456"/>
          </a:xfrm>
          <a:prstGeom prst="rect">
            <a:avLst/>
          </a:prstGeom>
          <a:noFill/>
          <a:ln/>
        </p:spPr>
        <p:txBody>
          <a:bodyPr wrap="square" lIns="0" tIns="0" rIns="0" bIns="0" rtlCol="0" anchor="ctr"/>
          <a:lstStyle/>
          <a:p>
            <a:pPr marL="0" indent="0">
              <a:buNone/>
            </a:pPr>
            <a:r>
              <a:rPr lang="en-US" sz="1200" b="1" dirty="0">
                <a:solidFill>
                  <a:srgbClr val="B85042"/>
                </a:solidFill>
                <a:latin typeface="Georgia" pitchFamily="34" charset="0"/>
                <a:ea typeface="Georgia" pitchFamily="34" charset="-122"/>
                <a:cs typeface="Georgia" pitchFamily="34" charset="-120"/>
              </a:rPr>
              <a:t>Friction Force</a:t>
            </a:r>
            <a:endParaRPr lang="en-US" sz="1200" dirty="0"/>
          </a:p>
        </p:txBody>
      </p:sp>
      <p:sp>
        <p:nvSpPr>
          <p:cNvPr id="16" name="Text 13"/>
          <p:cNvSpPr/>
          <p:nvPr/>
        </p:nvSpPr>
        <p:spPr>
          <a:xfrm>
            <a:off x="4443984" y="2871216"/>
            <a:ext cx="4114800" cy="402336"/>
          </a:xfrm>
          <a:prstGeom prst="rect">
            <a:avLst/>
          </a:prstGeom>
          <a:noFill/>
          <a:ln/>
        </p:spPr>
        <p:txBody>
          <a:bodyPr wrap="square" lIns="0" tIns="0" rIns="0" bIns="0" rtlCol="0" anchor="ctr"/>
          <a:lstStyle/>
          <a:p>
            <a:pPr marL="0" indent="0">
              <a:buNone/>
            </a:pPr>
            <a:r>
              <a:rPr lang="en-US" sz="1150" dirty="0">
                <a:solidFill>
                  <a:srgbClr val="4A4A4A"/>
                </a:solidFill>
                <a:latin typeface="Calibri" pitchFamily="34" charset="0"/>
                <a:ea typeface="Calibri" pitchFamily="34" charset="-122"/>
                <a:cs typeface="Calibri" pitchFamily="34" charset="-120"/>
              </a:rPr>
              <a:t>f = μN = μ mg cosθ</a:t>
            </a:r>
            <a:endParaRPr lang="en-US" sz="1150" dirty="0"/>
          </a:p>
          <a:p>
            <a:pPr marL="0" indent="0">
              <a:buNone/>
            </a:pPr>
            <a:r>
              <a:rPr lang="en-US" sz="1150" dirty="0">
                <a:solidFill>
                  <a:srgbClr val="4A4A4A"/>
                </a:solidFill>
                <a:latin typeface="Calibri" pitchFamily="34" charset="0"/>
                <a:ea typeface="Calibri" pitchFamily="34" charset="-122"/>
                <a:cs typeface="Calibri" pitchFamily="34" charset="-120"/>
              </a:rPr>
              <a:t>(opposes motion, up the slope)</a:t>
            </a:r>
            <a:endParaRPr lang="en-US" sz="1150" dirty="0"/>
          </a:p>
        </p:txBody>
      </p:sp>
      <p:sp>
        <p:nvSpPr>
          <p:cNvPr id="17" name="Shape 14"/>
          <p:cNvSpPr/>
          <p:nvPr/>
        </p:nvSpPr>
        <p:spPr>
          <a:xfrm>
            <a:off x="4297680" y="3374136"/>
            <a:ext cx="4389120" cy="731520"/>
          </a:xfrm>
          <a:prstGeom prst="rect">
            <a:avLst/>
          </a:prstGeom>
          <a:solidFill>
            <a:srgbClr val="F7F4EF"/>
          </a:solidFill>
          <a:ln w="12700">
            <a:solidFill>
              <a:srgbClr val="E5E0D8"/>
            </a:solidFill>
            <a:prstDash val="solid"/>
          </a:ln>
        </p:spPr>
      </p:sp>
      <p:sp>
        <p:nvSpPr>
          <p:cNvPr id="18" name="Shape 15"/>
          <p:cNvSpPr/>
          <p:nvPr/>
        </p:nvSpPr>
        <p:spPr>
          <a:xfrm>
            <a:off x="4297680" y="3374136"/>
            <a:ext cx="73152" cy="731520"/>
          </a:xfrm>
          <a:prstGeom prst="rect">
            <a:avLst/>
          </a:prstGeom>
          <a:solidFill>
            <a:srgbClr val="B85042"/>
          </a:solidFill>
          <a:ln w="12700">
            <a:solidFill>
              <a:srgbClr val="B85042"/>
            </a:solidFill>
            <a:prstDash val="solid"/>
          </a:ln>
        </p:spPr>
      </p:sp>
      <p:sp>
        <p:nvSpPr>
          <p:cNvPr id="19" name="Text 16"/>
          <p:cNvSpPr/>
          <p:nvPr/>
        </p:nvSpPr>
        <p:spPr>
          <a:xfrm>
            <a:off x="4443984" y="3419856"/>
            <a:ext cx="4114800" cy="219456"/>
          </a:xfrm>
          <a:prstGeom prst="rect">
            <a:avLst/>
          </a:prstGeom>
          <a:noFill/>
          <a:ln/>
        </p:spPr>
        <p:txBody>
          <a:bodyPr wrap="square" lIns="0" tIns="0" rIns="0" bIns="0" rtlCol="0" anchor="ctr"/>
          <a:lstStyle/>
          <a:p>
            <a:pPr marL="0" indent="0">
              <a:buNone/>
            </a:pPr>
            <a:r>
              <a:rPr lang="en-US" sz="1200" b="1" dirty="0">
                <a:solidFill>
                  <a:srgbClr val="B85042"/>
                </a:solidFill>
                <a:latin typeface="Georgia" pitchFamily="34" charset="0"/>
                <a:ea typeface="Georgia" pitchFamily="34" charset="-122"/>
                <a:cs typeface="Georgia" pitchFamily="34" charset="-120"/>
              </a:rPr>
              <a:t>Net Force Along Plane</a:t>
            </a:r>
            <a:endParaRPr lang="en-US" sz="1200" dirty="0"/>
          </a:p>
        </p:txBody>
      </p:sp>
      <p:sp>
        <p:nvSpPr>
          <p:cNvPr id="20" name="Text 17"/>
          <p:cNvSpPr/>
          <p:nvPr/>
        </p:nvSpPr>
        <p:spPr>
          <a:xfrm>
            <a:off x="4443984" y="3675888"/>
            <a:ext cx="4114800" cy="402336"/>
          </a:xfrm>
          <a:prstGeom prst="rect">
            <a:avLst/>
          </a:prstGeom>
          <a:noFill/>
          <a:ln/>
        </p:spPr>
        <p:txBody>
          <a:bodyPr wrap="square" lIns="0" tIns="0" rIns="0" bIns="0" rtlCol="0" anchor="ctr"/>
          <a:lstStyle/>
          <a:p>
            <a:pPr marL="0" indent="0">
              <a:buNone/>
            </a:pPr>
            <a:r>
              <a:rPr lang="en-US" sz="1150" dirty="0">
                <a:solidFill>
                  <a:srgbClr val="4A4A4A"/>
                </a:solidFill>
                <a:latin typeface="Calibri" pitchFamily="34" charset="0"/>
                <a:ea typeface="Calibri" pitchFamily="34" charset="-122"/>
                <a:cs typeface="Calibri" pitchFamily="34" charset="-120"/>
              </a:rPr>
              <a:t>Fₙₑₜ = mg sinθ − μmg cosθ</a:t>
            </a:r>
            <a:endParaRPr lang="en-US" sz="1150" dirty="0"/>
          </a:p>
          <a:p>
            <a:pPr marL="0" indent="0">
              <a:buNone/>
            </a:pPr>
            <a:r>
              <a:rPr lang="en-US" sz="1150" dirty="0">
                <a:solidFill>
                  <a:srgbClr val="4A4A4A"/>
                </a:solidFill>
                <a:latin typeface="Calibri" pitchFamily="34" charset="0"/>
                <a:ea typeface="Calibri" pitchFamily="34" charset="-122"/>
                <a:cs typeface="Calibri" pitchFamily="34" charset="-120"/>
              </a:rPr>
              <a:t>      = mg(sinθ − μcosθ)</a:t>
            </a:r>
            <a:endParaRPr lang="en-US" sz="1150" dirty="0"/>
          </a:p>
        </p:txBody>
      </p:sp>
      <p:sp>
        <p:nvSpPr>
          <p:cNvPr id="21" name="Shape 18"/>
          <p:cNvSpPr/>
          <p:nvPr/>
        </p:nvSpPr>
        <p:spPr>
          <a:xfrm>
            <a:off x="4297680" y="4178808"/>
            <a:ext cx="4389120" cy="731520"/>
          </a:xfrm>
          <a:prstGeom prst="rect">
            <a:avLst/>
          </a:prstGeom>
          <a:solidFill>
            <a:srgbClr val="FFFFFF"/>
          </a:solidFill>
          <a:ln w="12700">
            <a:solidFill>
              <a:srgbClr val="E5E0D8"/>
            </a:solidFill>
            <a:prstDash val="solid"/>
          </a:ln>
        </p:spPr>
      </p:sp>
      <p:sp>
        <p:nvSpPr>
          <p:cNvPr id="22" name="Shape 19"/>
          <p:cNvSpPr/>
          <p:nvPr/>
        </p:nvSpPr>
        <p:spPr>
          <a:xfrm>
            <a:off x="4297680" y="4178808"/>
            <a:ext cx="73152" cy="731520"/>
          </a:xfrm>
          <a:prstGeom prst="rect">
            <a:avLst/>
          </a:prstGeom>
          <a:solidFill>
            <a:srgbClr val="B85042"/>
          </a:solidFill>
          <a:ln w="12700">
            <a:solidFill>
              <a:srgbClr val="B85042"/>
            </a:solidFill>
            <a:prstDash val="solid"/>
          </a:ln>
        </p:spPr>
      </p:sp>
      <p:sp>
        <p:nvSpPr>
          <p:cNvPr id="23" name="Text 20"/>
          <p:cNvSpPr/>
          <p:nvPr/>
        </p:nvSpPr>
        <p:spPr>
          <a:xfrm>
            <a:off x="4443984" y="4224528"/>
            <a:ext cx="4114800" cy="219456"/>
          </a:xfrm>
          <a:prstGeom prst="rect">
            <a:avLst/>
          </a:prstGeom>
          <a:noFill/>
          <a:ln/>
        </p:spPr>
        <p:txBody>
          <a:bodyPr wrap="square" lIns="0" tIns="0" rIns="0" bIns="0" rtlCol="0" anchor="ctr"/>
          <a:lstStyle/>
          <a:p>
            <a:pPr marL="0" indent="0">
              <a:buNone/>
            </a:pPr>
            <a:r>
              <a:rPr lang="en-US" sz="1200" b="1" dirty="0">
                <a:solidFill>
                  <a:srgbClr val="B85042"/>
                </a:solidFill>
                <a:latin typeface="Georgia" pitchFamily="34" charset="0"/>
                <a:ea typeface="Georgia" pitchFamily="34" charset="-122"/>
                <a:cs typeface="Georgia" pitchFamily="34" charset="-120"/>
              </a:rPr>
              <a:t>Condition for Motion</a:t>
            </a:r>
            <a:endParaRPr lang="en-US" sz="1200" dirty="0"/>
          </a:p>
        </p:txBody>
      </p:sp>
      <p:sp>
        <p:nvSpPr>
          <p:cNvPr id="24" name="Text 21"/>
          <p:cNvSpPr/>
          <p:nvPr/>
        </p:nvSpPr>
        <p:spPr>
          <a:xfrm>
            <a:off x="4443984" y="4480560"/>
            <a:ext cx="4114800" cy="402336"/>
          </a:xfrm>
          <a:prstGeom prst="rect">
            <a:avLst/>
          </a:prstGeom>
          <a:noFill/>
          <a:ln/>
        </p:spPr>
        <p:txBody>
          <a:bodyPr wrap="square" lIns="0" tIns="0" rIns="0" bIns="0" rtlCol="0" anchor="ctr"/>
          <a:lstStyle/>
          <a:p>
            <a:pPr marL="0" indent="0">
              <a:buNone/>
            </a:pPr>
            <a:r>
              <a:rPr lang="en-US" sz="1150" dirty="0">
                <a:solidFill>
                  <a:srgbClr val="4A4A4A"/>
                </a:solidFill>
                <a:latin typeface="Calibri" pitchFamily="34" charset="0"/>
                <a:ea typeface="Calibri" pitchFamily="34" charset="-122"/>
                <a:cs typeface="Calibri" pitchFamily="34" charset="-120"/>
              </a:rPr>
              <a:t>Block slides if mg sinθ &gt; μmg cosθ</a:t>
            </a:r>
            <a:endParaRPr lang="en-US" sz="1150" dirty="0"/>
          </a:p>
          <a:p>
            <a:pPr marL="0" indent="0">
              <a:buNone/>
            </a:pPr>
            <a:r>
              <a:rPr lang="en-US" sz="1150" dirty="0">
                <a:solidFill>
                  <a:srgbClr val="4A4A4A"/>
                </a:solidFill>
                <a:latin typeface="Calibri" pitchFamily="34" charset="0"/>
                <a:ea typeface="Calibri" pitchFamily="34" charset="-122"/>
                <a:cs typeface="Calibri" pitchFamily="34" charset="-120"/>
              </a:rPr>
              <a:t>∴ tanθ &gt; μ    →    θ &gt; arctan(μ)</a:t>
            </a:r>
            <a:endParaRPr lang="en-US" sz="1150" dirty="0"/>
          </a:p>
        </p:txBody>
      </p:sp>
      <p:sp>
        <p:nvSpPr>
          <p:cNvPr id="25" name="Shape 22"/>
          <p:cNvSpPr/>
          <p:nvPr/>
        </p:nvSpPr>
        <p:spPr>
          <a:xfrm>
            <a:off x="4297680" y="4956048"/>
            <a:ext cx="4389120" cy="0"/>
          </a:xfrm>
          <a:prstGeom prst="rect">
            <a:avLst/>
          </a:prstGeom>
          <a:solidFill>
            <a:srgbClr val="B85042"/>
          </a:solidFill>
          <a:ln w="12700">
            <a:solidFill>
              <a:srgbClr val="B85042"/>
            </a:solidFill>
            <a:prstDash val="solid"/>
          </a:ln>
        </p:spPr>
      </p:sp>
      <p:sp>
        <p:nvSpPr>
          <p:cNvPr id="26" name="Text 23"/>
          <p:cNvSpPr/>
          <p:nvPr/>
        </p:nvSpPr>
        <p:spPr>
          <a:xfrm>
            <a:off x="4297680" y="4773168"/>
            <a:ext cx="4389120" cy="292608"/>
          </a:xfrm>
          <a:prstGeom prst="rect">
            <a:avLst/>
          </a:prstGeom>
          <a:noFill/>
          <a:ln/>
        </p:spPr>
        <p:txBody>
          <a:bodyPr wrap="square" lIns="0" tIns="0" rIns="0" bIns="0" rtlCol="0" anchor="ctr"/>
          <a:lstStyle/>
          <a:p>
            <a:pPr marL="0" indent="0" algn="ctr">
              <a:buNone/>
            </a:pPr>
            <a:r>
              <a:rPr lang="en-US" sz="1200" b="1" i="1" dirty="0">
                <a:solidFill>
                  <a:srgbClr val="B85042"/>
                </a:solidFill>
                <a:latin typeface="Cambria" pitchFamily="34" charset="0"/>
                <a:ea typeface="Cambria" pitchFamily="34" charset="-122"/>
                <a:cs typeface="Cambria" pitchFamily="34" charset="-120"/>
              </a:rPr>
              <a:t>Acceleration on slope: a = g(sinθ − μcosθ)   if sliding</a:t>
            </a:r>
            <a:endParaRPr lang="en-US" sz="1200" dirty="0"/>
          </a:p>
        </p:txBody>
      </p:sp>
      <p:pic>
        <p:nvPicPr>
          <p:cNvPr id="27" name="Picture 26" descr="Can you explain the components of force on a block kept on an inclined  plane with a diagram? - Quora">
            <a:extLst>
              <a:ext uri="{FF2B5EF4-FFF2-40B4-BE49-F238E27FC236}">
                <a16:creationId xmlns:a16="http://schemas.microsoft.com/office/drawing/2014/main" id="{AF22148A-1984-4577-9793-A35B0DC55B12}"/>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11279" y="1377569"/>
            <a:ext cx="3004193" cy="204228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2C2C2C"/>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Angle of Friction &amp; Repose</a:t>
            </a:r>
            <a:endParaRPr lang="en-US" sz="2600" dirty="0"/>
          </a:p>
        </p:txBody>
      </p:sp>
      <p:sp>
        <p:nvSpPr>
          <p:cNvPr id="3" name="Shape 1"/>
          <p:cNvSpPr/>
          <p:nvPr/>
        </p:nvSpPr>
        <p:spPr>
          <a:xfrm>
            <a:off x="365760" y="914400"/>
            <a:ext cx="4251960" cy="4069080"/>
          </a:xfrm>
          <a:prstGeom prst="roundRect">
            <a:avLst>
              <a:gd name="adj" fmla="val 2247"/>
            </a:avLst>
          </a:prstGeom>
          <a:solidFill>
            <a:srgbClr val="2A2A2A"/>
          </a:solidFill>
          <a:ln w="12700">
            <a:solidFill>
              <a:srgbClr val="444444"/>
            </a:solidFill>
            <a:prstDash val="solid"/>
          </a:ln>
        </p:spPr>
      </p:sp>
      <p:sp>
        <p:nvSpPr>
          <p:cNvPr id="4" name="Shape 2"/>
          <p:cNvSpPr/>
          <p:nvPr/>
        </p:nvSpPr>
        <p:spPr>
          <a:xfrm>
            <a:off x="365760" y="914400"/>
            <a:ext cx="4251960" cy="475488"/>
          </a:xfrm>
          <a:prstGeom prst="roundRect">
            <a:avLst>
              <a:gd name="adj" fmla="val 19231"/>
            </a:avLst>
          </a:prstGeom>
          <a:solidFill>
            <a:srgbClr val="B85042"/>
          </a:solidFill>
          <a:ln w="12700">
            <a:solidFill>
              <a:srgbClr val="B85042"/>
            </a:solidFill>
            <a:prstDash val="solid"/>
          </a:ln>
        </p:spPr>
      </p:sp>
      <p:sp>
        <p:nvSpPr>
          <p:cNvPr id="5" name="Shape 3"/>
          <p:cNvSpPr/>
          <p:nvPr/>
        </p:nvSpPr>
        <p:spPr>
          <a:xfrm>
            <a:off x="365760" y="1234440"/>
            <a:ext cx="4251960" cy="164592"/>
          </a:xfrm>
          <a:prstGeom prst="rect">
            <a:avLst/>
          </a:prstGeom>
          <a:solidFill>
            <a:srgbClr val="B85042"/>
          </a:solidFill>
          <a:ln w="12700">
            <a:solidFill>
              <a:srgbClr val="B85042"/>
            </a:solidFill>
            <a:prstDash val="solid"/>
          </a:ln>
        </p:spPr>
      </p:sp>
      <p:sp>
        <p:nvSpPr>
          <p:cNvPr id="6" name="Text 4"/>
          <p:cNvSpPr/>
          <p:nvPr/>
        </p:nvSpPr>
        <p:spPr>
          <a:xfrm>
            <a:off x="457200" y="950976"/>
            <a:ext cx="4069080" cy="402336"/>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Angle of Friction (λ)</a:t>
            </a:r>
            <a:endParaRPr lang="en-US" sz="1500" dirty="0"/>
          </a:p>
        </p:txBody>
      </p:sp>
      <p:sp>
        <p:nvSpPr>
          <p:cNvPr id="7" name="Text 5"/>
          <p:cNvSpPr/>
          <p:nvPr/>
        </p:nvSpPr>
        <p:spPr>
          <a:xfrm>
            <a:off x="502920" y="1481328"/>
            <a:ext cx="3977640" cy="3429000"/>
          </a:xfrm>
          <a:prstGeom prst="rect">
            <a:avLst/>
          </a:prstGeom>
          <a:noFill/>
          <a:ln/>
        </p:spPr>
        <p:txBody>
          <a:bodyPr wrap="square" lIns="0" tIns="0" rIns="0" bIns="0" rtlCol="0" anchor="ctr"/>
          <a:lstStyle/>
          <a:p>
            <a:pPr marL="0" indent="0">
              <a:buNone/>
            </a:pPr>
            <a:r>
              <a:rPr lang="en-US" sz="1200" dirty="0">
                <a:solidFill>
                  <a:srgbClr val="CCCCCC"/>
                </a:solidFill>
                <a:latin typeface="Calibri" pitchFamily="34" charset="0"/>
                <a:ea typeface="Calibri" pitchFamily="34" charset="-122"/>
                <a:cs typeface="Calibri" pitchFamily="34" charset="-120"/>
              </a:rPr>
              <a:t>When a body is on the verge of sliding, the resultant</a:t>
            </a:r>
            <a:endParaRPr lang="en-US" sz="1200" dirty="0"/>
          </a:p>
          <a:p>
            <a:pPr marL="0" indent="0">
              <a:buNone/>
            </a:pPr>
            <a:r>
              <a:rPr lang="en-US" sz="1200" dirty="0">
                <a:solidFill>
                  <a:srgbClr val="CCCCCC"/>
                </a:solidFill>
                <a:latin typeface="Calibri" pitchFamily="34" charset="0"/>
                <a:ea typeface="Calibri" pitchFamily="34" charset="-122"/>
                <a:cs typeface="Calibri" pitchFamily="34" charset="-120"/>
              </a:rPr>
              <a:t>of N and fₛ_max makes an angle λ with N:</a:t>
            </a:r>
            <a:endParaRPr lang="en-US" sz="1200" dirty="0"/>
          </a:p>
          <a:p>
            <a:pPr marL="0" indent="0">
              <a:buNone/>
            </a:pPr>
            <a:endParaRPr lang="en-US" sz="1200" dirty="0"/>
          </a:p>
          <a:p>
            <a:pPr marL="0" indent="0">
              <a:buNone/>
            </a:pPr>
            <a:r>
              <a:rPr lang="en-US" sz="1200" dirty="0">
                <a:solidFill>
                  <a:srgbClr val="CCCCCC"/>
                </a:solidFill>
                <a:latin typeface="Calibri" pitchFamily="34" charset="0"/>
                <a:ea typeface="Calibri" pitchFamily="34" charset="-122"/>
                <a:cs typeface="Calibri" pitchFamily="34" charset="-120"/>
              </a:rPr>
              <a:t>tan λ = fₛ_max / N = μₛN / N</a:t>
            </a:r>
            <a:endParaRPr lang="en-US" sz="1200" dirty="0"/>
          </a:p>
          <a:p>
            <a:pPr marL="0" indent="0">
              <a:buNone/>
            </a:pPr>
            <a:r>
              <a:rPr lang="en-US" sz="1200" dirty="0">
                <a:solidFill>
                  <a:srgbClr val="CCCCCC"/>
                </a:solidFill>
                <a:latin typeface="Calibri" pitchFamily="34" charset="0"/>
                <a:ea typeface="Calibri" pitchFamily="34" charset="-122"/>
                <a:cs typeface="Calibri" pitchFamily="34" charset="-120"/>
              </a:rPr>
              <a:t>∴  tan λ = μₛ</a:t>
            </a:r>
            <a:endParaRPr lang="en-US" sz="1200" dirty="0"/>
          </a:p>
          <a:p>
            <a:pPr marL="0" indent="0">
              <a:buNone/>
            </a:pPr>
            <a:r>
              <a:rPr lang="en-US" sz="1200" dirty="0">
                <a:solidFill>
                  <a:srgbClr val="CCCCCC"/>
                </a:solidFill>
                <a:latin typeface="Calibri" pitchFamily="34" charset="0"/>
                <a:ea typeface="Calibri" pitchFamily="34" charset="-122"/>
                <a:cs typeface="Calibri" pitchFamily="34" charset="-120"/>
              </a:rPr>
              <a:t>∴  λ = arctan(μₛ)</a:t>
            </a:r>
            <a:endParaRPr lang="en-US" sz="1200" dirty="0"/>
          </a:p>
          <a:p>
            <a:pPr marL="0" indent="0">
              <a:buNone/>
            </a:pPr>
            <a:endParaRPr lang="en-US" sz="1200" dirty="0"/>
          </a:p>
          <a:p>
            <a:pPr marL="0" indent="0">
              <a:buNone/>
            </a:pPr>
            <a:r>
              <a:rPr lang="en-US" sz="1200" dirty="0">
                <a:solidFill>
                  <a:srgbClr val="CCCCCC"/>
                </a:solidFill>
                <a:latin typeface="Calibri" pitchFamily="34" charset="0"/>
                <a:ea typeface="Calibri" pitchFamily="34" charset="-122"/>
                <a:cs typeface="Calibri" pitchFamily="34" charset="-120"/>
              </a:rPr>
              <a:t>λ is the angle the resultant reaction makes with</a:t>
            </a:r>
            <a:endParaRPr lang="en-US" sz="1200" dirty="0"/>
          </a:p>
          <a:p>
            <a:pPr marL="0" indent="0">
              <a:buNone/>
            </a:pPr>
            <a:r>
              <a:rPr lang="en-US" sz="1200" dirty="0">
                <a:solidFill>
                  <a:srgbClr val="CCCCCC"/>
                </a:solidFill>
                <a:latin typeface="Calibri" pitchFamily="34" charset="0"/>
                <a:ea typeface="Calibri" pitchFamily="34" charset="-122"/>
                <a:cs typeface="Calibri" pitchFamily="34" charset="-120"/>
              </a:rPr>
              <a:t>the normal — a neat geometric interpretation of μ.</a:t>
            </a:r>
            <a:endParaRPr lang="en-US" sz="1200" dirty="0"/>
          </a:p>
          <a:p>
            <a:pPr marL="0" indent="0">
              <a:buNone/>
            </a:pPr>
            <a:endParaRPr lang="en-US" sz="1200" dirty="0"/>
          </a:p>
          <a:p>
            <a:pPr marL="0" indent="0">
              <a:buNone/>
            </a:pPr>
            <a:r>
              <a:rPr lang="en-US" sz="1200" dirty="0">
                <a:solidFill>
                  <a:srgbClr val="CCCCCC"/>
                </a:solidFill>
                <a:latin typeface="Calibri" pitchFamily="34" charset="0"/>
                <a:ea typeface="Calibri" pitchFamily="34" charset="-122"/>
                <a:cs typeface="Calibri" pitchFamily="34" charset="-120"/>
              </a:rPr>
              <a:t>If applied force direction ≤ λ from normal → no slip.</a:t>
            </a:r>
            <a:endParaRPr lang="en-US" sz="1200" dirty="0"/>
          </a:p>
          <a:p>
            <a:pPr marL="0" indent="0">
              <a:buNone/>
            </a:pPr>
            <a:r>
              <a:rPr lang="en-US" sz="1200" dirty="0">
                <a:solidFill>
                  <a:srgbClr val="CCCCCC"/>
                </a:solidFill>
                <a:latin typeface="Calibri" pitchFamily="34" charset="0"/>
                <a:ea typeface="Calibri" pitchFamily="34" charset="-122"/>
                <a:cs typeface="Calibri" pitchFamily="34" charset="-120"/>
              </a:rPr>
              <a:t>If &gt; λ → body slides.</a:t>
            </a:r>
            <a:endParaRPr lang="en-US" sz="1200" dirty="0"/>
          </a:p>
        </p:txBody>
      </p:sp>
      <p:sp>
        <p:nvSpPr>
          <p:cNvPr id="8" name="Shape 6"/>
          <p:cNvSpPr/>
          <p:nvPr/>
        </p:nvSpPr>
        <p:spPr>
          <a:xfrm>
            <a:off x="4754880" y="914400"/>
            <a:ext cx="4251960" cy="4069080"/>
          </a:xfrm>
          <a:prstGeom prst="roundRect">
            <a:avLst>
              <a:gd name="adj" fmla="val 2247"/>
            </a:avLst>
          </a:prstGeom>
          <a:solidFill>
            <a:srgbClr val="2A2A2A"/>
          </a:solidFill>
          <a:ln w="12700">
            <a:solidFill>
              <a:srgbClr val="444444"/>
            </a:solidFill>
            <a:prstDash val="solid"/>
          </a:ln>
        </p:spPr>
      </p:sp>
      <p:sp>
        <p:nvSpPr>
          <p:cNvPr id="9" name="Shape 7"/>
          <p:cNvSpPr/>
          <p:nvPr/>
        </p:nvSpPr>
        <p:spPr>
          <a:xfrm>
            <a:off x="4754880" y="914400"/>
            <a:ext cx="4251960" cy="475488"/>
          </a:xfrm>
          <a:prstGeom prst="roundRect">
            <a:avLst>
              <a:gd name="adj" fmla="val 19231"/>
            </a:avLst>
          </a:prstGeom>
          <a:solidFill>
            <a:srgbClr val="C9974C"/>
          </a:solidFill>
          <a:ln w="12700">
            <a:solidFill>
              <a:srgbClr val="C9974C"/>
            </a:solidFill>
            <a:prstDash val="solid"/>
          </a:ln>
        </p:spPr>
      </p:sp>
      <p:sp>
        <p:nvSpPr>
          <p:cNvPr id="10" name="Shape 8"/>
          <p:cNvSpPr/>
          <p:nvPr/>
        </p:nvSpPr>
        <p:spPr>
          <a:xfrm>
            <a:off x="4754880" y="1234440"/>
            <a:ext cx="4251960" cy="164592"/>
          </a:xfrm>
          <a:prstGeom prst="rect">
            <a:avLst/>
          </a:prstGeom>
          <a:solidFill>
            <a:srgbClr val="C9974C"/>
          </a:solidFill>
          <a:ln w="12700">
            <a:solidFill>
              <a:srgbClr val="C9974C"/>
            </a:solidFill>
            <a:prstDash val="solid"/>
          </a:ln>
        </p:spPr>
      </p:sp>
      <p:sp>
        <p:nvSpPr>
          <p:cNvPr id="11" name="Text 9"/>
          <p:cNvSpPr/>
          <p:nvPr/>
        </p:nvSpPr>
        <p:spPr>
          <a:xfrm>
            <a:off x="4846320" y="950976"/>
            <a:ext cx="4069080" cy="402336"/>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Angle of Repose (θᵣ)</a:t>
            </a:r>
            <a:endParaRPr lang="en-US" sz="1500" dirty="0"/>
          </a:p>
        </p:txBody>
      </p:sp>
      <p:sp>
        <p:nvSpPr>
          <p:cNvPr id="12" name="Text 10"/>
          <p:cNvSpPr/>
          <p:nvPr/>
        </p:nvSpPr>
        <p:spPr>
          <a:xfrm>
            <a:off x="4892040" y="1481328"/>
            <a:ext cx="3977640" cy="3429000"/>
          </a:xfrm>
          <a:prstGeom prst="rect">
            <a:avLst/>
          </a:prstGeom>
          <a:noFill/>
          <a:ln/>
        </p:spPr>
        <p:txBody>
          <a:bodyPr wrap="square" lIns="0" tIns="0" rIns="0" bIns="0" rtlCol="0" anchor="ctr"/>
          <a:lstStyle/>
          <a:p>
            <a:pPr marL="0" indent="0">
              <a:buNone/>
            </a:pPr>
            <a:r>
              <a:rPr lang="en-US" sz="1200" dirty="0">
                <a:solidFill>
                  <a:srgbClr val="CCCCCC"/>
                </a:solidFill>
                <a:latin typeface="Calibri" pitchFamily="34" charset="0"/>
                <a:ea typeface="Calibri" pitchFamily="34" charset="-122"/>
                <a:cs typeface="Calibri" pitchFamily="34" charset="-120"/>
              </a:rPr>
              <a:t>The angle of repose is the maximum incline angle</a:t>
            </a:r>
            <a:endParaRPr lang="en-US" sz="1200" dirty="0"/>
          </a:p>
          <a:p>
            <a:pPr marL="0" indent="0">
              <a:buNone/>
            </a:pPr>
            <a:r>
              <a:rPr lang="en-US" sz="1200" dirty="0">
                <a:solidFill>
                  <a:srgbClr val="CCCCCC"/>
                </a:solidFill>
                <a:latin typeface="Calibri" pitchFamily="34" charset="0"/>
                <a:ea typeface="Calibri" pitchFamily="34" charset="-122"/>
                <a:cs typeface="Calibri" pitchFamily="34" charset="-120"/>
              </a:rPr>
              <a:t>at which a body just remains stationary.</a:t>
            </a:r>
            <a:endParaRPr lang="en-US" sz="1200" dirty="0"/>
          </a:p>
          <a:p>
            <a:pPr marL="0" indent="0">
              <a:buNone/>
            </a:pPr>
            <a:endParaRPr lang="en-US" sz="1200" dirty="0"/>
          </a:p>
          <a:p>
            <a:pPr marL="0" indent="0">
              <a:buNone/>
            </a:pPr>
            <a:r>
              <a:rPr lang="en-US" sz="1200" dirty="0">
                <a:solidFill>
                  <a:srgbClr val="CCCCCC"/>
                </a:solidFill>
                <a:latin typeface="Calibri" pitchFamily="34" charset="0"/>
                <a:ea typeface="Calibri" pitchFamily="34" charset="-122"/>
                <a:cs typeface="Calibri" pitchFamily="34" charset="-120"/>
              </a:rPr>
              <a:t>At θ = θᵣ:  mg sinθᵣ = fₛ_max = μₛ mg cosθᵣ</a:t>
            </a:r>
            <a:endParaRPr lang="en-US" sz="1200" dirty="0"/>
          </a:p>
          <a:p>
            <a:pPr marL="0" indent="0">
              <a:buNone/>
            </a:pPr>
            <a:r>
              <a:rPr lang="en-US" sz="1200" dirty="0">
                <a:solidFill>
                  <a:srgbClr val="CCCCCC"/>
                </a:solidFill>
                <a:latin typeface="Calibri" pitchFamily="34" charset="0"/>
                <a:ea typeface="Calibri" pitchFamily="34" charset="-122"/>
                <a:cs typeface="Calibri" pitchFamily="34" charset="-120"/>
              </a:rPr>
              <a:t>→  sinθᵣ / cosθᵣ = μₛ</a:t>
            </a:r>
            <a:endParaRPr lang="en-US" sz="1200" dirty="0"/>
          </a:p>
          <a:p>
            <a:pPr marL="0" indent="0">
              <a:buNone/>
            </a:pPr>
            <a:r>
              <a:rPr lang="en-US" sz="1200" dirty="0">
                <a:solidFill>
                  <a:srgbClr val="CCCCCC"/>
                </a:solidFill>
                <a:latin typeface="Calibri" pitchFamily="34" charset="0"/>
                <a:ea typeface="Calibri" pitchFamily="34" charset="-122"/>
                <a:cs typeface="Calibri" pitchFamily="34" charset="-120"/>
              </a:rPr>
              <a:t>∴  tan θᵣ = μₛ</a:t>
            </a:r>
            <a:endParaRPr lang="en-US" sz="1200" dirty="0"/>
          </a:p>
          <a:p>
            <a:pPr marL="0" indent="0">
              <a:buNone/>
            </a:pPr>
            <a:endParaRPr lang="en-US" sz="1200" dirty="0"/>
          </a:p>
          <a:p>
            <a:pPr marL="0" indent="0">
              <a:buNone/>
            </a:pPr>
            <a:r>
              <a:rPr lang="en-US" sz="1200" dirty="0">
                <a:solidFill>
                  <a:srgbClr val="CCCCCC"/>
                </a:solidFill>
                <a:latin typeface="Calibri" pitchFamily="34" charset="0"/>
                <a:ea typeface="Calibri" pitchFamily="34" charset="-122"/>
                <a:cs typeface="Calibri" pitchFamily="34" charset="-120"/>
              </a:rPr>
              <a:t>∴  θᵣ = λ  (Angle of repose = Angle of friction!)</a:t>
            </a:r>
            <a:endParaRPr lang="en-US" sz="1200" dirty="0"/>
          </a:p>
          <a:p>
            <a:pPr marL="0" indent="0">
              <a:buNone/>
            </a:pPr>
            <a:endParaRPr lang="en-US" sz="1200" dirty="0"/>
          </a:p>
          <a:p>
            <a:pPr marL="0" indent="0">
              <a:buNone/>
            </a:pPr>
            <a:r>
              <a:rPr lang="en-US" sz="1200" dirty="0">
                <a:solidFill>
                  <a:srgbClr val="CCCCCC"/>
                </a:solidFill>
                <a:latin typeface="Calibri" pitchFamily="34" charset="0"/>
                <a:ea typeface="Calibri" pitchFamily="34" charset="-122"/>
                <a:cs typeface="Calibri" pitchFamily="34" charset="-120"/>
              </a:rPr>
              <a:t>This is powerful: measure θᵣ by tilting a surface</a:t>
            </a:r>
            <a:endParaRPr lang="en-US" sz="1200" dirty="0"/>
          </a:p>
          <a:p>
            <a:pPr marL="0" indent="0">
              <a:buNone/>
            </a:pPr>
            <a:r>
              <a:rPr lang="en-US" sz="1200" dirty="0">
                <a:solidFill>
                  <a:srgbClr val="CCCCCC"/>
                </a:solidFill>
                <a:latin typeface="Calibri" pitchFamily="34" charset="0"/>
                <a:ea typeface="Calibri" pitchFamily="34" charset="-122"/>
                <a:cs typeface="Calibri" pitchFamily="34" charset="-120"/>
              </a:rPr>
              <a:t>until block slides → directly get μₛ = tan(θᵣ).</a:t>
            </a:r>
            <a:endParaRPr lang="en-US" sz="1200" dirty="0"/>
          </a:p>
        </p:txBody>
      </p:sp>
      <p:sp>
        <p:nvSpPr>
          <p:cNvPr id="13" name="Shape 11"/>
          <p:cNvSpPr/>
          <p:nvPr/>
        </p:nvSpPr>
        <p:spPr>
          <a:xfrm>
            <a:off x="365760" y="5102352"/>
            <a:ext cx="8412480" cy="0"/>
          </a:xfrm>
          <a:prstGeom prst="rect">
            <a:avLst/>
          </a:prstGeom>
          <a:solidFill>
            <a:srgbClr val="B85042"/>
          </a:solidFill>
          <a:ln w="12700">
            <a:solidFill>
              <a:srgbClr val="B85042"/>
            </a:solidFill>
            <a:prstDash val="solid"/>
          </a:ln>
        </p:spPr>
      </p:sp>
      <p:sp>
        <p:nvSpPr>
          <p:cNvPr id="14" name="Text 12"/>
          <p:cNvSpPr/>
          <p:nvPr/>
        </p:nvSpPr>
        <p:spPr>
          <a:xfrm>
            <a:off x="365760" y="4937760"/>
            <a:ext cx="8412480" cy="274320"/>
          </a:xfrm>
          <a:prstGeom prst="rect">
            <a:avLst/>
          </a:prstGeom>
          <a:noFill/>
          <a:ln/>
        </p:spPr>
        <p:txBody>
          <a:bodyPr wrap="square" lIns="0" tIns="0" rIns="0" bIns="0" rtlCol="0" anchor="ctr"/>
          <a:lstStyle/>
          <a:p>
            <a:pPr marL="0" indent="0" algn="ctr">
              <a:buNone/>
            </a:pPr>
            <a:r>
              <a:rPr lang="en-US" sz="1250" b="1" i="1" dirty="0">
                <a:solidFill>
                  <a:srgbClr val="C9974C"/>
                </a:solidFill>
                <a:latin typeface="Cambria" pitchFamily="34" charset="0"/>
                <a:ea typeface="Cambria" pitchFamily="34" charset="-122"/>
                <a:cs typeface="Cambria" pitchFamily="34" charset="-120"/>
              </a:rPr>
              <a:t>Key Result:   μₛ = tan(θᵣ) = tan(λ)   — the three quantities are all equivalent.</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marL="0" indent="0">
              <a:buNone/>
            </a:pPr>
            <a:r>
              <a:rPr lang="en-US" sz="2600" b="1" dirty="0">
                <a:solidFill>
                  <a:srgbClr val="2C2C2C"/>
                </a:solidFill>
                <a:latin typeface="Georgia" pitchFamily="34" charset="0"/>
                <a:ea typeface="Georgia" pitchFamily="34" charset="-122"/>
                <a:cs typeface="Georgia" pitchFamily="34" charset="-120"/>
              </a:rPr>
              <a:t>Friction — Worked Examples</a:t>
            </a:r>
            <a:endParaRPr lang="en-US" sz="2600" dirty="0"/>
          </a:p>
        </p:txBody>
      </p:sp>
      <p:sp>
        <p:nvSpPr>
          <p:cNvPr id="3" name="Shape 1"/>
          <p:cNvSpPr/>
          <p:nvPr/>
        </p:nvSpPr>
        <p:spPr>
          <a:xfrm>
            <a:off x="457200" y="960120"/>
            <a:ext cx="4114800" cy="1874520"/>
          </a:xfrm>
          <a:prstGeom prst="roundRect">
            <a:avLst>
              <a:gd name="adj" fmla="val 4878"/>
            </a:avLst>
          </a:prstGeom>
          <a:solidFill>
            <a:srgbClr val="FFFFFF"/>
          </a:solidFill>
          <a:ln w="12700">
            <a:solidFill>
              <a:srgbClr val="E5E0D8"/>
            </a:solidFill>
            <a:prstDash val="solid"/>
          </a:ln>
          <a:effectLst>
            <a:outerShdw blurRad="76200" dist="38100" dir="8100000" algn="bl" rotWithShape="0">
              <a:srgbClr val="000000">
                <a:alpha val="12000"/>
              </a:srgbClr>
            </a:outerShdw>
          </a:effectLst>
        </p:spPr>
      </p:sp>
      <p:sp>
        <p:nvSpPr>
          <p:cNvPr id="4" name="Shape 2"/>
          <p:cNvSpPr/>
          <p:nvPr/>
        </p:nvSpPr>
        <p:spPr>
          <a:xfrm>
            <a:off x="457200" y="960120"/>
            <a:ext cx="4114800" cy="420624"/>
          </a:xfrm>
          <a:prstGeom prst="roundRect">
            <a:avLst>
              <a:gd name="adj" fmla="val 26087"/>
            </a:avLst>
          </a:prstGeom>
          <a:solidFill>
            <a:srgbClr val="B85042"/>
          </a:solidFill>
          <a:ln w="12700">
            <a:solidFill>
              <a:srgbClr val="B85042"/>
            </a:solidFill>
            <a:prstDash val="solid"/>
          </a:ln>
        </p:spPr>
      </p:sp>
      <p:sp>
        <p:nvSpPr>
          <p:cNvPr id="5" name="Text 3"/>
          <p:cNvSpPr/>
          <p:nvPr/>
        </p:nvSpPr>
        <p:spPr>
          <a:xfrm>
            <a:off x="566928" y="1014984"/>
            <a:ext cx="3895344" cy="310896"/>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Flat Surface</a:t>
            </a:r>
            <a:endParaRPr lang="en-US" sz="1300" dirty="0"/>
          </a:p>
        </p:txBody>
      </p:sp>
      <p:sp>
        <p:nvSpPr>
          <p:cNvPr id="6" name="Shape 4"/>
          <p:cNvSpPr/>
          <p:nvPr/>
        </p:nvSpPr>
        <p:spPr>
          <a:xfrm>
            <a:off x="566928" y="1472184"/>
            <a:ext cx="3895344" cy="502920"/>
          </a:xfrm>
          <a:prstGeom prst="rect">
            <a:avLst/>
          </a:prstGeom>
          <a:solidFill>
            <a:srgbClr val="F7F4EF"/>
          </a:solidFill>
          <a:ln w="9525">
            <a:solidFill>
              <a:srgbClr val="E5E0D8"/>
            </a:solidFill>
            <a:prstDash val="solid"/>
          </a:ln>
        </p:spPr>
      </p:sp>
      <p:sp>
        <p:nvSpPr>
          <p:cNvPr id="7" name="Text 5"/>
          <p:cNvSpPr/>
          <p:nvPr/>
        </p:nvSpPr>
        <p:spPr>
          <a:xfrm>
            <a:off x="621792" y="1490472"/>
            <a:ext cx="3785616" cy="466344"/>
          </a:xfrm>
          <a:prstGeom prst="rect">
            <a:avLst/>
          </a:prstGeom>
          <a:noFill/>
          <a:ln/>
        </p:spPr>
        <p:txBody>
          <a:bodyPr wrap="square" lIns="0" tIns="0" rIns="0" bIns="0" rtlCol="0" anchor="ctr"/>
          <a:lstStyle/>
          <a:p>
            <a:pPr marL="0" indent="0">
              <a:buNone/>
            </a:pPr>
            <a:r>
              <a:rPr lang="en-US" sz="1050" dirty="0">
                <a:solidFill>
                  <a:srgbClr val="4A4A4A"/>
                </a:solidFill>
                <a:latin typeface="Calibri" pitchFamily="34" charset="0"/>
                <a:ea typeface="Calibri" pitchFamily="34" charset="-122"/>
                <a:cs typeface="Calibri" pitchFamily="34" charset="-120"/>
              </a:rPr>
              <a:t>Q: A 10 kg box sits on a floor (μₛ=0.4). What force is needed to start it moving?</a:t>
            </a:r>
            <a:endParaRPr lang="en-US" sz="1050" dirty="0"/>
          </a:p>
        </p:txBody>
      </p:sp>
      <p:sp>
        <p:nvSpPr>
          <p:cNvPr id="8" name="Text 6"/>
          <p:cNvSpPr/>
          <p:nvPr/>
        </p:nvSpPr>
        <p:spPr>
          <a:xfrm>
            <a:off x="566928" y="2039112"/>
            <a:ext cx="3895344" cy="749808"/>
          </a:xfrm>
          <a:prstGeom prst="rect">
            <a:avLst/>
          </a:prstGeom>
          <a:noFill/>
          <a:ln/>
        </p:spPr>
        <p:txBody>
          <a:bodyPr wrap="square" lIns="0" tIns="0" rIns="0" bIns="0" rtlCol="0" anchor="ctr"/>
          <a:lstStyle/>
          <a:p>
            <a:pPr marL="0" indent="0">
              <a:buNone/>
            </a:pPr>
            <a:r>
              <a:rPr lang="en-US" sz="1100" dirty="0">
                <a:solidFill>
                  <a:srgbClr val="2C2C2C"/>
                </a:solidFill>
                <a:latin typeface="Calibri" pitchFamily="34" charset="0"/>
                <a:ea typeface="Calibri" pitchFamily="34" charset="-122"/>
                <a:cs typeface="Calibri" pitchFamily="34" charset="-120"/>
              </a:rPr>
              <a:t>N = mg = 10×9.8 = 98 N</a:t>
            </a:r>
            <a:endParaRPr lang="en-US" sz="1100" dirty="0"/>
          </a:p>
          <a:p>
            <a:pPr marL="0" indent="0">
              <a:buNone/>
            </a:pPr>
            <a:r>
              <a:rPr lang="en-US" sz="1100" dirty="0">
                <a:solidFill>
                  <a:srgbClr val="2C2C2C"/>
                </a:solidFill>
                <a:latin typeface="Calibri" pitchFamily="34" charset="0"/>
                <a:ea typeface="Calibri" pitchFamily="34" charset="-122"/>
                <a:cs typeface="Calibri" pitchFamily="34" charset="-120"/>
              </a:rPr>
              <a:t>fₛ_max = μₛN = 0.4×98 = 39.2 N</a:t>
            </a:r>
            <a:endParaRPr lang="en-US" sz="1100" dirty="0"/>
          </a:p>
          <a:p>
            <a:pPr marL="0" indent="0">
              <a:buNone/>
            </a:pPr>
            <a:r>
              <a:rPr lang="en-US" sz="1100" dirty="0">
                <a:solidFill>
                  <a:srgbClr val="2C2C2C"/>
                </a:solidFill>
                <a:latin typeface="Calibri" pitchFamily="34" charset="0"/>
                <a:ea typeface="Calibri" pitchFamily="34" charset="-122"/>
                <a:cs typeface="Calibri" pitchFamily="34" charset="-120"/>
              </a:rPr>
              <a:t>∴ Need F &gt; 39.2 N to start motion</a:t>
            </a:r>
            <a:endParaRPr lang="en-US" sz="1100" dirty="0"/>
          </a:p>
        </p:txBody>
      </p:sp>
      <p:sp>
        <p:nvSpPr>
          <p:cNvPr id="9" name="Shape 7"/>
          <p:cNvSpPr/>
          <p:nvPr/>
        </p:nvSpPr>
        <p:spPr>
          <a:xfrm>
            <a:off x="4800600" y="960120"/>
            <a:ext cx="4114800" cy="1874520"/>
          </a:xfrm>
          <a:prstGeom prst="roundRect">
            <a:avLst>
              <a:gd name="adj" fmla="val 4878"/>
            </a:avLst>
          </a:prstGeom>
          <a:solidFill>
            <a:srgbClr val="FFFFFF"/>
          </a:solidFill>
          <a:ln w="12700">
            <a:solidFill>
              <a:srgbClr val="E5E0D8"/>
            </a:solidFill>
            <a:prstDash val="solid"/>
          </a:ln>
          <a:effectLst>
            <a:outerShdw blurRad="76200" dist="38100" dir="8100000" algn="bl" rotWithShape="0">
              <a:srgbClr val="000000">
                <a:alpha val="12000"/>
              </a:srgbClr>
            </a:outerShdw>
          </a:effectLst>
        </p:spPr>
      </p:sp>
      <p:sp>
        <p:nvSpPr>
          <p:cNvPr id="10" name="Shape 8"/>
          <p:cNvSpPr/>
          <p:nvPr/>
        </p:nvSpPr>
        <p:spPr>
          <a:xfrm>
            <a:off x="4800600" y="960120"/>
            <a:ext cx="4114800" cy="420624"/>
          </a:xfrm>
          <a:prstGeom prst="roundRect">
            <a:avLst>
              <a:gd name="adj" fmla="val 26087"/>
            </a:avLst>
          </a:prstGeom>
          <a:solidFill>
            <a:srgbClr val="C9974C"/>
          </a:solidFill>
          <a:ln w="12700">
            <a:solidFill>
              <a:srgbClr val="C9974C"/>
            </a:solidFill>
            <a:prstDash val="solid"/>
          </a:ln>
        </p:spPr>
      </p:sp>
      <p:sp>
        <p:nvSpPr>
          <p:cNvPr id="11" name="Text 9"/>
          <p:cNvSpPr/>
          <p:nvPr/>
        </p:nvSpPr>
        <p:spPr>
          <a:xfrm>
            <a:off x="4910328" y="1014984"/>
            <a:ext cx="3895344" cy="310896"/>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Two Stacked Blocks</a:t>
            </a:r>
            <a:endParaRPr lang="en-US" sz="1300" dirty="0"/>
          </a:p>
        </p:txBody>
      </p:sp>
      <p:sp>
        <p:nvSpPr>
          <p:cNvPr id="12" name="Shape 10"/>
          <p:cNvSpPr/>
          <p:nvPr/>
        </p:nvSpPr>
        <p:spPr>
          <a:xfrm>
            <a:off x="4910328" y="1472184"/>
            <a:ext cx="3895344" cy="502920"/>
          </a:xfrm>
          <a:prstGeom prst="rect">
            <a:avLst/>
          </a:prstGeom>
          <a:solidFill>
            <a:srgbClr val="F7F4EF"/>
          </a:solidFill>
          <a:ln w="9525">
            <a:solidFill>
              <a:srgbClr val="E5E0D8"/>
            </a:solidFill>
            <a:prstDash val="solid"/>
          </a:ln>
        </p:spPr>
      </p:sp>
      <p:sp>
        <p:nvSpPr>
          <p:cNvPr id="13" name="Text 11"/>
          <p:cNvSpPr/>
          <p:nvPr/>
        </p:nvSpPr>
        <p:spPr>
          <a:xfrm>
            <a:off x="4965192" y="1490472"/>
            <a:ext cx="3785616" cy="466344"/>
          </a:xfrm>
          <a:prstGeom prst="rect">
            <a:avLst/>
          </a:prstGeom>
          <a:noFill/>
          <a:ln/>
        </p:spPr>
        <p:txBody>
          <a:bodyPr wrap="square" lIns="0" tIns="0" rIns="0" bIns="0" rtlCol="0" anchor="ctr"/>
          <a:lstStyle/>
          <a:p>
            <a:pPr marL="0" indent="0">
              <a:buNone/>
            </a:pPr>
            <a:r>
              <a:rPr lang="en-US" sz="1050" dirty="0">
                <a:solidFill>
                  <a:srgbClr val="4A4A4A"/>
                </a:solidFill>
                <a:latin typeface="Calibri" pitchFamily="34" charset="0"/>
                <a:ea typeface="Calibri" pitchFamily="34" charset="-122"/>
                <a:cs typeface="Calibri" pitchFamily="34" charset="-120"/>
              </a:rPr>
              <a:t>Q: Block A (5 kg) on Block B (10 kg) on floor. μ=0.3 between all surfaces. Push B. Find friction on B from floor.</a:t>
            </a:r>
            <a:endParaRPr lang="en-US" sz="1050" dirty="0"/>
          </a:p>
        </p:txBody>
      </p:sp>
      <p:sp>
        <p:nvSpPr>
          <p:cNvPr id="14" name="Text 12"/>
          <p:cNvSpPr/>
          <p:nvPr/>
        </p:nvSpPr>
        <p:spPr>
          <a:xfrm>
            <a:off x="4910328" y="2039112"/>
            <a:ext cx="3895344" cy="749808"/>
          </a:xfrm>
          <a:prstGeom prst="rect">
            <a:avLst/>
          </a:prstGeom>
          <a:noFill/>
          <a:ln/>
        </p:spPr>
        <p:txBody>
          <a:bodyPr wrap="square" lIns="0" tIns="0" rIns="0" bIns="0" rtlCol="0" anchor="ctr"/>
          <a:lstStyle/>
          <a:p>
            <a:pPr marL="0" indent="0">
              <a:buNone/>
            </a:pPr>
            <a:r>
              <a:rPr lang="en-US" sz="1100" dirty="0">
                <a:solidFill>
                  <a:srgbClr val="2C2C2C"/>
                </a:solidFill>
                <a:latin typeface="Calibri" pitchFamily="34" charset="0"/>
                <a:ea typeface="Calibri" pitchFamily="34" charset="-122"/>
                <a:cs typeface="Calibri" pitchFamily="34" charset="-120"/>
              </a:rPr>
              <a:t>Total weight on floor = (5+10)×9.8 = 147 N</a:t>
            </a:r>
            <a:endParaRPr lang="en-US" sz="1100" dirty="0"/>
          </a:p>
          <a:p>
            <a:pPr marL="0" indent="0">
              <a:buNone/>
            </a:pPr>
            <a:r>
              <a:rPr lang="en-US" sz="1100" dirty="0">
                <a:solidFill>
                  <a:srgbClr val="2C2C2C"/>
                </a:solidFill>
                <a:latin typeface="Calibri" pitchFamily="34" charset="0"/>
                <a:ea typeface="Calibri" pitchFamily="34" charset="-122"/>
                <a:cs typeface="Calibri" pitchFamily="34" charset="-120"/>
              </a:rPr>
              <a:t>N_floor = 147 N</a:t>
            </a:r>
            <a:endParaRPr lang="en-US" sz="1100" dirty="0"/>
          </a:p>
          <a:p>
            <a:pPr marL="0" indent="0">
              <a:buNone/>
            </a:pPr>
            <a:r>
              <a:rPr lang="en-US" sz="1100" dirty="0">
                <a:solidFill>
                  <a:srgbClr val="2C2C2C"/>
                </a:solidFill>
                <a:latin typeface="Calibri" pitchFamily="34" charset="0"/>
                <a:ea typeface="Calibri" pitchFamily="34" charset="-122"/>
                <a:cs typeface="Calibri" pitchFamily="34" charset="-120"/>
              </a:rPr>
              <a:t>fₖ_floor = 0.3×147 = 44.1 N</a:t>
            </a:r>
            <a:endParaRPr lang="en-US" sz="1100" dirty="0"/>
          </a:p>
        </p:txBody>
      </p:sp>
      <p:sp>
        <p:nvSpPr>
          <p:cNvPr id="15" name="Shape 13"/>
          <p:cNvSpPr/>
          <p:nvPr/>
        </p:nvSpPr>
        <p:spPr>
          <a:xfrm>
            <a:off x="457200" y="2971800"/>
            <a:ext cx="4114800" cy="1874520"/>
          </a:xfrm>
          <a:prstGeom prst="roundRect">
            <a:avLst>
              <a:gd name="adj" fmla="val 4878"/>
            </a:avLst>
          </a:prstGeom>
          <a:solidFill>
            <a:srgbClr val="FFFFFF"/>
          </a:solidFill>
          <a:ln w="12700">
            <a:solidFill>
              <a:srgbClr val="E5E0D8"/>
            </a:solidFill>
            <a:prstDash val="solid"/>
          </a:ln>
          <a:effectLst>
            <a:outerShdw blurRad="76200" dist="38100" dir="8100000" algn="bl" rotWithShape="0">
              <a:srgbClr val="000000">
                <a:alpha val="12000"/>
              </a:srgbClr>
            </a:outerShdw>
          </a:effectLst>
        </p:spPr>
      </p:sp>
      <p:sp>
        <p:nvSpPr>
          <p:cNvPr id="16" name="Shape 14"/>
          <p:cNvSpPr/>
          <p:nvPr/>
        </p:nvSpPr>
        <p:spPr>
          <a:xfrm>
            <a:off x="457200" y="2971800"/>
            <a:ext cx="4114800" cy="420624"/>
          </a:xfrm>
          <a:prstGeom prst="roundRect">
            <a:avLst>
              <a:gd name="adj" fmla="val 26087"/>
            </a:avLst>
          </a:prstGeom>
          <a:solidFill>
            <a:srgbClr val="2A7F7F"/>
          </a:solidFill>
          <a:ln w="12700">
            <a:solidFill>
              <a:srgbClr val="2A7F7F"/>
            </a:solidFill>
            <a:prstDash val="solid"/>
          </a:ln>
        </p:spPr>
      </p:sp>
      <p:sp>
        <p:nvSpPr>
          <p:cNvPr id="17" name="Text 15"/>
          <p:cNvSpPr/>
          <p:nvPr/>
        </p:nvSpPr>
        <p:spPr>
          <a:xfrm>
            <a:off x="566928" y="3026664"/>
            <a:ext cx="3895344" cy="310896"/>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Incline (30°)</a:t>
            </a:r>
            <a:endParaRPr lang="en-US" sz="1300" dirty="0"/>
          </a:p>
        </p:txBody>
      </p:sp>
      <p:sp>
        <p:nvSpPr>
          <p:cNvPr id="18" name="Shape 16"/>
          <p:cNvSpPr/>
          <p:nvPr/>
        </p:nvSpPr>
        <p:spPr>
          <a:xfrm>
            <a:off x="566928" y="3483864"/>
            <a:ext cx="3895344" cy="502920"/>
          </a:xfrm>
          <a:prstGeom prst="rect">
            <a:avLst/>
          </a:prstGeom>
          <a:solidFill>
            <a:srgbClr val="F7F4EF"/>
          </a:solidFill>
          <a:ln w="9525">
            <a:solidFill>
              <a:srgbClr val="E5E0D8"/>
            </a:solidFill>
            <a:prstDash val="solid"/>
          </a:ln>
        </p:spPr>
      </p:sp>
      <p:sp>
        <p:nvSpPr>
          <p:cNvPr id="19" name="Text 17"/>
          <p:cNvSpPr/>
          <p:nvPr/>
        </p:nvSpPr>
        <p:spPr>
          <a:xfrm>
            <a:off x="621792" y="3502152"/>
            <a:ext cx="3785616" cy="466344"/>
          </a:xfrm>
          <a:prstGeom prst="rect">
            <a:avLst/>
          </a:prstGeom>
          <a:noFill/>
          <a:ln/>
        </p:spPr>
        <p:txBody>
          <a:bodyPr wrap="square" lIns="0" tIns="0" rIns="0" bIns="0" rtlCol="0" anchor="ctr"/>
          <a:lstStyle/>
          <a:p>
            <a:pPr marL="0" indent="0">
              <a:buNone/>
            </a:pPr>
            <a:r>
              <a:rPr lang="en-US" sz="1050" dirty="0">
                <a:solidFill>
                  <a:srgbClr val="4A4A4A"/>
                </a:solidFill>
                <a:latin typeface="Calibri" pitchFamily="34" charset="0"/>
                <a:ea typeface="Calibri" pitchFamily="34" charset="-122"/>
                <a:cs typeface="Calibri" pitchFamily="34" charset="-120"/>
              </a:rPr>
              <a:t>Q: A 5 kg block on a 30° incline, μₖ=0.2. Find acceleration down the slope.</a:t>
            </a:r>
            <a:endParaRPr lang="en-US" sz="1050" dirty="0"/>
          </a:p>
        </p:txBody>
      </p:sp>
      <p:sp>
        <p:nvSpPr>
          <p:cNvPr id="20" name="Text 18"/>
          <p:cNvSpPr/>
          <p:nvPr/>
        </p:nvSpPr>
        <p:spPr>
          <a:xfrm>
            <a:off x="566928" y="4050792"/>
            <a:ext cx="3895344" cy="749808"/>
          </a:xfrm>
          <a:prstGeom prst="rect">
            <a:avLst/>
          </a:prstGeom>
          <a:noFill/>
          <a:ln/>
        </p:spPr>
        <p:txBody>
          <a:bodyPr wrap="square" lIns="0" tIns="0" rIns="0" bIns="0" rtlCol="0" anchor="ctr"/>
          <a:lstStyle/>
          <a:p>
            <a:pPr marL="0" indent="0">
              <a:buNone/>
            </a:pPr>
            <a:r>
              <a:rPr lang="en-US" sz="1100" dirty="0">
                <a:solidFill>
                  <a:srgbClr val="2C2C2C"/>
                </a:solidFill>
                <a:latin typeface="Calibri" pitchFamily="34" charset="0"/>
                <a:ea typeface="Calibri" pitchFamily="34" charset="-122"/>
                <a:cs typeface="Calibri" pitchFamily="34" charset="-120"/>
              </a:rPr>
              <a:t>N = 5×9.8×cos30° = 42.4 N</a:t>
            </a:r>
            <a:endParaRPr lang="en-US" sz="1100" dirty="0"/>
          </a:p>
          <a:p>
            <a:pPr marL="0" indent="0">
              <a:buNone/>
            </a:pPr>
            <a:r>
              <a:rPr lang="en-US" sz="1100" dirty="0">
                <a:solidFill>
                  <a:srgbClr val="2C2C2C"/>
                </a:solidFill>
                <a:latin typeface="Calibri" pitchFamily="34" charset="0"/>
                <a:ea typeface="Calibri" pitchFamily="34" charset="-122"/>
                <a:cs typeface="Calibri" pitchFamily="34" charset="-120"/>
              </a:rPr>
              <a:t>fₖ = 0.2×42.4 = 8.48 N</a:t>
            </a:r>
            <a:endParaRPr lang="en-US" sz="1100" dirty="0"/>
          </a:p>
          <a:p>
            <a:pPr marL="0" indent="0">
              <a:buNone/>
            </a:pPr>
            <a:r>
              <a:rPr lang="en-US" sz="1100" dirty="0">
                <a:solidFill>
                  <a:srgbClr val="2C2C2C"/>
                </a:solidFill>
                <a:latin typeface="Calibri" pitchFamily="34" charset="0"/>
                <a:ea typeface="Calibri" pitchFamily="34" charset="-122"/>
                <a:cs typeface="Calibri" pitchFamily="34" charset="-120"/>
              </a:rPr>
              <a:t>a = g(sin30° − 0.2cos30°)</a:t>
            </a:r>
            <a:endParaRPr lang="en-US" sz="1100" dirty="0"/>
          </a:p>
          <a:p>
            <a:pPr marL="0" indent="0">
              <a:buNone/>
            </a:pPr>
            <a:r>
              <a:rPr lang="en-US" sz="1100" dirty="0">
                <a:solidFill>
                  <a:srgbClr val="2C2C2C"/>
                </a:solidFill>
                <a:latin typeface="Calibri" pitchFamily="34" charset="0"/>
                <a:ea typeface="Calibri" pitchFamily="34" charset="-122"/>
                <a:cs typeface="Calibri" pitchFamily="34" charset="-120"/>
              </a:rPr>
              <a:t>  = 9.8(0.5−0.173) = 3.2 m/s²</a:t>
            </a:r>
            <a:endParaRPr lang="en-US" sz="1100" dirty="0"/>
          </a:p>
        </p:txBody>
      </p:sp>
      <p:sp>
        <p:nvSpPr>
          <p:cNvPr id="21" name="Shape 19"/>
          <p:cNvSpPr/>
          <p:nvPr/>
        </p:nvSpPr>
        <p:spPr>
          <a:xfrm>
            <a:off x="4800600" y="2971800"/>
            <a:ext cx="4114800" cy="1874520"/>
          </a:xfrm>
          <a:prstGeom prst="roundRect">
            <a:avLst>
              <a:gd name="adj" fmla="val 4878"/>
            </a:avLst>
          </a:prstGeom>
          <a:solidFill>
            <a:srgbClr val="FFFFFF"/>
          </a:solidFill>
          <a:ln w="12700">
            <a:solidFill>
              <a:srgbClr val="E5E0D8"/>
            </a:solidFill>
            <a:prstDash val="solid"/>
          </a:ln>
          <a:effectLst>
            <a:outerShdw blurRad="76200" dist="38100" dir="8100000" algn="bl" rotWithShape="0">
              <a:srgbClr val="000000">
                <a:alpha val="12000"/>
              </a:srgbClr>
            </a:outerShdw>
          </a:effectLst>
        </p:spPr>
      </p:sp>
      <p:sp>
        <p:nvSpPr>
          <p:cNvPr id="22" name="Shape 20"/>
          <p:cNvSpPr/>
          <p:nvPr/>
        </p:nvSpPr>
        <p:spPr>
          <a:xfrm>
            <a:off x="4800600" y="2971800"/>
            <a:ext cx="4114800" cy="420624"/>
          </a:xfrm>
          <a:prstGeom prst="roundRect">
            <a:avLst>
              <a:gd name="adj" fmla="val 26087"/>
            </a:avLst>
          </a:prstGeom>
          <a:solidFill>
            <a:srgbClr val="1E3A5F"/>
          </a:solidFill>
          <a:ln w="12700">
            <a:solidFill>
              <a:srgbClr val="1E3A5F"/>
            </a:solidFill>
            <a:prstDash val="solid"/>
          </a:ln>
        </p:spPr>
      </p:sp>
      <p:sp>
        <p:nvSpPr>
          <p:cNvPr id="23" name="Text 21"/>
          <p:cNvSpPr/>
          <p:nvPr/>
        </p:nvSpPr>
        <p:spPr>
          <a:xfrm>
            <a:off x="4910328" y="3026664"/>
            <a:ext cx="3895344" cy="310896"/>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Horizontal Push at Angle</a:t>
            </a:r>
            <a:endParaRPr lang="en-US" sz="1300" dirty="0"/>
          </a:p>
        </p:txBody>
      </p:sp>
      <p:sp>
        <p:nvSpPr>
          <p:cNvPr id="24" name="Shape 22"/>
          <p:cNvSpPr/>
          <p:nvPr/>
        </p:nvSpPr>
        <p:spPr>
          <a:xfrm>
            <a:off x="4910328" y="3483864"/>
            <a:ext cx="3895344" cy="502920"/>
          </a:xfrm>
          <a:prstGeom prst="rect">
            <a:avLst/>
          </a:prstGeom>
          <a:solidFill>
            <a:srgbClr val="F7F4EF"/>
          </a:solidFill>
          <a:ln w="9525">
            <a:solidFill>
              <a:srgbClr val="E5E0D8"/>
            </a:solidFill>
            <a:prstDash val="solid"/>
          </a:ln>
        </p:spPr>
      </p:sp>
      <p:sp>
        <p:nvSpPr>
          <p:cNvPr id="25" name="Text 23"/>
          <p:cNvSpPr/>
          <p:nvPr/>
        </p:nvSpPr>
        <p:spPr>
          <a:xfrm>
            <a:off x="4965192" y="3502152"/>
            <a:ext cx="3785616" cy="466344"/>
          </a:xfrm>
          <a:prstGeom prst="rect">
            <a:avLst/>
          </a:prstGeom>
          <a:noFill/>
          <a:ln/>
        </p:spPr>
        <p:txBody>
          <a:bodyPr wrap="square" lIns="0" tIns="0" rIns="0" bIns="0" rtlCol="0" anchor="ctr"/>
          <a:lstStyle/>
          <a:p>
            <a:pPr marL="0" indent="0">
              <a:buNone/>
            </a:pPr>
            <a:r>
              <a:rPr lang="en-US" sz="1050" dirty="0">
                <a:solidFill>
                  <a:srgbClr val="4A4A4A"/>
                </a:solidFill>
                <a:latin typeface="Calibri" pitchFamily="34" charset="0"/>
                <a:ea typeface="Calibri" pitchFamily="34" charset="-122"/>
                <a:cs typeface="Calibri" pitchFamily="34" charset="-120"/>
              </a:rPr>
              <a:t>Q: Push 8 kg crate with force 50 N at 20° below horizontal. μₖ=0.35. Find acceleration.</a:t>
            </a:r>
            <a:endParaRPr lang="en-US" sz="1050" dirty="0"/>
          </a:p>
        </p:txBody>
      </p:sp>
      <p:sp>
        <p:nvSpPr>
          <p:cNvPr id="26" name="Text 24"/>
          <p:cNvSpPr/>
          <p:nvPr/>
        </p:nvSpPr>
        <p:spPr>
          <a:xfrm>
            <a:off x="4910328" y="4050792"/>
            <a:ext cx="3895344" cy="749808"/>
          </a:xfrm>
          <a:prstGeom prst="rect">
            <a:avLst/>
          </a:prstGeom>
          <a:noFill/>
          <a:ln/>
        </p:spPr>
        <p:txBody>
          <a:bodyPr wrap="square" lIns="0" tIns="0" rIns="0" bIns="0" rtlCol="0" anchor="ctr"/>
          <a:lstStyle/>
          <a:p>
            <a:pPr marL="0" indent="0">
              <a:buNone/>
            </a:pPr>
            <a:r>
              <a:rPr lang="en-US" sz="1100" dirty="0">
                <a:solidFill>
                  <a:srgbClr val="2C2C2C"/>
                </a:solidFill>
                <a:latin typeface="Calibri" pitchFamily="34" charset="0"/>
                <a:ea typeface="Calibri" pitchFamily="34" charset="-122"/>
                <a:cs typeface="Calibri" pitchFamily="34" charset="-120"/>
              </a:rPr>
              <a:t>N = mg + Fsin20° = 78.4+17.1 = 95.5 N</a:t>
            </a:r>
            <a:endParaRPr lang="en-US" sz="1100" dirty="0"/>
          </a:p>
          <a:p>
            <a:pPr marL="0" indent="0">
              <a:buNone/>
            </a:pPr>
            <a:r>
              <a:rPr lang="en-US" sz="1100" dirty="0">
                <a:solidFill>
                  <a:srgbClr val="2C2C2C"/>
                </a:solidFill>
                <a:latin typeface="Calibri" pitchFamily="34" charset="0"/>
                <a:ea typeface="Calibri" pitchFamily="34" charset="-122"/>
                <a:cs typeface="Calibri" pitchFamily="34" charset="-120"/>
              </a:rPr>
              <a:t>fₖ = 0.35×95.5 = 33.4 N</a:t>
            </a:r>
            <a:endParaRPr lang="en-US" sz="1100" dirty="0"/>
          </a:p>
          <a:p>
            <a:pPr marL="0" indent="0">
              <a:buNone/>
            </a:pPr>
            <a:r>
              <a:rPr lang="en-US" sz="1100" dirty="0">
                <a:solidFill>
                  <a:srgbClr val="2C2C2C"/>
                </a:solidFill>
                <a:latin typeface="Calibri" pitchFamily="34" charset="0"/>
                <a:ea typeface="Calibri" pitchFamily="34" charset="-122"/>
                <a:cs typeface="Calibri" pitchFamily="34" charset="-120"/>
              </a:rPr>
              <a:t>Fₓ = 50cos20° = 47 N</a:t>
            </a:r>
            <a:endParaRPr lang="en-US" sz="1100" dirty="0"/>
          </a:p>
          <a:p>
            <a:pPr marL="0" indent="0">
              <a:buNone/>
            </a:pPr>
            <a:r>
              <a:rPr lang="en-US" sz="1100" dirty="0">
                <a:solidFill>
                  <a:srgbClr val="2C2C2C"/>
                </a:solidFill>
                <a:latin typeface="Calibri" pitchFamily="34" charset="0"/>
                <a:ea typeface="Calibri" pitchFamily="34" charset="-122"/>
                <a:cs typeface="Calibri" pitchFamily="34" charset="-120"/>
              </a:rPr>
              <a:t>a = (47−33.4)/8 = 1.7 m/s²</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marL="0" indent="0">
              <a:buNone/>
            </a:pPr>
            <a:r>
              <a:rPr lang="en-US" sz="3600" b="1" dirty="0">
                <a:solidFill>
                  <a:srgbClr val="2C2C2C"/>
                </a:solidFill>
                <a:latin typeface="Georgia" pitchFamily="34" charset="0"/>
                <a:ea typeface="Georgia" pitchFamily="34" charset="-122"/>
                <a:cs typeface="Georgia" pitchFamily="34" charset="-120"/>
              </a:rPr>
              <a:t>Rolling Friction</a:t>
            </a:r>
            <a:endParaRPr lang="en-US" sz="3600" dirty="0"/>
          </a:p>
        </p:txBody>
      </p:sp>
      <p:sp>
        <p:nvSpPr>
          <p:cNvPr id="4" name="Text 1"/>
          <p:cNvSpPr/>
          <p:nvPr/>
        </p:nvSpPr>
        <p:spPr>
          <a:xfrm>
            <a:off x="5760720" y="3218688"/>
            <a:ext cx="3017520" cy="201168"/>
          </a:xfrm>
          <a:prstGeom prst="rect">
            <a:avLst/>
          </a:prstGeom>
          <a:noFill/>
          <a:ln/>
        </p:spPr>
        <p:txBody>
          <a:bodyPr wrap="square" lIns="0" tIns="0" rIns="0" bIns="0"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Ball bearings: reducing rolling friction</a:t>
            </a:r>
            <a:endParaRPr lang="en-US" sz="900" dirty="0"/>
          </a:p>
        </p:txBody>
      </p:sp>
      <p:sp>
        <p:nvSpPr>
          <p:cNvPr id="5" name="Shape 2"/>
          <p:cNvSpPr/>
          <p:nvPr/>
        </p:nvSpPr>
        <p:spPr>
          <a:xfrm>
            <a:off x="457200" y="932688"/>
            <a:ext cx="5120640" cy="548640"/>
          </a:xfrm>
          <a:prstGeom prst="rect">
            <a:avLst/>
          </a:prstGeom>
          <a:solidFill>
            <a:srgbClr val="B85042"/>
          </a:solidFill>
          <a:ln w="12700">
            <a:solidFill>
              <a:srgbClr val="B85042"/>
            </a:solidFill>
            <a:prstDash val="solid"/>
          </a:ln>
          <a:effectLst>
            <a:outerShdw blurRad="76200" dist="38100" dir="8100000" algn="bl" rotWithShape="0">
              <a:srgbClr val="000000">
                <a:alpha val="12000"/>
              </a:srgbClr>
            </a:outerShdw>
          </a:effectLst>
        </p:spPr>
      </p:sp>
      <p:sp>
        <p:nvSpPr>
          <p:cNvPr id="6" name="Text 3"/>
          <p:cNvSpPr/>
          <p:nvPr/>
        </p:nvSpPr>
        <p:spPr>
          <a:xfrm>
            <a:off x="457200" y="950976"/>
            <a:ext cx="5120640" cy="512064"/>
          </a:xfrm>
          <a:prstGeom prst="rect">
            <a:avLst/>
          </a:prstGeom>
          <a:noFill/>
          <a:ln/>
        </p:spPr>
        <p:txBody>
          <a:bodyPr wrap="square" lIns="0" tIns="0" rIns="0" bIns="0" rtlCol="0" anchor="ctr"/>
          <a:lstStyle/>
          <a:p>
            <a:pPr marL="0" indent="0" algn="ctr">
              <a:buNone/>
            </a:pPr>
            <a:r>
              <a:rPr lang="en-US" sz="1800" b="1" i="1" dirty="0">
                <a:solidFill>
                  <a:srgbClr val="FFFFFF"/>
                </a:solidFill>
                <a:latin typeface="Cambria" pitchFamily="34" charset="0"/>
                <a:ea typeface="Cambria" pitchFamily="34" charset="-122"/>
                <a:cs typeface="Cambria" pitchFamily="34" charset="-120"/>
              </a:rPr>
              <a:t>fᵣ = μᵣ × N       [μᵣ typically 0.001–0.01]</a:t>
            </a:r>
            <a:endParaRPr lang="en-US" sz="1800" dirty="0"/>
          </a:p>
        </p:txBody>
      </p:sp>
      <p:sp>
        <p:nvSpPr>
          <p:cNvPr id="7" name="Shape 4"/>
          <p:cNvSpPr/>
          <p:nvPr/>
        </p:nvSpPr>
        <p:spPr>
          <a:xfrm>
            <a:off x="457200" y="1627632"/>
            <a:ext cx="5120640" cy="768096"/>
          </a:xfrm>
          <a:prstGeom prst="rect">
            <a:avLst/>
          </a:prstGeom>
          <a:solidFill>
            <a:srgbClr val="FFFFFF"/>
          </a:solidFill>
          <a:ln w="12700">
            <a:solidFill>
              <a:srgbClr val="E5E0D8"/>
            </a:solidFill>
            <a:prstDash val="solid"/>
          </a:ln>
        </p:spPr>
      </p:sp>
      <p:sp>
        <p:nvSpPr>
          <p:cNvPr id="8" name="Shape 5"/>
          <p:cNvSpPr/>
          <p:nvPr/>
        </p:nvSpPr>
        <p:spPr>
          <a:xfrm>
            <a:off x="457200" y="1627632"/>
            <a:ext cx="73152" cy="768096"/>
          </a:xfrm>
          <a:prstGeom prst="rect">
            <a:avLst/>
          </a:prstGeom>
          <a:solidFill>
            <a:srgbClr val="B85042"/>
          </a:solidFill>
          <a:ln w="12700">
            <a:solidFill>
              <a:srgbClr val="B85042"/>
            </a:solidFill>
            <a:prstDash val="solid"/>
          </a:ln>
        </p:spPr>
      </p:sp>
      <p:sp>
        <p:nvSpPr>
          <p:cNvPr id="9" name="Text 6"/>
          <p:cNvSpPr/>
          <p:nvPr/>
        </p:nvSpPr>
        <p:spPr>
          <a:xfrm>
            <a:off x="603504" y="1682496"/>
            <a:ext cx="4846320" cy="228600"/>
          </a:xfrm>
          <a:prstGeom prst="rect">
            <a:avLst/>
          </a:prstGeom>
          <a:noFill/>
          <a:ln/>
        </p:spPr>
        <p:txBody>
          <a:bodyPr wrap="square" lIns="0" tIns="0" rIns="0" bIns="0" rtlCol="0" anchor="ctr"/>
          <a:lstStyle/>
          <a:p>
            <a:pPr marL="0" indent="0">
              <a:buNone/>
            </a:pPr>
            <a:r>
              <a:rPr lang="en-US" sz="1200" b="1" dirty="0">
                <a:solidFill>
                  <a:srgbClr val="B85042"/>
                </a:solidFill>
                <a:latin typeface="Georgia" pitchFamily="34" charset="0"/>
                <a:ea typeface="Georgia" pitchFamily="34" charset="-122"/>
                <a:cs typeface="Georgia" pitchFamily="34" charset="-120"/>
              </a:rPr>
              <a:t>Cause: Deformation</a:t>
            </a:r>
            <a:endParaRPr lang="en-US" sz="1200" dirty="0"/>
          </a:p>
        </p:txBody>
      </p:sp>
      <p:sp>
        <p:nvSpPr>
          <p:cNvPr id="10" name="Text 7"/>
          <p:cNvSpPr/>
          <p:nvPr/>
        </p:nvSpPr>
        <p:spPr>
          <a:xfrm>
            <a:off x="603504" y="1956816"/>
            <a:ext cx="4846320" cy="402336"/>
          </a:xfrm>
          <a:prstGeom prst="rect">
            <a:avLst/>
          </a:prstGeom>
          <a:noFill/>
          <a:ln/>
        </p:spPr>
        <p:txBody>
          <a:bodyPr wrap="square" lIns="0" tIns="0" rIns="0" bIns="0" rtlCol="0" anchor="ctr"/>
          <a:lstStyle/>
          <a:p>
            <a:pPr marL="0" indent="0">
              <a:buNone/>
            </a:pPr>
            <a:r>
              <a:rPr lang="en-US" sz="1100" dirty="0">
                <a:solidFill>
                  <a:srgbClr val="4A4A4A"/>
                </a:solidFill>
                <a:latin typeface="Calibri" pitchFamily="34" charset="0"/>
                <a:ea typeface="Calibri" pitchFamily="34" charset="-122"/>
                <a:cs typeface="Calibri" pitchFamily="34" charset="-120"/>
              </a:rPr>
              <a:t>The contact zone deforms slightly under load (hysteresis). Energy is absorbed during compression ahead of the contact zone and not fully returned at the back. This energy loss = rolling friction.</a:t>
            </a:r>
            <a:endParaRPr lang="en-US" sz="1100" dirty="0"/>
          </a:p>
        </p:txBody>
      </p:sp>
      <p:sp>
        <p:nvSpPr>
          <p:cNvPr id="11" name="Shape 8"/>
          <p:cNvSpPr/>
          <p:nvPr/>
        </p:nvSpPr>
        <p:spPr>
          <a:xfrm>
            <a:off x="457200" y="2468880"/>
            <a:ext cx="5120640" cy="768096"/>
          </a:xfrm>
          <a:prstGeom prst="rect">
            <a:avLst/>
          </a:prstGeom>
          <a:solidFill>
            <a:srgbClr val="F7F4EF"/>
          </a:solidFill>
          <a:ln w="12700">
            <a:solidFill>
              <a:srgbClr val="E5E0D8"/>
            </a:solidFill>
            <a:prstDash val="solid"/>
          </a:ln>
        </p:spPr>
      </p:sp>
      <p:sp>
        <p:nvSpPr>
          <p:cNvPr id="12" name="Shape 9"/>
          <p:cNvSpPr/>
          <p:nvPr/>
        </p:nvSpPr>
        <p:spPr>
          <a:xfrm>
            <a:off x="457200" y="2468880"/>
            <a:ext cx="73152" cy="768096"/>
          </a:xfrm>
          <a:prstGeom prst="rect">
            <a:avLst/>
          </a:prstGeom>
          <a:solidFill>
            <a:srgbClr val="B85042"/>
          </a:solidFill>
          <a:ln w="12700">
            <a:solidFill>
              <a:srgbClr val="B85042"/>
            </a:solidFill>
            <a:prstDash val="solid"/>
          </a:ln>
        </p:spPr>
      </p:sp>
      <p:sp>
        <p:nvSpPr>
          <p:cNvPr id="13" name="Text 10"/>
          <p:cNvSpPr/>
          <p:nvPr/>
        </p:nvSpPr>
        <p:spPr>
          <a:xfrm>
            <a:off x="603504" y="2523744"/>
            <a:ext cx="4846320" cy="228600"/>
          </a:xfrm>
          <a:prstGeom prst="rect">
            <a:avLst/>
          </a:prstGeom>
          <a:noFill/>
          <a:ln/>
        </p:spPr>
        <p:txBody>
          <a:bodyPr wrap="square" lIns="0" tIns="0" rIns="0" bIns="0" rtlCol="0" anchor="ctr"/>
          <a:lstStyle/>
          <a:p>
            <a:pPr marL="0" indent="0">
              <a:buNone/>
            </a:pPr>
            <a:r>
              <a:rPr lang="en-US" sz="1200" b="1" dirty="0">
                <a:solidFill>
                  <a:srgbClr val="B85042"/>
                </a:solidFill>
                <a:latin typeface="Georgia" pitchFamily="34" charset="0"/>
                <a:ea typeface="Georgia" pitchFamily="34" charset="-122"/>
                <a:cs typeface="Georgia" pitchFamily="34" charset="-120"/>
              </a:rPr>
              <a:t>Why Smaller Than Sliding</a:t>
            </a:r>
            <a:endParaRPr lang="en-US" sz="1200" dirty="0"/>
          </a:p>
        </p:txBody>
      </p:sp>
      <p:sp>
        <p:nvSpPr>
          <p:cNvPr id="14" name="Text 11"/>
          <p:cNvSpPr/>
          <p:nvPr/>
        </p:nvSpPr>
        <p:spPr>
          <a:xfrm>
            <a:off x="603504" y="2798064"/>
            <a:ext cx="4846320" cy="402336"/>
          </a:xfrm>
          <a:prstGeom prst="rect">
            <a:avLst/>
          </a:prstGeom>
          <a:noFill/>
          <a:ln/>
        </p:spPr>
        <p:txBody>
          <a:bodyPr wrap="square" lIns="0" tIns="0" rIns="0" bIns="0" rtlCol="0" anchor="ctr"/>
          <a:lstStyle/>
          <a:p>
            <a:pPr marL="0" indent="0">
              <a:buNone/>
            </a:pPr>
            <a:r>
              <a:rPr lang="en-US" sz="1100" dirty="0">
                <a:solidFill>
                  <a:srgbClr val="4A4A4A"/>
                </a:solidFill>
                <a:latin typeface="Calibri" pitchFamily="34" charset="0"/>
                <a:ea typeface="Calibri" pitchFamily="34" charset="-122"/>
                <a:cs typeface="Calibri" pitchFamily="34" charset="-120"/>
              </a:rPr>
              <a:t>Only the material at the tiny contact patch deforms — most of the object is not shearing. Rolling replaces sliding at the contact, so energy loss is far smaller (100× less typically).</a:t>
            </a:r>
            <a:endParaRPr lang="en-US" sz="1100" dirty="0"/>
          </a:p>
        </p:txBody>
      </p:sp>
      <p:sp>
        <p:nvSpPr>
          <p:cNvPr id="15" name="Shape 12"/>
          <p:cNvSpPr/>
          <p:nvPr/>
        </p:nvSpPr>
        <p:spPr>
          <a:xfrm>
            <a:off x="457200" y="3310128"/>
            <a:ext cx="5120640" cy="768096"/>
          </a:xfrm>
          <a:prstGeom prst="rect">
            <a:avLst/>
          </a:prstGeom>
          <a:solidFill>
            <a:srgbClr val="FFFFFF"/>
          </a:solidFill>
          <a:ln w="12700">
            <a:solidFill>
              <a:srgbClr val="E5E0D8"/>
            </a:solidFill>
            <a:prstDash val="solid"/>
          </a:ln>
        </p:spPr>
      </p:sp>
      <p:sp>
        <p:nvSpPr>
          <p:cNvPr id="16" name="Shape 13"/>
          <p:cNvSpPr/>
          <p:nvPr/>
        </p:nvSpPr>
        <p:spPr>
          <a:xfrm>
            <a:off x="457200" y="3310128"/>
            <a:ext cx="73152" cy="768096"/>
          </a:xfrm>
          <a:prstGeom prst="rect">
            <a:avLst/>
          </a:prstGeom>
          <a:solidFill>
            <a:srgbClr val="B85042"/>
          </a:solidFill>
          <a:ln w="12700">
            <a:solidFill>
              <a:srgbClr val="B85042"/>
            </a:solidFill>
            <a:prstDash val="solid"/>
          </a:ln>
        </p:spPr>
      </p:sp>
      <p:sp>
        <p:nvSpPr>
          <p:cNvPr id="17" name="Text 14"/>
          <p:cNvSpPr/>
          <p:nvPr/>
        </p:nvSpPr>
        <p:spPr>
          <a:xfrm>
            <a:off x="603504" y="3364992"/>
            <a:ext cx="4846320" cy="228600"/>
          </a:xfrm>
          <a:prstGeom prst="rect">
            <a:avLst/>
          </a:prstGeom>
          <a:noFill/>
          <a:ln/>
        </p:spPr>
        <p:txBody>
          <a:bodyPr wrap="square" lIns="0" tIns="0" rIns="0" bIns="0" rtlCol="0" anchor="ctr"/>
          <a:lstStyle/>
          <a:p>
            <a:pPr marL="0" indent="0">
              <a:buNone/>
            </a:pPr>
            <a:r>
              <a:rPr lang="en-US" sz="1200" b="1" dirty="0">
                <a:solidFill>
                  <a:srgbClr val="B85042"/>
                </a:solidFill>
                <a:latin typeface="Georgia" pitchFamily="34" charset="0"/>
                <a:ea typeface="Georgia" pitchFamily="34" charset="-122"/>
                <a:cs typeface="Georgia" pitchFamily="34" charset="-120"/>
              </a:rPr>
              <a:t>Radius Dependence</a:t>
            </a:r>
            <a:endParaRPr lang="en-US" sz="1200" dirty="0"/>
          </a:p>
        </p:txBody>
      </p:sp>
      <p:sp>
        <p:nvSpPr>
          <p:cNvPr id="18" name="Text 15"/>
          <p:cNvSpPr/>
          <p:nvPr/>
        </p:nvSpPr>
        <p:spPr>
          <a:xfrm>
            <a:off x="603504" y="3639312"/>
            <a:ext cx="4846320" cy="402336"/>
          </a:xfrm>
          <a:prstGeom prst="rect">
            <a:avLst/>
          </a:prstGeom>
          <a:noFill/>
          <a:ln/>
        </p:spPr>
        <p:txBody>
          <a:bodyPr wrap="square" lIns="0" tIns="0" rIns="0" bIns="0" rtlCol="0" anchor="ctr"/>
          <a:lstStyle/>
          <a:p>
            <a:pPr marL="0" indent="0">
              <a:buNone/>
            </a:pPr>
            <a:r>
              <a:rPr lang="en-US" sz="1100" dirty="0">
                <a:solidFill>
                  <a:srgbClr val="4A4A4A"/>
                </a:solidFill>
                <a:latin typeface="Calibri" pitchFamily="34" charset="0"/>
                <a:ea typeface="Calibri" pitchFamily="34" charset="-122"/>
                <a:cs typeface="Calibri" pitchFamily="34" charset="-120"/>
              </a:rPr>
              <a:t>Larger radius → smaller deformation per unit length → less μᵣ. Formula: μᵣ ≈ b/r where b is deformation width. Steel wheels on rail: μᵣ ≈ 0.001!</a:t>
            </a:r>
            <a:endParaRPr lang="en-US" sz="1100" dirty="0"/>
          </a:p>
        </p:txBody>
      </p:sp>
      <p:sp>
        <p:nvSpPr>
          <p:cNvPr id="19" name="Shape 16"/>
          <p:cNvSpPr/>
          <p:nvPr/>
        </p:nvSpPr>
        <p:spPr>
          <a:xfrm>
            <a:off x="457200" y="4151376"/>
            <a:ext cx="5120640" cy="768096"/>
          </a:xfrm>
          <a:prstGeom prst="rect">
            <a:avLst/>
          </a:prstGeom>
          <a:solidFill>
            <a:srgbClr val="F7F4EF"/>
          </a:solidFill>
          <a:ln w="12700">
            <a:solidFill>
              <a:srgbClr val="E5E0D8"/>
            </a:solidFill>
            <a:prstDash val="solid"/>
          </a:ln>
        </p:spPr>
      </p:sp>
      <p:sp>
        <p:nvSpPr>
          <p:cNvPr id="20" name="Shape 17"/>
          <p:cNvSpPr/>
          <p:nvPr/>
        </p:nvSpPr>
        <p:spPr>
          <a:xfrm>
            <a:off x="457200" y="4151376"/>
            <a:ext cx="73152" cy="768096"/>
          </a:xfrm>
          <a:prstGeom prst="rect">
            <a:avLst/>
          </a:prstGeom>
          <a:solidFill>
            <a:srgbClr val="B85042"/>
          </a:solidFill>
          <a:ln w="12700">
            <a:solidFill>
              <a:srgbClr val="B85042"/>
            </a:solidFill>
            <a:prstDash val="solid"/>
          </a:ln>
        </p:spPr>
      </p:sp>
      <p:sp>
        <p:nvSpPr>
          <p:cNvPr id="21" name="Text 18"/>
          <p:cNvSpPr/>
          <p:nvPr/>
        </p:nvSpPr>
        <p:spPr>
          <a:xfrm>
            <a:off x="603504" y="4206240"/>
            <a:ext cx="4846320" cy="228600"/>
          </a:xfrm>
          <a:prstGeom prst="rect">
            <a:avLst/>
          </a:prstGeom>
          <a:noFill/>
          <a:ln/>
        </p:spPr>
        <p:txBody>
          <a:bodyPr wrap="square" lIns="0" tIns="0" rIns="0" bIns="0" rtlCol="0" anchor="ctr"/>
          <a:lstStyle/>
          <a:p>
            <a:pPr marL="0" indent="0">
              <a:buNone/>
            </a:pPr>
            <a:r>
              <a:rPr lang="en-US" sz="1200" b="1" dirty="0">
                <a:solidFill>
                  <a:srgbClr val="B85042"/>
                </a:solidFill>
                <a:latin typeface="Georgia" pitchFamily="34" charset="0"/>
                <a:ea typeface="Georgia" pitchFamily="34" charset="-122"/>
                <a:cs typeface="Georgia" pitchFamily="34" charset="-120"/>
              </a:rPr>
              <a:t>Coefficient Values</a:t>
            </a:r>
            <a:endParaRPr lang="en-US" sz="1200" dirty="0"/>
          </a:p>
        </p:txBody>
      </p:sp>
      <p:sp>
        <p:nvSpPr>
          <p:cNvPr id="22" name="Text 19"/>
          <p:cNvSpPr/>
          <p:nvPr/>
        </p:nvSpPr>
        <p:spPr>
          <a:xfrm>
            <a:off x="603504" y="4480560"/>
            <a:ext cx="4846320" cy="402336"/>
          </a:xfrm>
          <a:prstGeom prst="rect">
            <a:avLst/>
          </a:prstGeom>
          <a:noFill/>
          <a:ln/>
        </p:spPr>
        <p:txBody>
          <a:bodyPr wrap="square" lIns="0" tIns="0" rIns="0" bIns="0" rtlCol="0" anchor="ctr"/>
          <a:lstStyle/>
          <a:p>
            <a:pPr marL="0" indent="0">
              <a:buNone/>
            </a:pPr>
            <a:r>
              <a:rPr lang="en-US" sz="1100" dirty="0">
                <a:solidFill>
                  <a:srgbClr val="4A4A4A"/>
                </a:solidFill>
                <a:latin typeface="Calibri" pitchFamily="34" charset="0"/>
                <a:ea typeface="Calibri" pitchFamily="34" charset="-122"/>
                <a:cs typeface="Calibri" pitchFamily="34" charset="-120"/>
              </a:rPr>
              <a:t>Car tyre on road: μᵣ ≈ 0.01–0.015</a:t>
            </a:r>
            <a:endParaRPr lang="en-US" sz="1100" dirty="0"/>
          </a:p>
          <a:p>
            <a:pPr marL="0" indent="0">
              <a:buNone/>
            </a:pPr>
            <a:r>
              <a:rPr lang="en-US" sz="1100" dirty="0">
                <a:solidFill>
                  <a:srgbClr val="4A4A4A"/>
                </a:solidFill>
                <a:latin typeface="Calibri" pitchFamily="34" charset="0"/>
                <a:ea typeface="Calibri" pitchFamily="34" charset="-122"/>
                <a:cs typeface="Calibri" pitchFamily="34" charset="-120"/>
              </a:rPr>
              <a:t>Ball bearing:      μᵣ ≈ 0.001</a:t>
            </a:r>
            <a:endParaRPr lang="en-US" sz="1100" dirty="0"/>
          </a:p>
          <a:p>
            <a:pPr marL="0" indent="0">
              <a:buNone/>
            </a:pPr>
            <a:r>
              <a:rPr lang="en-US" sz="1100" dirty="0">
                <a:solidFill>
                  <a:srgbClr val="4A4A4A"/>
                </a:solidFill>
                <a:latin typeface="Calibri" pitchFamily="34" charset="0"/>
                <a:ea typeface="Calibri" pitchFamily="34" charset="-122"/>
                <a:cs typeface="Calibri" pitchFamily="34" charset="-120"/>
              </a:rPr>
              <a:t>Stepper on carpet: μᵣ ≈ 0.3</a:t>
            </a:r>
            <a:endParaRPr lang="en-US" sz="1100" dirty="0"/>
          </a:p>
          <a:p>
            <a:pPr marL="0" indent="0">
              <a:buNone/>
            </a:pPr>
            <a:r>
              <a:rPr lang="en-US" sz="1100" dirty="0">
                <a:solidFill>
                  <a:srgbClr val="4A4A4A"/>
                </a:solidFill>
                <a:latin typeface="Calibri" pitchFamily="34" charset="0"/>
                <a:ea typeface="Calibri" pitchFamily="34" charset="-122"/>
                <a:cs typeface="Calibri" pitchFamily="34" charset="-120"/>
              </a:rPr>
              <a:t>Bicycle tyre:      μᵣ ≈ 0.004</a:t>
            </a:r>
            <a:endParaRPr lang="en-US" sz="1100" dirty="0"/>
          </a:p>
        </p:txBody>
      </p:sp>
      <p:pic>
        <p:nvPicPr>
          <p:cNvPr id="6146" name="Picture 2" descr="Rolling Friction: Definition, Formula, and Examples">
            <a:extLst>
              <a:ext uri="{FF2B5EF4-FFF2-40B4-BE49-F238E27FC236}">
                <a16:creationId xmlns:a16="http://schemas.microsoft.com/office/drawing/2014/main" id="{B46448EB-1F76-4138-8E16-F9189851A0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6005" y="1024997"/>
            <a:ext cx="2266950" cy="2019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2C2C2C"/>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Work Done by Friction &amp; Energy</a:t>
            </a:r>
            <a:endParaRPr lang="en-US" sz="3400" dirty="0"/>
          </a:p>
        </p:txBody>
      </p:sp>
      <p:sp>
        <p:nvSpPr>
          <p:cNvPr id="3" name="Shape 1"/>
          <p:cNvSpPr/>
          <p:nvPr/>
        </p:nvSpPr>
        <p:spPr>
          <a:xfrm>
            <a:off x="457200" y="960120"/>
            <a:ext cx="8229600" cy="713232"/>
          </a:xfrm>
          <a:prstGeom prst="rect">
            <a:avLst/>
          </a:prstGeom>
          <a:solidFill>
            <a:srgbClr val="2A2A2A"/>
          </a:solidFill>
          <a:ln w="12700">
            <a:solidFill>
              <a:srgbClr val="444444"/>
            </a:solidFill>
            <a:prstDash val="solid"/>
          </a:ln>
        </p:spPr>
      </p:sp>
      <p:sp>
        <p:nvSpPr>
          <p:cNvPr id="4" name="Shape 2"/>
          <p:cNvSpPr/>
          <p:nvPr/>
        </p:nvSpPr>
        <p:spPr>
          <a:xfrm>
            <a:off x="457200" y="960120"/>
            <a:ext cx="73152" cy="713232"/>
          </a:xfrm>
          <a:prstGeom prst="rect">
            <a:avLst/>
          </a:prstGeom>
          <a:solidFill>
            <a:srgbClr val="B85042"/>
          </a:solidFill>
          <a:ln w="12700">
            <a:solidFill>
              <a:srgbClr val="B85042"/>
            </a:solidFill>
            <a:prstDash val="solid"/>
          </a:ln>
        </p:spPr>
      </p:sp>
      <p:sp>
        <p:nvSpPr>
          <p:cNvPr id="5" name="Text 3"/>
          <p:cNvSpPr/>
          <p:nvPr/>
        </p:nvSpPr>
        <p:spPr>
          <a:xfrm>
            <a:off x="621792" y="987552"/>
            <a:ext cx="7955280" cy="365760"/>
          </a:xfrm>
          <a:prstGeom prst="rect">
            <a:avLst/>
          </a:prstGeom>
          <a:noFill/>
          <a:ln/>
        </p:spPr>
        <p:txBody>
          <a:bodyPr wrap="square" lIns="0" tIns="0" rIns="0" bIns="0" rtlCol="0" anchor="ctr"/>
          <a:lstStyle/>
          <a:p>
            <a:pPr marL="0" indent="0">
              <a:buNone/>
            </a:pPr>
            <a:r>
              <a:rPr lang="en-US" sz="1700" b="1" i="1" dirty="0">
                <a:solidFill>
                  <a:srgbClr val="FFFFFF"/>
                </a:solidFill>
                <a:latin typeface="Cambria" pitchFamily="34" charset="0"/>
                <a:ea typeface="Cambria" pitchFamily="34" charset="-122"/>
                <a:cs typeface="Cambria" pitchFamily="34" charset="-120"/>
              </a:rPr>
              <a:t>W_friction = −fₖ × d = −μₖNd</a:t>
            </a:r>
            <a:endParaRPr lang="en-US" sz="1700" dirty="0"/>
          </a:p>
        </p:txBody>
      </p:sp>
      <p:sp>
        <p:nvSpPr>
          <p:cNvPr id="6" name="Text 4"/>
          <p:cNvSpPr/>
          <p:nvPr/>
        </p:nvSpPr>
        <p:spPr>
          <a:xfrm>
            <a:off x="621792" y="1371600"/>
            <a:ext cx="7955280" cy="256032"/>
          </a:xfrm>
          <a:prstGeom prst="rect">
            <a:avLst/>
          </a:prstGeom>
          <a:noFill/>
          <a:ln/>
        </p:spPr>
        <p:txBody>
          <a:bodyPr wrap="square" lIns="0" tIns="0" rIns="0" bIns="0" rtlCol="0" anchor="ctr"/>
          <a:lstStyle/>
          <a:p>
            <a:pPr marL="0" indent="0">
              <a:buNone/>
            </a:pPr>
            <a:r>
              <a:rPr lang="en-US" sz="1100" dirty="0">
                <a:solidFill>
                  <a:srgbClr val="AAAAAA"/>
                </a:solidFill>
                <a:latin typeface="Calibri" pitchFamily="34" charset="0"/>
                <a:ea typeface="Calibri" pitchFamily="34" charset="-122"/>
                <a:cs typeface="Calibri" pitchFamily="34" charset="-120"/>
              </a:rPr>
              <a:t>Work by kinetic friction (always negative = energy lost)</a:t>
            </a:r>
            <a:endParaRPr lang="en-US" sz="1100" dirty="0"/>
          </a:p>
        </p:txBody>
      </p:sp>
      <p:sp>
        <p:nvSpPr>
          <p:cNvPr id="7" name="Shape 5"/>
          <p:cNvSpPr/>
          <p:nvPr/>
        </p:nvSpPr>
        <p:spPr>
          <a:xfrm>
            <a:off x="457200" y="1828800"/>
            <a:ext cx="8229600" cy="713232"/>
          </a:xfrm>
          <a:prstGeom prst="rect">
            <a:avLst/>
          </a:prstGeom>
          <a:solidFill>
            <a:srgbClr val="2A2A2A"/>
          </a:solidFill>
          <a:ln w="12700">
            <a:solidFill>
              <a:srgbClr val="444444"/>
            </a:solidFill>
            <a:prstDash val="solid"/>
          </a:ln>
        </p:spPr>
      </p:sp>
      <p:sp>
        <p:nvSpPr>
          <p:cNvPr id="8" name="Shape 6"/>
          <p:cNvSpPr/>
          <p:nvPr/>
        </p:nvSpPr>
        <p:spPr>
          <a:xfrm>
            <a:off x="457200" y="1828800"/>
            <a:ext cx="73152" cy="713232"/>
          </a:xfrm>
          <a:prstGeom prst="rect">
            <a:avLst/>
          </a:prstGeom>
          <a:solidFill>
            <a:srgbClr val="C9974C"/>
          </a:solidFill>
          <a:ln w="12700">
            <a:solidFill>
              <a:srgbClr val="C9974C"/>
            </a:solidFill>
            <a:prstDash val="solid"/>
          </a:ln>
        </p:spPr>
      </p:sp>
      <p:sp>
        <p:nvSpPr>
          <p:cNvPr id="9" name="Text 7"/>
          <p:cNvSpPr/>
          <p:nvPr/>
        </p:nvSpPr>
        <p:spPr>
          <a:xfrm>
            <a:off x="621792" y="1856232"/>
            <a:ext cx="7955280" cy="365760"/>
          </a:xfrm>
          <a:prstGeom prst="rect">
            <a:avLst/>
          </a:prstGeom>
          <a:noFill/>
          <a:ln/>
        </p:spPr>
        <p:txBody>
          <a:bodyPr wrap="square" lIns="0" tIns="0" rIns="0" bIns="0" rtlCol="0" anchor="ctr"/>
          <a:lstStyle/>
          <a:p>
            <a:pPr marL="0" indent="0">
              <a:buNone/>
            </a:pPr>
            <a:r>
              <a:rPr lang="en-US" sz="1700" b="1" i="1" dirty="0">
                <a:solidFill>
                  <a:srgbClr val="FFFFFF"/>
                </a:solidFill>
                <a:latin typeface="Cambria" pitchFamily="34" charset="0"/>
                <a:ea typeface="Cambria" pitchFamily="34" charset="-122"/>
                <a:cs typeface="Cambria" pitchFamily="34" charset="-120"/>
              </a:rPr>
              <a:t>ΔKE = W_net  →  ½mv² − ½mv₀² = (F − fₖ)d</a:t>
            </a:r>
            <a:endParaRPr lang="en-US" sz="1700" dirty="0"/>
          </a:p>
        </p:txBody>
      </p:sp>
      <p:sp>
        <p:nvSpPr>
          <p:cNvPr id="10" name="Text 8"/>
          <p:cNvSpPr/>
          <p:nvPr/>
        </p:nvSpPr>
        <p:spPr>
          <a:xfrm>
            <a:off x="621792" y="2240280"/>
            <a:ext cx="7955280" cy="256032"/>
          </a:xfrm>
          <a:prstGeom prst="rect">
            <a:avLst/>
          </a:prstGeom>
          <a:noFill/>
          <a:ln/>
        </p:spPr>
        <p:txBody>
          <a:bodyPr wrap="square" lIns="0" tIns="0" rIns="0" bIns="0" rtlCol="0" anchor="ctr"/>
          <a:lstStyle/>
          <a:p>
            <a:pPr marL="0" indent="0">
              <a:buNone/>
            </a:pPr>
            <a:r>
              <a:rPr lang="en-US" sz="1100" dirty="0">
                <a:solidFill>
                  <a:srgbClr val="AAAAAA"/>
                </a:solidFill>
                <a:latin typeface="Calibri" pitchFamily="34" charset="0"/>
                <a:ea typeface="Calibri" pitchFamily="34" charset="-122"/>
                <a:cs typeface="Calibri" pitchFamily="34" charset="-120"/>
              </a:rPr>
              <a:t>Work-energy theorem including friction</a:t>
            </a:r>
            <a:endParaRPr lang="en-US" sz="1100" dirty="0"/>
          </a:p>
        </p:txBody>
      </p:sp>
      <p:sp>
        <p:nvSpPr>
          <p:cNvPr id="11" name="Shape 9"/>
          <p:cNvSpPr/>
          <p:nvPr/>
        </p:nvSpPr>
        <p:spPr>
          <a:xfrm>
            <a:off x="457200" y="2697480"/>
            <a:ext cx="8229600" cy="713232"/>
          </a:xfrm>
          <a:prstGeom prst="rect">
            <a:avLst/>
          </a:prstGeom>
          <a:solidFill>
            <a:srgbClr val="2A2A2A"/>
          </a:solidFill>
          <a:ln w="12700">
            <a:solidFill>
              <a:srgbClr val="444444"/>
            </a:solidFill>
            <a:prstDash val="solid"/>
          </a:ln>
        </p:spPr>
      </p:sp>
      <p:sp>
        <p:nvSpPr>
          <p:cNvPr id="12" name="Shape 10"/>
          <p:cNvSpPr/>
          <p:nvPr/>
        </p:nvSpPr>
        <p:spPr>
          <a:xfrm>
            <a:off x="457200" y="2697480"/>
            <a:ext cx="73152" cy="713232"/>
          </a:xfrm>
          <a:prstGeom prst="rect">
            <a:avLst/>
          </a:prstGeom>
          <a:solidFill>
            <a:srgbClr val="2A7F7F"/>
          </a:solidFill>
          <a:ln w="12700">
            <a:solidFill>
              <a:srgbClr val="2A7F7F"/>
            </a:solidFill>
            <a:prstDash val="solid"/>
          </a:ln>
        </p:spPr>
      </p:sp>
      <p:sp>
        <p:nvSpPr>
          <p:cNvPr id="13" name="Text 11"/>
          <p:cNvSpPr/>
          <p:nvPr/>
        </p:nvSpPr>
        <p:spPr>
          <a:xfrm>
            <a:off x="621792" y="2724912"/>
            <a:ext cx="7955280" cy="365760"/>
          </a:xfrm>
          <a:prstGeom prst="rect">
            <a:avLst/>
          </a:prstGeom>
          <a:noFill/>
          <a:ln/>
        </p:spPr>
        <p:txBody>
          <a:bodyPr wrap="square" lIns="0" tIns="0" rIns="0" bIns="0" rtlCol="0" anchor="ctr"/>
          <a:lstStyle/>
          <a:p>
            <a:pPr marL="0" indent="0">
              <a:buNone/>
            </a:pPr>
            <a:r>
              <a:rPr lang="en-US" sz="1700" b="1" i="1" dirty="0">
                <a:solidFill>
                  <a:srgbClr val="FFFFFF"/>
                </a:solidFill>
                <a:latin typeface="Cambria" pitchFamily="34" charset="0"/>
                <a:ea typeface="Cambria" pitchFamily="34" charset="-122"/>
                <a:cs typeface="Cambria" pitchFamily="34" charset="-120"/>
              </a:rPr>
              <a:t>ΔE_thermal = fₖ × d  =  μₖNd</a:t>
            </a:r>
            <a:endParaRPr lang="en-US" sz="1700" dirty="0"/>
          </a:p>
        </p:txBody>
      </p:sp>
      <p:sp>
        <p:nvSpPr>
          <p:cNvPr id="14" name="Text 12"/>
          <p:cNvSpPr/>
          <p:nvPr/>
        </p:nvSpPr>
        <p:spPr>
          <a:xfrm>
            <a:off x="621792" y="3108960"/>
            <a:ext cx="7955280" cy="256032"/>
          </a:xfrm>
          <a:prstGeom prst="rect">
            <a:avLst/>
          </a:prstGeom>
          <a:noFill/>
          <a:ln/>
        </p:spPr>
        <p:txBody>
          <a:bodyPr wrap="square" lIns="0" tIns="0" rIns="0" bIns="0" rtlCol="0" anchor="ctr"/>
          <a:lstStyle/>
          <a:p>
            <a:pPr marL="0" indent="0">
              <a:buNone/>
            </a:pPr>
            <a:r>
              <a:rPr lang="en-US" sz="1100" dirty="0">
                <a:solidFill>
                  <a:srgbClr val="AAAAAA"/>
                </a:solidFill>
                <a:latin typeface="Calibri" pitchFamily="34" charset="0"/>
                <a:ea typeface="Calibri" pitchFamily="34" charset="-122"/>
                <a:cs typeface="Calibri" pitchFamily="34" charset="-120"/>
              </a:rPr>
              <a:t>Heat generated (energy dissipated as thermal energy)</a:t>
            </a:r>
            <a:endParaRPr lang="en-US" sz="1100" dirty="0"/>
          </a:p>
        </p:txBody>
      </p:sp>
      <p:sp>
        <p:nvSpPr>
          <p:cNvPr id="15" name="Shape 13"/>
          <p:cNvSpPr/>
          <p:nvPr/>
        </p:nvSpPr>
        <p:spPr>
          <a:xfrm>
            <a:off x="457200" y="3611880"/>
            <a:ext cx="8229600" cy="1417320"/>
          </a:xfrm>
          <a:prstGeom prst="roundRect">
            <a:avLst>
              <a:gd name="adj" fmla="val 6452"/>
            </a:avLst>
          </a:prstGeom>
          <a:solidFill>
            <a:srgbClr val="2A2A2A"/>
          </a:solidFill>
          <a:ln w="19050">
            <a:solidFill>
              <a:srgbClr val="B85042"/>
            </a:solidFill>
            <a:prstDash val="solid"/>
          </a:ln>
        </p:spPr>
      </p:sp>
      <p:sp>
        <p:nvSpPr>
          <p:cNvPr id="16" name="Shape 14"/>
          <p:cNvSpPr/>
          <p:nvPr/>
        </p:nvSpPr>
        <p:spPr>
          <a:xfrm>
            <a:off x="457200" y="3611880"/>
            <a:ext cx="8229600" cy="402336"/>
          </a:xfrm>
          <a:prstGeom prst="roundRect">
            <a:avLst>
              <a:gd name="adj" fmla="val 27273"/>
            </a:avLst>
          </a:prstGeom>
          <a:solidFill>
            <a:srgbClr val="B85042"/>
          </a:solidFill>
          <a:ln w="12700">
            <a:solidFill>
              <a:srgbClr val="B85042"/>
            </a:solidFill>
            <a:prstDash val="solid"/>
          </a:ln>
        </p:spPr>
      </p:sp>
      <p:sp>
        <p:nvSpPr>
          <p:cNvPr id="17" name="Text 15"/>
          <p:cNvSpPr/>
          <p:nvPr/>
        </p:nvSpPr>
        <p:spPr>
          <a:xfrm>
            <a:off x="457200" y="3630168"/>
            <a:ext cx="82296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Worked Example</a:t>
            </a:r>
            <a:endParaRPr lang="en-US" sz="1400" dirty="0"/>
          </a:p>
        </p:txBody>
      </p:sp>
      <p:sp>
        <p:nvSpPr>
          <p:cNvPr id="18" name="Text 16"/>
          <p:cNvSpPr/>
          <p:nvPr/>
        </p:nvSpPr>
        <p:spPr>
          <a:xfrm>
            <a:off x="594360" y="4078224"/>
            <a:ext cx="7955280" cy="896112"/>
          </a:xfrm>
          <a:prstGeom prst="rect">
            <a:avLst/>
          </a:prstGeom>
          <a:noFill/>
          <a:ln/>
        </p:spPr>
        <p:txBody>
          <a:bodyPr wrap="square" lIns="0" tIns="0" rIns="0" bIns="0" rtlCol="0" anchor="ctr"/>
          <a:lstStyle/>
          <a:p>
            <a:pPr marL="0" indent="0">
              <a:buNone/>
            </a:pPr>
            <a:r>
              <a:rPr lang="en-US" sz="1150" dirty="0">
                <a:solidFill>
                  <a:srgbClr val="DDDDDD"/>
                </a:solidFill>
                <a:latin typeface="Calibri" pitchFamily="34" charset="0"/>
                <a:ea typeface="Calibri" pitchFamily="34" charset="-122"/>
                <a:cs typeface="Calibri" pitchFamily="34" charset="-120"/>
              </a:rPr>
              <a:t>A 3 kg block slides 4 m on a surface (μₖ = 0.25, g = 9.8 m/s²) starting at v₀ = 6 m/s. Find final speed.</a:t>
            </a:r>
            <a:endParaRPr lang="en-US" sz="1150" dirty="0"/>
          </a:p>
          <a:p>
            <a:pPr marL="0" indent="0">
              <a:buNone/>
            </a:pPr>
            <a:r>
              <a:rPr lang="en-US" sz="1150" dirty="0">
                <a:solidFill>
                  <a:srgbClr val="DDDDDD"/>
                </a:solidFill>
                <a:latin typeface="Calibri" pitchFamily="34" charset="0"/>
                <a:ea typeface="Calibri" pitchFamily="34" charset="-122"/>
                <a:cs typeface="Calibri" pitchFamily="34" charset="-120"/>
              </a:rPr>
              <a:t>N = 3×9.8 = 29.4 N  |  fₖ = 0.25×29.4 = 7.35 N  |  W_friction = −7.35×4 = −29.4 J</a:t>
            </a:r>
            <a:endParaRPr lang="en-US" sz="1150" dirty="0"/>
          </a:p>
          <a:p>
            <a:pPr marL="0" indent="0">
              <a:buNone/>
            </a:pPr>
            <a:r>
              <a:rPr lang="en-US" sz="1150" dirty="0">
                <a:solidFill>
                  <a:srgbClr val="DDDDDD"/>
                </a:solidFill>
                <a:latin typeface="Calibri" pitchFamily="34" charset="0"/>
                <a:ea typeface="Calibri" pitchFamily="34" charset="-122"/>
                <a:cs typeface="Calibri" pitchFamily="34" charset="-120"/>
              </a:rPr>
              <a:t>½mv₀² = ½×3×36 = 54 J  →  ½mv² = 54 − 29.4 = 24.6 J  →  v = √(2×24.6/3) = √16.4 ≈ 4.05 m/s</a:t>
            </a:r>
            <a:endParaRPr lang="en-US" sz="1150" dirty="0"/>
          </a:p>
        </p:txBody>
      </p:sp>
      <p:sp>
        <p:nvSpPr>
          <p:cNvPr id="19" name="Text 17"/>
          <p:cNvSpPr/>
          <p:nvPr/>
        </p:nvSpPr>
        <p:spPr>
          <a:xfrm>
            <a:off x="457200" y="5120640"/>
            <a:ext cx="8229600" cy="0"/>
          </a:xfrm>
          <a:prstGeom prst="rect">
            <a:avLst/>
          </a:prstGeom>
          <a:noFill/>
          <a:ln/>
        </p:spPr>
        <p:txBody>
          <a:bodyPr wrap="square" lIns="0" tIns="0" rIns="0" bIns="0" rtlCol="0" anchor="ctr"/>
          <a:lstStyle>
            <a:lvl1pPr algn="l"/>
          </a:lstStyle>
          <a:p>
            <a:pPr marL="0" indent="0" algn="ctr">
              <a:buNone/>
            </a:pPr>
            <a:r>
              <a:rPr lang="en-US" sz="1100" i="1" dirty="0">
                <a:solidFill>
                  <a:srgbClr val="777777"/>
                </a:solidFill>
                <a:latin typeface="Calibri" pitchFamily="34" charset="0"/>
                <a:ea typeface="Calibri" pitchFamily="34" charset="-122"/>
                <a:cs typeface="Calibri" pitchFamily="34" charset="-120"/>
              </a:rPr>
              <a:t>Note: Friction always converts kinetic energy → thermal energy. The total energy of the system is conserved (1st Law of Thermodynamics), but mechanical energy decreases.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2C2C2C"/>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Friction in Machines &amp; Engineering</a:t>
            </a:r>
            <a:endParaRPr lang="en-US" sz="3200" dirty="0"/>
          </a:p>
        </p:txBody>
      </p:sp>
      <p:sp>
        <p:nvSpPr>
          <p:cNvPr id="7" name="Shape 3"/>
          <p:cNvSpPr/>
          <p:nvPr/>
        </p:nvSpPr>
        <p:spPr>
          <a:xfrm>
            <a:off x="457200" y="960120"/>
            <a:ext cx="5303520" cy="749808"/>
          </a:xfrm>
          <a:prstGeom prst="rect">
            <a:avLst/>
          </a:prstGeom>
          <a:solidFill>
            <a:srgbClr val="2A2A2A"/>
          </a:solidFill>
          <a:ln w="12700">
            <a:solidFill>
              <a:srgbClr val="404040"/>
            </a:solidFill>
            <a:prstDash val="solid"/>
          </a:ln>
        </p:spPr>
      </p:sp>
      <p:sp>
        <p:nvSpPr>
          <p:cNvPr id="8" name="Shape 4"/>
          <p:cNvSpPr/>
          <p:nvPr/>
        </p:nvSpPr>
        <p:spPr>
          <a:xfrm>
            <a:off x="457200" y="960120"/>
            <a:ext cx="73152" cy="749808"/>
          </a:xfrm>
          <a:prstGeom prst="rect">
            <a:avLst/>
          </a:prstGeom>
          <a:solidFill>
            <a:srgbClr val="B85042"/>
          </a:solidFill>
          <a:ln w="12700">
            <a:solidFill>
              <a:srgbClr val="B85042"/>
            </a:solidFill>
            <a:prstDash val="solid"/>
          </a:ln>
        </p:spPr>
      </p:sp>
      <p:sp>
        <p:nvSpPr>
          <p:cNvPr id="9" name="Text 5"/>
          <p:cNvSpPr/>
          <p:nvPr/>
        </p:nvSpPr>
        <p:spPr>
          <a:xfrm>
            <a:off x="603504" y="1014984"/>
            <a:ext cx="5029200" cy="237744"/>
          </a:xfrm>
          <a:prstGeom prst="rect">
            <a:avLst/>
          </a:prstGeom>
          <a:noFill/>
          <a:ln/>
        </p:spPr>
        <p:txBody>
          <a:bodyPr wrap="square" lIns="0" tIns="0" rIns="0" bIns="0" rtlCol="0" anchor="ctr"/>
          <a:lstStyle/>
          <a:p>
            <a:pPr marL="0" indent="0">
              <a:buNone/>
            </a:pPr>
            <a:r>
              <a:rPr lang="en-US" sz="1250" b="1" dirty="0">
                <a:solidFill>
                  <a:srgbClr val="E7E8D1"/>
                </a:solidFill>
                <a:latin typeface="Georgia" pitchFamily="34" charset="0"/>
                <a:ea typeface="Georgia" pitchFamily="34" charset="-122"/>
                <a:cs typeface="Georgia" pitchFamily="34" charset="-120"/>
              </a:rPr>
              <a:t>Mechanical Efficiency</a:t>
            </a:r>
            <a:endParaRPr lang="en-US" sz="1250" dirty="0"/>
          </a:p>
        </p:txBody>
      </p:sp>
      <p:sp>
        <p:nvSpPr>
          <p:cNvPr id="10" name="Text 6"/>
          <p:cNvSpPr/>
          <p:nvPr/>
        </p:nvSpPr>
        <p:spPr>
          <a:xfrm>
            <a:off x="603504" y="1307592"/>
            <a:ext cx="5029200" cy="365760"/>
          </a:xfrm>
          <a:prstGeom prst="rect">
            <a:avLst/>
          </a:prstGeom>
          <a:noFill/>
          <a:ln/>
        </p:spPr>
        <p:txBody>
          <a:bodyPr wrap="square" lIns="0" tIns="0" rIns="0" bIns="0" rtlCol="0" anchor="ctr"/>
          <a:lstStyle/>
          <a:p>
            <a:pPr marL="0" indent="0">
              <a:buNone/>
            </a:pPr>
            <a:r>
              <a:rPr lang="en-US" sz="1100" dirty="0">
                <a:solidFill>
                  <a:srgbClr val="CCCCCC"/>
                </a:solidFill>
                <a:latin typeface="Calibri" pitchFamily="34" charset="0"/>
                <a:ea typeface="Calibri" pitchFamily="34" charset="-122"/>
                <a:cs typeface="Calibri" pitchFamily="34" charset="-120"/>
              </a:rPr>
              <a:t>Friction reduces machine efficiency. η = W_out/W_in &lt; 1. A gearbox might lose 5–15% power to friction in bearings and gear mesh.</a:t>
            </a:r>
            <a:endParaRPr lang="en-US" sz="1100" dirty="0"/>
          </a:p>
        </p:txBody>
      </p:sp>
      <p:sp>
        <p:nvSpPr>
          <p:cNvPr id="11" name="Shape 7"/>
          <p:cNvSpPr/>
          <p:nvPr/>
        </p:nvSpPr>
        <p:spPr>
          <a:xfrm>
            <a:off x="457200" y="1783080"/>
            <a:ext cx="5303520" cy="749808"/>
          </a:xfrm>
          <a:prstGeom prst="rect">
            <a:avLst/>
          </a:prstGeom>
          <a:solidFill>
            <a:srgbClr val="2A2A2A"/>
          </a:solidFill>
          <a:ln w="12700">
            <a:solidFill>
              <a:srgbClr val="404040"/>
            </a:solidFill>
            <a:prstDash val="solid"/>
          </a:ln>
        </p:spPr>
      </p:sp>
      <p:sp>
        <p:nvSpPr>
          <p:cNvPr id="12" name="Shape 8"/>
          <p:cNvSpPr/>
          <p:nvPr/>
        </p:nvSpPr>
        <p:spPr>
          <a:xfrm>
            <a:off x="457200" y="1783080"/>
            <a:ext cx="73152" cy="749808"/>
          </a:xfrm>
          <a:prstGeom prst="rect">
            <a:avLst/>
          </a:prstGeom>
          <a:solidFill>
            <a:srgbClr val="C9974C"/>
          </a:solidFill>
          <a:ln w="12700">
            <a:solidFill>
              <a:srgbClr val="C9974C"/>
            </a:solidFill>
            <a:prstDash val="solid"/>
          </a:ln>
        </p:spPr>
      </p:sp>
      <p:sp>
        <p:nvSpPr>
          <p:cNvPr id="13" name="Text 9"/>
          <p:cNvSpPr/>
          <p:nvPr/>
        </p:nvSpPr>
        <p:spPr>
          <a:xfrm>
            <a:off x="603504" y="1837944"/>
            <a:ext cx="5029200" cy="237744"/>
          </a:xfrm>
          <a:prstGeom prst="rect">
            <a:avLst/>
          </a:prstGeom>
          <a:noFill/>
          <a:ln/>
        </p:spPr>
        <p:txBody>
          <a:bodyPr wrap="square" lIns="0" tIns="0" rIns="0" bIns="0" rtlCol="0" anchor="ctr"/>
          <a:lstStyle/>
          <a:p>
            <a:pPr marL="0" indent="0">
              <a:buNone/>
            </a:pPr>
            <a:r>
              <a:rPr lang="en-US" sz="1250" b="1" dirty="0">
                <a:solidFill>
                  <a:srgbClr val="E7E8D1"/>
                </a:solidFill>
                <a:latin typeface="Georgia" pitchFamily="34" charset="0"/>
                <a:ea typeface="Georgia" pitchFamily="34" charset="-122"/>
                <a:cs typeface="Georgia" pitchFamily="34" charset="-120"/>
              </a:rPr>
              <a:t>Braking Systems</a:t>
            </a:r>
            <a:endParaRPr lang="en-US" sz="1250" dirty="0"/>
          </a:p>
        </p:txBody>
      </p:sp>
      <p:sp>
        <p:nvSpPr>
          <p:cNvPr id="14" name="Text 10"/>
          <p:cNvSpPr/>
          <p:nvPr/>
        </p:nvSpPr>
        <p:spPr>
          <a:xfrm>
            <a:off x="603504" y="2130552"/>
            <a:ext cx="5029200" cy="365760"/>
          </a:xfrm>
          <a:prstGeom prst="rect">
            <a:avLst/>
          </a:prstGeom>
          <a:noFill/>
          <a:ln/>
        </p:spPr>
        <p:txBody>
          <a:bodyPr wrap="square" lIns="0" tIns="0" rIns="0" bIns="0" rtlCol="0" anchor="ctr"/>
          <a:lstStyle/>
          <a:p>
            <a:pPr marL="0" indent="0">
              <a:buNone/>
            </a:pPr>
            <a:r>
              <a:rPr lang="en-US" sz="1100" dirty="0">
                <a:solidFill>
                  <a:srgbClr val="CCCCCC"/>
                </a:solidFill>
                <a:latin typeface="Calibri" pitchFamily="34" charset="0"/>
                <a:ea typeface="Calibri" pitchFamily="34" charset="-122"/>
                <a:cs typeface="Calibri" pitchFamily="34" charset="-120"/>
              </a:rPr>
              <a:t>Disc and drum brakes use kinetic friction to convert KE → heat. f = μₖN where N is clamping force of brake pads. Large N = powerful braking force.</a:t>
            </a:r>
            <a:endParaRPr lang="en-US" sz="1100" dirty="0"/>
          </a:p>
        </p:txBody>
      </p:sp>
      <p:sp>
        <p:nvSpPr>
          <p:cNvPr id="15" name="Shape 11"/>
          <p:cNvSpPr/>
          <p:nvPr/>
        </p:nvSpPr>
        <p:spPr>
          <a:xfrm>
            <a:off x="457200" y="2606040"/>
            <a:ext cx="5303520" cy="749808"/>
          </a:xfrm>
          <a:prstGeom prst="rect">
            <a:avLst/>
          </a:prstGeom>
          <a:solidFill>
            <a:srgbClr val="2A2A2A"/>
          </a:solidFill>
          <a:ln w="12700">
            <a:solidFill>
              <a:srgbClr val="404040"/>
            </a:solidFill>
            <a:prstDash val="solid"/>
          </a:ln>
        </p:spPr>
      </p:sp>
      <p:sp>
        <p:nvSpPr>
          <p:cNvPr id="16" name="Shape 12"/>
          <p:cNvSpPr/>
          <p:nvPr/>
        </p:nvSpPr>
        <p:spPr>
          <a:xfrm>
            <a:off x="457200" y="2606040"/>
            <a:ext cx="73152" cy="749808"/>
          </a:xfrm>
          <a:prstGeom prst="rect">
            <a:avLst/>
          </a:prstGeom>
          <a:solidFill>
            <a:srgbClr val="2A7F7F"/>
          </a:solidFill>
          <a:ln w="12700">
            <a:solidFill>
              <a:srgbClr val="2A7F7F"/>
            </a:solidFill>
            <a:prstDash val="solid"/>
          </a:ln>
        </p:spPr>
      </p:sp>
      <p:sp>
        <p:nvSpPr>
          <p:cNvPr id="17" name="Text 13"/>
          <p:cNvSpPr/>
          <p:nvPr/>
        </p:nvSpPr>
        <p:spPr>
          <a:xfrm>
            <a:off x="603504" y="2660904"/>
            <a:ext cx="5029200" cy="237744"/>
          </a:xfrm>
          <a:prstGeom prst="rect">
            <a:avLst/>
          </a:prstGeom>
          <a:noFill/>
          <a:ln/>
        </p:spPr>
        <p:txBody>
          <a:bodyPr wrap="square" lIns="0" tIns="0" rIns="0" bIns="0" rtlCol="0" anchor="ctr"/>
          <a:lstStyle/>
          <a:p>
            <a:pPr marL="0" indent="0">
              <a:buNone/>
            </a:pPr>
            <a:r>
              <a:rPr lang="en-US" sz="1250" b="1" dirty="0">
                <a:solidFill>
                  <a:srgbClr val="E7E8D1"/>
                </a:solidFill>
                <a:latin typeface="Georgia" pitchFamily="34" charset="0"/>
                <a:ea typeface="Georgia" pitchFamily="34" charset="-122"/>
                <a:cs typeface="Georgia" pitchFamily="34" charset="-120"/>
              </a:rPr>
              <a:t>Belt &amp; Rope Friction (Capstan)</a:t>
            </a:r>
            <a:endParaRPr lang="en-US" sz="1250" dirty="0"/>
          </a:p>
        </p:txBody>
      </p:sp>
      <p:sp>
        <p:nvSpPr>
          <p:cNvPr id="18" name="Text 14"/>
          <p:cNvSpPr/>
          <p:nvPr/>
        </p:nvSpPr>
        <p:spPr>
          <a:xfrm>
            <a:off x="603504" y="2953512"/>
            <a:ext cx="5029200" cy="365760"/>
          </a:xfrm>
          <a:prstGeom prst="rect">
            <a:avLst/>
          </a:prstGeom>
          <a:noFill/>
          <a:ln/>
        </p:spPr>
        <p:txBody>
          <a:bodyPr wrap="square" lIns="0" tIns="0" rIns="0" bIns="0" rtlCol="0" anchor="ctr"/>
          <a:lstStyle/>
          <a:p>
            <a:pPr marL="0" indent="0">
              <a:buNone/>
            </a:pPr>
            <a:r>
              <a:rPr lang="en-US" sz="1100" dirty="0">
                <a:solidFill>
                  <a:srgbClr val="CCCCCC"/>
                </a:solidFill>
                <a:latin typeface="Calibri" pitchFamily="34" charset="0"/>
                <a:ea typeface="Calibri" pitchFamily="34" charset="-122"/>
                <a:cs typeface="Calibri" pitchFamily="34" charset="-120"/>
              </a:rPr>
              <a:t>Capstan equation: T₂/T₁ = e^(μθ)</a:t>
            </a:r>
            <a:endParaRPr lang="en-US" sz="1100" dirty="0"/>
          </a:p>
          <a:p>
            <a:pPr marL="0" indent="0">
              <a:buNone/>
            </a:pPr>
            <a:r>
              <a:rPr lang="en-US" sz="1100" dirty="0">
                <a:solidFill>
                  <a:srgbClr val="CCCCCC"/>
                </a:solidFill>
                <a:latin typeface="Calibri" pitchFamily="34" charset="0"/>
                <a:ea typeface="Calibri" pitchFamily="34" charset="-122"/>
                <a:cs typeface="Calibri" pitchFamily="34" charset="-120"/>
              </a:rPr>
              <a:t>where θ = angle of wrap (radians). One wrap (2π): T₂/T₁ = e^(2πμ) ≈ 7–100×. Basis of winches, belts, and rope systems.</a:t>
            </a:r>
            <a:endParaRPr lang="en-US" sz="1100" dirty="0"/>
          </a:p>
        </p:txBody>
      </p:sp>
      <p:sp>
        <p:nvSpPr>
          <p:cNvPr id="19" name="Shape 15"/>
          <p:cNvSpPr/>
          <p:nvPr/>
        </p:nvSpPr>
        <p:spPr>
          <a:xfrm>
            <a:off x="457200" y="3429000"/>
            <a:ext cx="5303520" cy="749808"/>
          </a:xfrm>
          <a:prstGeom prst="rect">
            <a:avLst/>
          </a:prstGeom>
          <a:solidFill>
            <a:srgbClr val="2A2A2A"/>
          </a:solidFill>
          <a:ln w="12700">
            <a:solidFill>
              <a:srgbClr val="404040"/>
            </a:solidFill>
            <a:prstDash val="solid"/>
          </a:ln>
        </p:spPr>
      </p:sp>
      <p:sp>
        <p:nvSpPr>
          <p:cNvPr id="20" name="Shape 16"/>
          <p:cNvSpPr/>
          <p:nvPr/>
        </p:nvSpPr>
        <p:spPr>
          <a:xfrm>
            <a:off x="457200" y="3429000"/>
            <a:ext cx="73152" cy="749808"/>
          </a:xfrm>
          <a:prstGeom prst="rect">
            <a:avLst/>
          </a:prstGeom>
          <a:solidFill>
            <a:srgbClr val="A7BEAE"/>
          </a:solidFill>
          <a:ln w="12700">
            <a:solidFill>
              <a:srgbClr val="A7BEAE"/>
            </a:solidFill>
            <a:prstDash val="solid"/>
          </a:ln>
        </p:spPr>
      </p:sp>
      <p:sp>
        <p:nvSpPr>
          <p:cNvPr id="21" name="Text 17"/>
          <p:cNvSpPr/>
          <p:nvPr/>
        </p:nvSpPr>
        <p:spPr>
          <a:xfrm>
            <a:off x="603504" y="3483864"/>
            <a:ext cx="5029200" cy="237744"/>
          </a:xfrm>
          <a:prstGeom prst="rect">
            <a:avLst/>
          </a:prstGeom>
          <a:noFill/>
          <a:ln/>
        </p:spPr>
        <p:txBody>
          <a:bodyPr wrap="square" lIns="0" tIns="0" rIns="0" bIns="0" rtlCol="0" anchor="ctr"/>
          <a:lstStyle/>
          <a:p>
            <a:pPr marL="0" indent="0">
              <a:buNone/>
            </a:pPr>
            <a:r>
              <a:rPr lang="en-US" sz="1250" b="1" dirty="0">
                <a:solidFill>
                  <a:srgbClr val="E7E8D1"/>
                </a:solidFill>
                <a:latin typeface="Georgia" pitchFamily="34" charset="0"/>
                <a:ea typeface="Georgia" pitchFamily="34" charset="-122"/>
                <a:cs typeface="Georgia" pitchFamily="34" charset="-120"/>
              </a:rPr>
              <a:t>Screw Threads</a:t>
            </a:r>
            <a:endParaRPr lang="en-US" sz="1250" dirty="0"/>
          </a:p>
        </p:txBody>
      </p:sp>
      <p:sp>
        <p:nvSpPr>
          <p:cNvPr id="22" name="Text 18"/>
          <p:cNvSpPr/>
          <p:nvPr/>
        </p:nvSpPr>
        <p:spPr>
          <a:xfrm>
            <a:off x="603504" y="3776472"/>
            <a:ext cx="5029200" cy="365760"/>
          </a:xfrm>
          <a:prstGeom prst="rect">
            <a:avLst/>
          </a:prstGeom>
          <a:noFill/>
          <a:ln/>
        </p:spPr>
        <p:txBody>
          <a:bodyPr wrap="square" lIns="0" tIns="0" rIns="0" bIns="0" rtlCol="0" anchor="ctr"/>
          <a:lstStyle/>
          <a:p>
            <a:pPr marL="0" indent="0">
              <a:buNone/>
            </a:pPr>
            <a:r>
              <a:rPr lang="en-US" sz="1100" dirty="0">
                <a:solidFill>
                  <a:srgbClr val="CCCCCC"/>
                </a:solidFill>
                <a:latin typeface="Calibri" pitchFamily="34" charset="0"/>
                <a:ea typeface="Calibri" pitchFamily="34" charset="-122"/>
                <a:cs typeface="Calibri" pitchFamily="34" charset="-120"/>
              </a:rPr>
              <a:t>Screws use friction to stay in place (self-locking if lead angle &lt; angle of friction). Acme thread efficiency η = tan(λ)/tan(λ+φ).</a:t>
            </a:r>
            <a:endParaRPr lang="en-US" sz="1100" dirty="0"/>
          </a:p>
        </p:txBody>
      </p:sp>
      <p:sp>
        <p:nvSpPr>
          <p:cNvPr id="23" name="Shape 19"/>
          <p:cNvSpPr/>
          <p:nvPr/>
        </p:nvSpPr>
        <p:spPr>
          <a:xfrm>
            <a:off x="457200" y="4251960"/>
            <a:ext cx="5303520" cy="749808"/>
          </a:xfrm>
          <a:prstGeom prst="rect">
            <a:avLst/>
          </a:prstGeom>
          <a:solidFill>
            <a:srgbClr val="2A2A2A"/>
          </a:solidFill>
          <a:ln w="12700">
            <a:solidFill>
              <a:srgbClr val="404040"/>
            </a:solidFill>
            <a:prstDash val="solid"/>
          </a:ln>
        </p:spPr>
      </p:sp>
      <p:sp>
        <p:nvSpPr>
          <p:cNvPr id="24" name="Shape 20"/>
          <p:cNvSpPr/>
          <p:nvPr/>
        </p:nvSpPr>
        <p:spPr>
          <a:xfrm>
            <a:off x="457200" y="4251960"/>
            <a:ext cx="73152" cy="749808"/>
          </a:xfrm>
          <a:prstGeom prst="rect">
            <a:avLst/>
          </a:prstGeom>
          <a:solidFill>
            <a:srgbClr val="1E3A5F"/>
          </a:solidFill>
          <a:ln w="12700">
            <a:solidFill>
              <a:srgbClr val="1E3A5F"/>
            </a:solidFill>
            <a:prstDash val="solid"/>
          </a:ln>
        </p:spPr>
      </p:sp>
      <p:sp>
        <p:nvSpPr>
          <p:cNvPr id="25" name="Text 21"/>
          <p:cNvSpPr/>
          <p:nvPr/>
        </p:nvSpPr>
        <p:spPr>
          <a:xfrm>
            <a:off x="603504" y="4306824"/>
            <a:ext cx="5029200" cy="237744"/>
          </a:xfrm>
          <a:prstGeom prst="rect">
            <a:avLst/>
          </a:prstGeom>
          <a:noFill/>
          <a:ln/>
        </p:spPr>
        <p:txBody>
          <a:bodyPr wrap="square" lIns="0" tIns="0" rIns="0" bIns="0" rtlCol="0" anchor="ctr"/>
          <a:lstStyle/>
          <a:p>
            <a:pPr marL="0" indent="0">
              <a:buNone/>
            </a:pPr>
            <a:r>
              <a:rPr lang="en-US" sz="1250" b="1" dirty="0">
                <a:solidFill>
                  <a:srgbClr val="E7E8D1"/>
                </a:solidFill>
                <a:latin typeface="Georgia" pitchFamily="34" charset="0"/>
                <a:ea typeface="Georgia" pitchFamily="34" charset="-122"/>
                <a:cs typeface="Georgia" pitchFamily="34" charset="-120"/>
              </a:rPr>
              <a:t>Clutches &amp; Transmissions</a:t>
            </a:r>
            <a:endParaRPr lang="en-US" sz="1250" dirty="0"/>
          </a:p>
        </p:txBody>
      </p:sp>
      <p:sp>
        <p:nvSpPr>
          <p:cNvPr id="26" name="Text 22"/>
          <p:cNvSpPr/>
          <p:nvPr/>
        </p:nvSpPr>
        <p:spPr>
          <a:xfrm>
            <a:off x="603504" y="4599432"/>
            <a:ext cx="5029200" cy="365760"/>
          </a:xfrm>
          <a:prstGeom prst="rect">
            <a:avLst/>
          </a:prstGeom>
          <a:noFill/>
          <a:ln/>
        </p:spPr>
        <p:txBody>
          <a:bodyPr wrap="square" lIns="0" tIns="0" rIns="0" bIns="0" rtlCol="0" anchor="ctr"/>
          <a:lstStyle/>
          <a:p>
            <a:pPr marL="0" indent="0">
              <a:buNone/>
            </a:pPr>
            <a:r>
              <a:rPr lang="en-US" sz="1100" dirty="0">
                <a:solidFill>
                  <a:srgbClr val="CCCCCC"/>
                </a:solidFill>
                <a:latin typeface="Calibri" pitchFamily="34" charset="0"/>
                <a:ea typeface="Calibri" pitchFamily="34" charset="-122"/>
                <a:cs typeface="Calibri" pitchFamily="34" charset="-120"/>
              </a:rPr>
              <a:t>Friction clutches transmit torque via friction discs. T = μFr where F = clamping force, r = mean radius. Multiple disc clutches stack torque capacity.</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2C2C2C"/>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B85042"/>
          </a:solidFill>
          <a:ln w="12700">
            <a:solidFill>
              <a:srgbClr val="B85042"/>
            </a:solidFill>
            <a:prstDash val="solid"/>
          </a:ln>
        </p:spPr>
      </p:sp>
      <p:sp>
        <p:nvSpPr>
          <p:cNvPr id="3" name="Shape 1"/>
          <p:cNvSpPr/>
          <p:nvPr/>
        </p:nvSpPr>
        <p:spPr>
          <a:xfrm>
            <a:off x="6400800" y="-914400"/>
            <a:ext cx="4114800" cy="4114800"/>
          </a:xfrm>
          <a:prstGeom prst="ellipse">
            <a:avLst/>
          </a:prstGeom>
          <a:solidFill>
            <a:srgbClr val="B85042">
              <a:alpha val="10000"/>
            </a:srgbClr>
          </a:solidFill>
          <a:ln w="25400">
            <a:solidFill>
              <a:srgbClr val="B85042">
                <a:alpha val="22000"/>
              </a:srgbClr>
            </a:solidFill>
            <a:prstDash val="solid"/>
          </a:ln>
        </p:spPr>
      </p:sp>
      <p:sp>
        <p:nvSpPr>
          <p:cNvPr id="4" name="Shape 2"/>
          <p:cNvSpPr/>
          <p:nvPr/>
        </p:nvSpPr>
        <p:spPr>
          <a:xfrm>
            <a:off x="-914400" y="3657600"/>
            <a:ext cx="2743200" cy="2743200"/>
          </a:xfrm>
          <a:prstGeom prst="ellipse">
            <a:avLst/>
          </a:prstGeom>
          <a:solidFill>
            <a:srgbClr val="C9974C">
              <a:alpha val="8000"/>
            </a:srgbClr>
          </a:solidFill>
          <a:ln w="12700">
            <a:solidFill>
              <a:srgbClr val="C9974C">
                <a:alpha val="18000"/>
              </a:srgbClr>
            </a:solidFill>
            <a:prstDash val="solid"/>
          </a:ln>
        </p:spPr>
      </p:sp>
      <p:sp>
        <p:nvSpPr>
          <p:cNvPr id="5" name="Text 3"/>
          <p:cNvSpPr/>
          <p:nvPr/>
        </p:nvSpPr>
        <p:spPr>
          <a:xfrm>
            <a:off x="685800" y="164592"/>
            <a:ext cx="8046720" cy="658368"/>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Summary &amp; Key Formulas</a:t>
            </a:r>
            <a:endParaRPr lang="en-US" sz="3600" dirty="0"/>
          </a:p>
        </p:txBody>
      </p:sp>
      <p:sp>
        <p:nvSpPr>
          <p:cNvPr id="6" name="Shape 4"/>
          <p:cNvSpPr/>
          <p:nvPr/>
        </p:nvSpPr>
        <p:spPr>
          <a:xfrm>
            <a:off x="685800" y="960120"/>
            <a:ext cx="2697480" cy="914400"/>
          </a:xfrm>
          <a:prstGeom prst="roundRect">
            <a:avLst>
              <a:gd name="adj" fmla="val 10000"/>
            </a:avLst>
          </a:prstGeom>
          <a:solidFill>
            <a:srgbClr val="2A2A2A"/>
          </a:solidFill>
          <a:ln w="12700">
            <a:solidFill>
              <a:srgbClr val="444444"/>
            </a:solidFill>
            <a:prstDash val="solid"/>
          </a:ln>
        </p:spPr>
      </p:sp>
      <p:sp>
        <p:nvSpPr>
          <p:cNvPr id="7" name="Shape 5"/>
          <p:cNvSpPr/>
          <p:nvPr/>
        </p:nvSpPr>
        <p:spPr>
          <a:xfrm>
            <a:off x="685800" y="960120"/>
            <a:ext cx="2697480" cy="329184"/>
          </a:xfrm>
          <a:prstGeom prst="roundRect">
            <a:avLst>
              <a:gd name="adj" fmla="val 27778"/>
            </a:avLst>
          </a:prstGeom>
          <a:solidFill>
            <a:srgbClr val="B85042"/>
          </a:solidFill>
          <a:ln w="12700">
            <a:solidFill>
              <a:srgbClr val="B85042"/>
            </a:solidFill>
            <a:prstDash val="solid"/>
          </a:ln>
        </p:spPr>
      </p:sp>
      <p:sp>
        <p:nvSpPr>
          <p:cNvPr id="8" name="Shape 6"/>
          <p:cNvSpPr/>
          <p:nvPr/>
        </p:nvSpPr>
        <p:spPr>
          <a:xfrm>
            <a:off x="685800" y="1161288"/>
            <a:ext cx="2697480" cy="128016"/>
          </a:xfrm>
          <a:prstGeom prst="rect">
            <a:avLst/>
          </a:prstGeom>
          <a:solidFill>
            <a:srgbClr val="B85042"/>
          </a:solidFill>
          <a:ln w="12700">
            <a:solidFill>
              <a:srgbClr val="B85042"/>
            </a:solidFill>
            <a:prstDash val="solid"/>
          </a:ln>
        </p:spPr>
      </p:sp>
      <p:sp>
        <p:nvSpPr>
          <p:cNvPr id="9" name="Text 7"/>
          <p:cNvSpPr/>
          <p:nvPr/>
        </p:nvSpPr>
        <p:spPr>
          <a:xfrm>
            <a:off x="758952" y="978408"/>
            <a:ext cx="2551176"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Static Friction</a:t>
            </a:r>
            <a:endParaRPr lang="en-US" sz="1050" dirty="0"/>
          </a:p>
        </p:txBody>
      </p:sp>
      <p:sp>
        <p:nvSpPr>
          <p:cNvPr id="10" name="Text 8"/>
          <p:cNvSpPr/>
          <p:nvPr/>
        </p:nvSpPr>
        <p:spPr>
          <a:xfrm>
            <a:off x="758952" y="1362456"/>
            <a:ext cx="2551176" cy="438912"/>
          </a:xfrm>
          <a:prstGeom prst="rect">
            <a:avLst/>
          </a:prstGeom>
          <a:noFill/>
          <a:ln/>
        </p:spPr>
        <p:txBody>
          <a:bodyPr wrap="square" lIns="0" tIns="0" rIns="0" bIns="0" rtlCol="0" anchor="ctr"/>
          <a:lstStyle/>
          <a:p>
            <a:pPr marL="0" indent="0" algn="ctr">
              <a:buNone/>
            </a:pPr>
            <a:r>
              <a:rPr lang="en-US" sz="1600" b="1" i="1" dirty="0">
                <a:solidFill>
                  <a:srgbClr val="FFFFFF"/>
                </a:solidFill>
                <a:latin typeface="Cambria" pitchFamily="34" charset="0"/>
                <a:ea typeface="Cambria" pitchFamily="34" charset="-122"/>
                <a:cs typeface="Cambria" pitchFamily="34" charset="-120"/>
              </a:rPr>
              <a:t>fₛ ≤ μₛN</a:t>
            </a:r>
            <a:endParaRPr lang="en-US" sz="1600" dirty="0"/>
          </a:p>
        </p:txBody>
      </p:sp>
      <p:sp>
        <p:nvSpPr>
          <p:cNvPr id="11" name="Shape 9"/>
          <p:cNvSpPr/>
          <p:nvPr/>
        </p:nvSpPr>
        <p:spPr>
          <a:xfrm>
            <a:off x="3502152" y="960120"/>
            <a:ext cx="2697480" cy="914400"/>
          </a:xfrm>
          <a:prstGeom prst="roundRect">
            <a:avLst>
              <a:gd name="adj" fmla="val 10000"/>
            </a:avLst>
          </a:prstGeom>
          <a:solidFill>
            <a:srgbClr val="2A2A2A"/>
          </a:solidFill>
          <a:ln w="12700">
            <a:solidFill>
              <a:srgbClr val="444444"/>
            </a:solidFill>
            <a:prstDash val="solid"/>
          </a:ln>
        </p:spPr>
      </p:sp>
      <p:sp>
        <p:nvSpPr>
          <p:cNvPr id="12" name="Shape 10"/>
          <p:cNvSpPr/>
          <p:nvPr/>
        </p:nvSpPr>
        <p:spPr>
          <a:xfrm>
            <a:off x="3502152" y="960120"/>
            <a:ext cx="2697480" cy="329184"/>
          </a:xfrm>
          <a:prstGeom prst="roundRect">
            <a:avLst>
              <a:gd name="adj" fmla="val 27778"/>
            </a:avLst>
          </a:prstGeom>
          <a:solidFill>
            <a:srgbClr val="C9974C"/>
          </a:solidFill>
          <a:ln w="12700">
            <a:solidFill>
              <a:srgbClr val="C9974C"/>
            </a:solidFill>
            <a:prstDash val="solid"/>
          </a:ln>
        </p:spPr>
      </p:sp>
      <p:sp>
        <p:nvSpPr>
          <p:cNvPr id="13" name="Shape 11"/>
          <p:cNvSpPr/>
          <p:nvPr/>
        </p:nvSpPr>
        <p:spPr>
          <a:xfrm>
            <a:off x="3502152" y="1161288"/>
            <a:ext cx="2697480" cy="128016"/>
          </a:xfrm>
          <a:prstGeom prst="rect">
            <a:avLst/>
          </a:prstGeom>
          <a:solidFill>
            <a:srgbClr val="C9974C"/>
          </a:solidFill>
          <a:ln w="12700">
            <a:solidFill>
              <a:srgbClr val="C9974C"/>
            </a:solidFill>
            <a:prstDash val="solid"/>
          </a:ln>
        </p:spPr>
      </p:sp>
      <p:sp>
        <p:nvSpPr>
          <p:cNvPr id="14" name="Text 12"/>
          <p:cNvSpPr/>
          <p:nvPr/>
        </p:nvSpPr>
        <p:spPr>
          <a:xfrm>
            <a:off x="3575304" y="978408"/>
            <a:ext cx="2551176"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Kinetic Friction</a:t>
            </a:r>
            <a:endParaRPr lang="en-US" sz="1050" dirty="0"/>
          </a:p>
        </p:txBody>
      </p:sp>
      <p:sp>
        <p:nvSpPr>
          <p:cNvPr id="15" name="Text 13"/>
          <p:cNvSpPr/>
          <p:nvPr/>
        </p:nvSpPr>
        <p:spPr>
          <a:xfrm>
            <a:off x="3575304" y="1362456"/>
            <a:ext cx="2551176" cy="438912"/>
          </a:xfrm>
          <a:prstGeom prst="rect">
            <a:avLst/>
          </a:prstGeom>
          <a:noFill/>
          <a:ln/>
        </p:spPr>
        <p:txBody>
          <a:bodyPr wrap="square" lIns="0" tIns="0" rIns="0" bIns="0" rtlCol="0" anchor="ctr"/>
          <a:lstStyle/>
          <a:p>
            <a:pPr marL="0" indent="0" algn="ctr">
              <a:buNone/>
            </a:pPr>
            <a:r>
              <a:rPr lang="en-US" sz="1600" b="1" i="1" dirty="0">
                <a:solidFill>
                  <a:srgbClr val="FFFFFF"/>
                </a:solidFill>
                <a:latin typeface="Cambria" pitchFamily="34" charset="0"/>
                <a:ea typeface="Cambria" pitchFamily="34" charset="-122"/>
                <a:cs typeface="Cambria" pitchFamily="34" charset="-120"/>
              </a:rPr>
              <a:t>fₖ = μₖN</a:t>
            </a:r>
            <a:endParaRPr lang="en-US" sz="1600" dirty="0"/>
          </a:p>
        </p:txBody>
      </p:sp>
      <p:sp>
        <p:nvSpPr>
          <p:cNvPr id="16" name="Shape 14"/>
          <p:cNvSpPr/>
          <p:nvPr/>
        </p:nvSpPr>
        <p:spPr>
          <a:xfrm>
            <a:off x="6318504" y="960120"/>
            <a:ext cx="2697480" cy="914400"/>
          </a:xfrm>
          <a:prstGeom prst="roundRect">
            <a:avLst>
              <a:gd name="adj" fmla="val 10000"/>
            </a:avLst>
          </a:prstGeom>
          <a:solidFill>
            <a:srgbClr val="2A2A2A"/>
          </a:solidFill>
          <a:ln w="12700">
            <a:solidFill>
              <a:srgbClr val="444444"/>
            </a:solidFill>
            <a:prstDash val="solid"/>
          </a:ln>
        </p:spPr>
      </p:sp>
      <p:sp>
        <p:nvSpPr>
          <p:cNvPr id="17" name="Shape 15"/>
          <p:cNvSpPr/>
          <p:nvPr/>
        </p:nvSpPr>
        <p:spPr>
          <a:xfrm>
            <a:off x="6318504" y="960120"/>
            <a:ext cx="2697480" cy="329184"/>
          </a:xfrm>
          <a:prstGeom prst="roundRect">
            <a:avLst>
              <a:gd name="adj" fmla="val 27778"/>
            </a:avLst>
          </a:prstGeom>
          <a:solidFill>
            <a:srgbClr val="2A7F7F"/>
          </a:solidFill>
          <a:ln w="12700">
            <a:solidFill>
              <a:srgbClr val="2A7F7F"/>
            </a:solidFill>
            <a:prstDash val="solid"/>
          </a:ln>
        </p:spPr>
      </p:sp>
      <p:sp>
        <p:nvSpPr>
          <p:cNvPr id="18" name="Shape 16"/>
          <p:cNvSpPr/>
          <p:nvPr/>
        </p:nvSpPr>
        <p:spPr>
          <a:xfrm>
            <a:off x="6318504" y="1161288"/>
            <a:ext cx="2697480" cy="128016"/>
          </a:xfrm>
          <a:prstGeom prst="rect">
            <a:avLst/>
          </a:prstGeom>
          <a:solidFill>
            <a:srgbClr val="2A7F7F"/>
          </a:solidFill>
          <a:ln w="12700">
            <a:solidFill>
              <a:srgbClr val="2A7F7F"/>
            </a:solidFill>
            <a:prstDash val="solid"/>
          </a:ln>
        </p:spPr>
      </p:sp>
      <p:sp>
        <p:nvSpPr>
          <p:cNvPr id="19" name="Text 17"/>
          <p:cNvSpPr/>
          <p:nvPr/>
        </p:nvSpPr>
        <p:spPr>
          <a:xfrm>
            <a:off x="6391656" y="978408"/>
            <a:ext cx="2551176"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Rolling Friction</a:t>
            </a:r>
            <a:endParaRPr lang="en-US" sz="1050" dirty="0"/>
          </a:p>
        </p:txBody>
      </p:sp>
      <p:sp>
        <p:nvSpPr>
          <p:cNvPr id="20" name="Text 18"/>
          <p:cNvSpPr/>
          <p:nvPr/>
        </p:nvSpPr>
        <p:spPr>
          <a:xfrm>
            <a:off x="6391656" y="1362456"/>
            <a:ext cx="2551176" cy="438912"/>
          </a:xfrm>
          <a:prstGeom prst="rect">
            <a:avLst/>
          </a:prstGeom>
          <a:noFill/>
          <a:ln/>
        </p:spPr>
        <p:txBody>
          <a:bodyPr wrap="square" lIns="0" tIns="0" rIns="0" bIns="0" rtlCol="0" anchor="ctr"/>
          <a:lstStyle/>
          <a:p>
            <a:pPr marL="0" indent="0" algn="ctr">
              <a:buNone/>
            </a:pPr>
            <a:r>
              <a:rPr lang="en-US" sz="1600" b="1" i="1" dirty="0">
                <a:solidFill>
                  <a:srgbClr val="FFFFFF"/>
                </a:solidFill>
                <a:latin typeface="Cambria" pitchFamily="34" charset="0"/>
                <a:ea typeface="Cambria" pitchFamily="34" charset="-122"/>
                <a:cs typeface="Cambria" pitchFamily="34" charset="-120"/>
              </a:rPr>
              <a:t>fᵣ = μᵣN</a:t>
            </a:r>
            <a:endParaRPr lang="en-US" sz="1600" dirty="0"/>
          </a:p>
        </p:txBody>
      </p:sp>
      <p:sp>
        <p:nvSpPr>
          <p:cNvPr id="21" name="Shape 19"/>
          <p:cNvSpPr/>
          <p:nvPr/>
        </p:nvSpPr>
        <p:spPr>
          <a:xfrm>
            <a:off x="685800" y="1965960"/>
            <a:ext cx="2697480" cy="914400"/>
          </a:xfrm>
          <a:prstGeom prst="roundRect">
            <a:avLst>
              <a:gd name="adj" fmla="val 10000"/>
            </a:avLst>
          </a:prstGeom>
          <a:solidFill>
            <a:srgbClr val="2A2A2A"/>
          </a:solidFill>
          <a:ln w="12700">
            <a:solidFill>
              <a:srgbClr val="444444"/>
            </a:solidFill>
            <a:prstDash val="solid"/>
          </a:ln>
        </p:spPr>
      </p:sp>
      <p:sp>
        <p:nvSpPr>
          <p:cNvPr id="22" name="Shape 20"/>
          <p:cNvSpPr/>
          <p:nvPr/>
        </p:nvSpPr>
        <p:spPr>
          <a:xfrm>
            <a:off x="685800" y="1965960"/>
            <a:ext cx="2697480" cy="329184"/>
          </a:xfrm>
          <a:prstGeom prst="roundRect">
            <a:avLst>
              <a:gd name="adj" fmla="val 27778"/>
            </a:avLst>
          </a:prstGeom>
          <a:solidFill>
            <a:srgbClr val="A7BEAE"/>
          </a:solidFill>
          <a:ln w="12700">
            <a:solidFill>
              <a:srgbClr val="A7BEAE"/>
            </a:solidFill>
            <a:prstDash val="solid"/>
          </a:ln>
        </p:spPr>
      </p:sp>
      <p:sp>
        <p:nvSpPr>
          <p:cNvPr id="23" name="Shape 21"/>
          <p:cNvSpPr/>
          <p:nvPr/>
        </p:nvSpPr>
        <p:spPr>
          <a:xfrm>
            <a:off x="685800" y="2167128"/>
            <a:ext cx="2697480" cy="128016"/>
          </a:xfrm>
          <a:prstGeom prst="rect">
            <a:avLst/>
          </a:prstGeom>
          <a:solidFill>
            <a:srgbClr val="A7BEAE"/>
          </a:solidFill>
          <a:ln w="12700">
            <a:solidFill>
              <a:srgbClr val="A7BEAE"/>
            </a:solidFill>
            <a:prstDash val="solid"/>
          </a:ln>
        </p:spPr>
      </p:sp>
      <p:sp>
        <p:nvSpPr>
          <p:cNvPr id="24" name="Text 22"/>
          <p:cNvSpPr/>
          <p:nvPr/>
        </p:nvSpPr>
        <p:spPr>
          <a:xfrm>
            <a:off x="758952" y="1984248"/>
            <a:ext cx="2551176"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Fluid Drag (Stokes)</a:t>
            </a:r>
            <a:endParaRPr lang="en-US" sz="1050" dirty="0"/>
          </a:p>
        </p:txBody>
      </p:sp>
      <p:sp>
        <p:nvSpPr>
          <p:cNvPr id="25" name="Text 23"/>
          <p:cNvSpPr/>
          <p:nvPr/>
        </p:nvSpPr>
        <p:spPr>
          <a:xfrm>
            <a:off x="758952" y="2368296"/>
            <a:ext cx="2551176" cy="438912"/>
          </a:xfrm>
          <a:prstGeom prst="rect">
            <a:avLst/>
          </a:prstGeom>
          <a:noFill/>
          <a:ln/>
        </p:spPr>
        <p:txBody>
          <a:bodyPr wrap="square" lIns="0" tIns="0" rIns="0" bIns="0" rtlCol="0" anchor="ctr"/>
          <a:lstStyle/>
          <a:p>
            <a:pPr marL="0" indent="0" algn="ctr">
              <a:buNone/>
            </a:pPr>
            <a:r>
              <a:rPr lang="en-US" sz="1600" b="1" i="1" dirty="0">
                <a:solidFill>
                  <a:srgbClr val="FFFFFF"/>
                </a:solidFill>
                <a:latin typeface="Cambria" pitchFamily="34" charset="0"/>
                <a:ea typeface="Cambria" pitchFamily="34" charset="-122"/>
                <a:cs typeface="Cambria" pitchFamily="34" charset="-120"/>
              </a:rPr>
              <a:t>Fd = 6πηrv</a:t>
            </a:r>
            <a:endParaRPr lang="en-US" sz="1600" dirty="0"/>
          </a:p>
        </p:txBody>
      </p:sp>
      <p:sp>
        <p:nvSpPr>
          <p:cNvPr id="26" name="Shape 24"/>
          <p:cNvSpPr/>
          <p:nvPr/>
        </p:nvSpPr>
        <p:spPr>
          <a:xfrm>
            <a:off x="3502152" y="1965960"/>
            <a:ext cx="2697480" cy="914400"/>
          </a:xfrm>
          <a:prstGeom prst="roundRect">
            <a:avLst>
              <a:gd name="adj" fmla="val 10000"/>
            </a:avLst>
          </a:prstGeom>
          <a:solidFill>
            <a:srgbClr val="2A2A2A"/>
          </a:solidFill>
          <a:ln w="12700">
            <a:solidFill>
              <a:srgbClr val="444444"/>
            </a:solidFill>
            <a:prstDash val="solid"/>
          </a:ln>
        </p:spPr>
      </p:sp>
      <p:sp>
        <p:nvSpPr>
          <p:cNvPr id="27" name="Shape 25"/>
          <p:cNvSpPr/>
          <p:nvPr/>
        </p:nvSpPr>
        <p:spPr>
          <a:xfrm>
            <a:off x="3502152" y="1965960"/>
            <a:ext cx="2697480" cy="329184"/>
          </a:xfrm>
          <a:prstGeom prst="roundRect">
            <a:avLst>
              <a:gd name="adj" fmla="val 27778"/>
            </a:avLst>
          </a:prstGeom>
          <a:solidFill>
            <a:srgbClr val="8888DD"/>
          </a:solidFill>
          <a:ln w="12700">
            <a:solidFill>
              <a:srgbClr val="8888DD"/>
            </a:solidFill>
            <a:prstDash val="solid"/>
          </a:ln>
        </p:spPr>
      </p:sp>
      <p:sp>
        <p:nvSpPr>
          <p:cNvPr id="28" name="Shape 26"/>
          <p:cNvSpPr/>
          <p:nvPr/>
        </p:nvSpPr>
        <p:spPr>
          <a:xfrm>
            <a:off x="3502152" y="2167128"/>
            <a:ext cx="2697480" cy="128016"/>
          </a:xfrm>
          <a:prstGeom prst="rect">
            <a:avLst/>
          </a:prstGeom>
          <a:solidFill>
            <a:srgbClr val="8888DD"/>
          </a:solidFill>
          <a:ln w="12700">
            <a:solidFill>
              <a:srgbClr val="8888DD"/>
            </a:solidFill>
            <a:prstDash val="solid"/>
          </a:ln>
        </p:spPr>
      </p:sp>
      <p:sp>
        <p:nvSpPr>
          <p:cNvPr id="29" name="Text 27"/>
          <p:cNvSpPr/>
          <p:nvPr/>
        </p:nvSpPr>
        <p:spPr>
          <a:xfrm>
            <a:off x="3575304" y="1984248"/>
            <a:ext cx="2551176"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Fluid Drag (Turb.)</a:t>
            </a:r>
            <a:endParaRPr lang="en-US" sz="1050" dirty="0"/>
          </a:p>
        </p:txBody>
      </p:sp>
      <p:sp>
        <p:nvSpPr>
          <p:cNvPr id="30" name="Text 28"/>
          <p:cNvSpPr/>
          <p:nvPr/>
        </p:nvSpPr>
        <p:spPr>
          <a:xfrm>
            <a:off x="3575304" y="2368296"/>
            <a:ext cx="2551176" cy="438912"/>
          </a:xfrm>
          <a:prstGeom prst="rect">
            <a:avLst/>
          </a:prstGeom>
          <a:noFill/>
          <a:ln/>
        </p:spPr>
        <p:txBody>
          <a:bodyPr wrap="square" lIns="0" tIns="0" rIns="0" bIns="0" rtlCol="0" anchor="ctr"/>
          <a:lstStyle/>
          <a:p>
            <a:pPr marL="0" indent="0" algn="ctr">
              <a:buNone/>
            </a:pPr>
            <a:r>
              <a:rPr lang="en-US" sz="1600" b="1" i="1" dirty="0">
                <a:solidFill>
                  <a:srgbClr val="FFFFFF"/>
                </a:solidFill>
                <a:latin typeface="Cambria" pitchFamily="34" charset="0"/>
                <a:ea typeface="Cambria" pitchFamily="34" charset="-122"/>
                <a:cs typeface="Cambria" pitchFamily="34" charset="-120"/>
              </a:rPr>
              <a:t>Fd = ½ρv²CdA</a:t>
            </a:r>
            <a:endParaRPr lang="en-US" sz="1600" dirty="0"/>
          </a:p>
        </p:txBody>
      </p:sp>
      <p:sp>
        <p:nvSpPr>
          <p:cNvPr id="31" name="Shape 29"/>
          <p:cNvSpPr/>
          <p:nvPr/>
        </p:nvSpPr>
        <p:spPr>
          <a:xfrm>
            <a:off x="6318504" y="1965960"/>
            <a:ext cx="2697480" cy="914400"/>
          </a:xfrm>
          <a:prstGeom prst="roundRect">
            <a:avLst>
              <a:gd name="adj" fmla="val 10000"/>
            </a:avLst>
          </a:prstGeom>
          <a:solidFill>
            <a:srgbClr val="2A2A2A"/>
          </a:solidFill>
          <a:ln w="12700">
            <a:solidFill>
              <a:srgbClr val="444444"/>
            </a:solidFill>
            <a:prstDash val="solid"/>
          </a:ln>
        </p:spPr>
      </p:sp>
      <p:sp>
        <p:nvSpPr>
          <p:cNvPr id="32" name="Shape 30"/>
          <p:cNvSpPr/>
          <p:nvPr/>
        </p:nvSpPr>
        <p:spPr>
          <a:xfrm>
            <a:off x="6318504" y="1965960"/>
            <a:ext cx="2697480" cy="329184"/>
          </a:xfrm>
          <a:prstGeom prst="roundRect">
            <a:avLst>
              <a:gd name="adj" fmla="val 27778"/>
            </a:avLst>
          </a:prstGeom>
          <a:solidFill>
            <a:srgbClr val="B85042"/>
          </a:solidFill>
          <a:ln w="12700">
            <a:solidFill>
              <a:srgbClr val="B85042"/>
            </a:solidFill>
            <a:prstDash val="solid"/>
          </a:ln>
        </p:spPr>
      </p:sp>
      <p:sp>
        <p:nvSpPr>
          <p:cNvPr id="33" name="Shape 31"/>
          <p:cNvSpPr/>
          <p:nvPr/>
        </p:nvSpPr>
        <p:spPr>
          <a:xfrm>
            <a:off x="6318504" y="2167128"/>
            <a:ext cx="2697480" cy="128016"/>
          </a:xfrm>
          <a:prstGeom prst="rect">
            <a:avLst/>
          </a:prstGeom>
          <a:solidFill>
            <a:srgbClr val="B85042"/>
          </a:solidFill>
          <a:ln w="12700">
            <a:solidFill>
              <a:srgbClr val="B85042"/>
            </a:solidFill>
            <a:prstDash val="solid"/>
          </a:ln>
        </p:spPr>
      </p:sp>
      <p:sp>
        <p:nvSpPr>
          <p:cNvPr id="34" name="Text 32"/>
          <p:cNvSpPr/>
          <p:nvPr/>
        </p:nvSpPr>
        <p:spPr>
          <a:xfrm>
            <a:off x="6391656" y="1984248"/>
            <a:ext cx="2551176"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Angle of Friction</a:t>
            </a:r>
            <a:endParaRPr lang="en-US" sz="1050" dirty="0"/>
          </a:p>
        </p:txBody>
      </p:sp>
      <p:sp>
        <p:nvSpPr>
          <p:cNvPr id="35" name="Text 33"/>
          <p:cNvSpPr/>
          <p:nvPr/>
        </p:nvSpPr>
        <p:spPr>
          <a:xfrm>
            <a:off x="6391656" y="2368296"/>
            <a:ext cx="2551176" cy="438912"/>
          </a:xfrm>
          <a:prstGeom prst="rect">
            <a:avLst/>
          </a:prstGeom>
          <a:noFill/>
          <a:ln/>
        </p:spPr>
        <p:txBody>
          <a:bodyPr wrap="square" lIns="0" tIns="0" rIns="0" bIns="0" rtlCol="0" anchor="ctr"/>
          <a:lstStyle/>
          <a:p>
            <a:pPr marL="0" indent="0" algn="ctr">
              <a:buNone/>
            </a:pPr>
            <a:r>
              <a:rPr lang="en-US" sz="1600" b="1" i="1" dirty="0">
                <a:solidFill>
                  <a:srgbClr val="FFFFFF"/>
                </a:solidFill>
                <a:latin typeface="Cambria" pitchFamily="34" charset="0"/>
                <a:ea typeface="Cambria" pitchFamily="34" charset="-122"/>
                <a:cs typeface="Cambria" pitchFamily="34" charset="-120"/>
              </a:rPr>
              <a:t>tan λ = μₛ</a:t>
            </a:r>
            <a:endParaRPr lang="en-US" sz="1600" dirty="0"/>
          </a:p>
        </p:txBody>
      </p:sp>
      <p:sp>
        <p:nvSpPr>
          <p:cNvPr id="36" name="Shape 34"/>
          <p:cNvSpPr/>
          <p:nvPr/>
        </p:nvSpPr>
        <p:spPr>
          <a:xfrm>
            <a:off x="685800" y="2971800"/>
            <a:ext cx="2697480" cy="914400"/>
          </a:xfrm>
          <a:prstGeom prst="roundRect">
            <a:avLst>
              <a:gd name="adj" fmla="val 10000"/>
            </a:avLst>
          </a:prstGeom>
          <a:solidFill>
            <a:srgbClr val="2A2A2A"/>
          </a:solidFill>
          <a:ln w="12700">
            <a:solidFill>
              <a:srgbClr val="444444"/>
            </a:solidFill>
            <a:prstDash val="solid"/>
          </a:ln>
        </p:spPr>
      </p:sp>
      <p:sp>
        <p:nvSpPr>
          <p:cNvPr id="37" name="Shape 35"/>
          <p:cNvSpPr/>
          <p:nvPr/>
        </p:nvSpPr>
        <p:spPr>
          <a:xfrm>
            <a:off x="685800" y="2971800"/>
            <a:ext cx="2697480" cy="329184"/>
          </a:xfrm>
          <a:prstGeom prst="roundRect">
            <a:avLst>
              <a:gd name="adj" fmla="val 27778"/>
            </a:avLst>
          </a:prstGeom>
          <a:solidFill>
            <a:srgbClr val="C9974C"/>
          </a:solidFill>
          <a:ln w="12700">
            <a:solidFill>
              <a:srgbClr val="C9974C"/>
            </a:solidFill>
            <a:prstDash val="solid"/>
          </a:ln>
        </p:spPr>
      </p:sp>
      <p:sp>
        <p:nvSpPr>
          <p:cNvPr id="38" name="Shape 36"/>
          <p:cNvSpPr/>
          <p:nvPr/>
        </p:nvSpPr>
        <p:spPr>
          <a:xfrm>
            <a:off x="685800" y="3172968"/>
            <a:ext cx="2697480" cy="128016"/>
          </a:xfrm>
          <a:prstGeom prst="rect">
            <a:avLst/>
          </a:prstGeom>
          <a:solidFill>
            <a:srgbClr val="C9974C"/>
          </a:solidFill>
          <a:ln w="12700">
            <a:solidFill>
              <a:srgbClr val="C9974C"/>
            </a:solidFill>
            <a:prstDash val="solid"/>
          </a:ln>
        </p:spPr>
      </p:sp>
      <p:sp>
        <p:nvSpPr>
          <p:cNvPr id="39" name="Text 37"/>
          <p:cNvSpPr/>
          <p:nvPr/>
        </p:nvSpPr>
        <p:spPr>
          <a:xfrm>
            <a:off x="758952" y="2990088"/>
            <a:ext cx="2551176"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Angle of Repose</a:t>
            </a:r>
            <a:endParaRPr lang="en-US" sz="1050" dirty="0"/>
          </a:p>
        </p:txBody>
      </p:sp>
      <p:sp>
        <p:nvSpPr>
          <p:cNvPr id="40" name="Text 38"/>
          <p:cNvSpPr/>
          <p:nvPr/>
        </p:nvSpPr>
        <p:spPr>
          <a:xfrm>
            <a:off x="758952" y="3374136"/>
            <a:ext cx="2551176" cy="438912"/>
          </a:xfrm>
          <a:prstGeom prst="rect">
            <a:avLst/>
          </a:prstGeom>
          <a:noFill/>
          <a:ln/>
        </p:spPr>
        <p:txBody>
          <a:bodyPr wrap="square" lIns="0" tIns="0" rIns="0" bIns="0" rtlCol="0" anchor="ctr"/>
          <a:lstStyle/>
          <a:p>
            <a:pPr marL="0" indent="0" algn="ctr">
              <a:buNone/>
            </a:pPr>
            <a:r>
              <a:rPr lang="en-US" sz="1600" b="1" i="1" dirty="0">
                <a:solidFill>
                  <a:srgbClr val="FFFFFF"/>
                </a:solidFill>
                <a:latin typeface="Cambria" pitchFamily="34" charset="0"/>
                <a:ea typeface="Cambria" pitchFamily="34" charset="-122"/>
                <a:cs typeface="Cambria" pitchFamily="34" charset="-120"/>
              </a:rPr>
              <a:t>tan θᵣ = μₛ = tan λ</a:t>
            </a:r>
            <a:endParaRPr lang="en-US" sz="1600" dirty="0"/>
          </a:p>
        </p:txBody>
      </p:sp>
      <p:sp>
        <p:nvSpPr>
          <p:cNvPr id="41" name="Shape 39"/>
          <p:cNvSpPr/>
          <p:nvPr/>
        </p:nvSpPr>
        <p:spPr>
          <a:xfrm>
            <a:off x="3502152" y="2971800"/>
            <a:ext cx="2697480" cy="914400"/>
          </a:xfrm>
          <a:prstGeom prst="roundRect">
            <a:avLst>
              <a:gd name="adj" fmla="val 10000"/>
            </a:avLst>
          </a:prstGeom>
          <a:solidFill>
            <a:srgbClr val="2A2A2A"/>
          </a:solidFill>
          <a:ln w="12700">
            <a:solidFill>
              <a:srgbClr val="444444"/>
            </a:solidFill>
            <a:prstDash val="solid"/>
          </a:ln>
        </p:spPr>
      </p:sp>
      <p:sp>
        <p:nvSpPr>
          <p:cNvPr id="42" name="Shape 40"/>
          <p:cNvSpPr/>
          <p:nvPr/>
        </p:nvSpPr>
        <p:spPr>
          <a:xfrm>
            <a:off x="3502152" y="2971800"/>
            <a:ext cx="2697480" cy="329184"/>
          </a:xfrm>
          <a:prstGeom prst="roundRect">
            <a:avLst>
              <a:gd name="adj" fmla="val 27778"/>
            </a:avLst>
          </a:prstGeom>
          <a:solidFill>
            <a:srgbClr val="2A7F7F"/>
          </a:solidFill>
          <a:ln w="12700">
            <a:solidFill>
              <a:srgbClr val="2A7F7F"/>
            </a:solidFill>
            <a:prstDash val="solid"/>
          </a:ln>
        </p:spPr>
      </p:sp>
      <p:sp>
        <p:nvSpPr>
          <p:cNvPr id="43" name="Shape 41"/>
          <p:cNvSpPr/>
          <p:nvPr/>
        </p:nvSpPr>
        <p:spPr>
          <a:xfrm>
            <a:off x="3502152" y="3172968"/>
            <a:ext cx="2697480" cy="128016"/>
          </a:xfrm>
          <a:prstGeom prst="rect">
            <a:avLst/>
          </a:prstGeom>
          <a:solidFill>
            <a:srgbClr val="2A7F7F"/>
          </a:solidFill>
          <a:ln w="12700">
            <a:solidFill>
              <a:srgbClr val="2A7F7F"/>
            </a:solidFill>
            <a:prstDash val="solid"/>
          </a:ln>
        </p:spPr>
      </p:sp>
      <p:sp>
        <p:nvSpPr>
          <p:cNvPr id="44" name="Text 42"/>
          <p:cNvSpPr/>
          <p:nvPr/>
        </p:nvSpPr>
        <p:spPr>
          <a:xfrm>
            <a:off x="3575304" y="2990088"/>
            <a:ext cx="2551176"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Incline Acceleration</a:t>
            </a:r>
            <a:endParaRPr lang="en-US" sz="1050" dirty="0"/>
          </a:p>
        </p:txBody>
      </p:sp>
      <p:sp>
        <p:nvSpPr>
          <p:cNvPr id="45" name="Text 43"/>
          <p:cNvSpPr/>
          <p:nvPr/>
        </p:nvSpPr>
        <p:spPr>
          <a:xfrm>
            <a:off x="3575304" y="3374136"/>
            <a:ext cx="2551176" cy="438912"/>
          </a:xfrm>
          <a:prstGeom prst="rect">
            <a:avLst/>
          </a:prstGeom>
          <a:noFill/>
          <a:ln/>
        </p:spPr>
        <p:txBody>
          <a:bodyPr wrap="square" lIns="0" tIns="0" rIns="0" bIns="0" rtlCol="0" anchor="ctr"/>
          <a:lstStyle/>
          <a:p>
            <a:pPr marL="0" indent="0" algn="ctr">
              <a:buNone/>
            </a:pPr>
            <a:r>
              <a:rPr lang="en-US" sz="1600" b="1" i="1" dirty="0">
                <a:solidFill>
                  <a:srgbClr val="FFFFFF"/>
                </a:solidFill>
                <a:latin typeface="Cambria" pitchFamily="34" charset="0"/>
                <a:ea typeface="Cambria" pitchFamily="34" charset="-122"/>
                <a:cs typeface="Cambria" pitchFamily="34" charset="-120"/>
              </a:rPr>
              <a:t>a = g(sinθ − μcosθ)</a:t>
            </a:r>
            <a:endParaRPr lang="en-US" sz="1600" dirty="0"/>
          </a:p>
        </p:txBody>
      </p:sp>
      <p:sp>
        <p:nvSpPr>
          <p:cNvPr id="46" name="Shape 44"/>
          <p:cNvSpPr/>
          <p:nvPr/>
        </p:nvSpPr>
        <p:spPr>
          <a:xfrm>
            <a:off x="6318504" y="2971800"/>
            <a:ext cx="2697480" cy="914400"/>
          </a:xfrm>
          <a:prstGeom prst="roundRect">
            <a:avLst>
              <a:gd name="adj" fmla="val 10000"/>
            </a:avLst>
          </a:prstGeom>
          <a:solidFill>
            <a:srgbClr val="2A2A2A"/>
          </a:solidFill>
          <a:ln w="12700">
            <a:solidFill>
              <a:srgbClr val="444444"/>
            </a:solidFill>
            <a:prstDash val="solid"/>
          </a:ln>
        </p:spPr>
      </p:sp>
      <p:sp>
        <p:nvSpPr>
          <p:cNvPr id="47" name="Shape 45"/>
          <p:cNvSpPr/>
          <p:nvPr/>
        </p:nvSpPr>
        <p:spPr>
          <a:xfrm>
            <a:off x="6318504" y="2971800"/>
            <a:ext cx="2697480" cy="329184"/>
          </a:xfrm>
          <a:prstGeom prst="roundRect">
            <a:avLst>
              <a:gd name="adj" fmla="val 27778"/>
            </a:avLst>
          </a:prstGeom>
          <a:solidFill>
            <a:srgbClr val="8888DD"/>
          </a:solidFill>
          <a:ln w="12700">
            <a:solidFill>
              <a:srgbClr val="8888DD"/>
            </a:solidFill>
            <a:prstDash val="solid"/>
          </a:ln>
        </p:spPr>
      </p:sp>
      <p:sp>
        <p:nvSpPr>
          <p:cNvPr id="48" name="Shape 46"/>
          <p:cNvSpPr/>
          <p:nvPr/>
        </p:nvSpPr>
        <p:spPr>
          <a:xfrm>
            <a:off x="6318504" y="3172968"/>
            <a:ext cx="2697480" cy="128016"/>
          </a:xfrm>
          <a:prstGeom prst="rect">
            <a:avLst/>
          </a:prstGeom>
          <a:solidFill>
            <a:srgbClr val="8888DD"/>
          </a:solidFill>
          <a:ln w="12700">
            <a:solidFill>
              <a:srgbClr val="8888DD"/>
            </a:solidFill>
            <a:prstDash val="solid"/>
          </a:ln>
        </p:spPr>
      </p:sp>
      <p:sp>
        <p:nvSpPr>
          <p:cNvPr id="49" name="Text 47"/>
          <p:cNvSpPr/>
          <p:nvPr/>
        </p:nvSpPr>
        <p:spPr>
          <a:xfrm>
            <a:off x="6391656" y="2990088"/>
            <a:ext cx="2551176"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Max Curve Speed</a:t>
            </a:r>
            <a:endParaRPr lang="en-US" sz="1050" dirty="0"/>
          </a:p>
        </p:txBody>
      </p:sp>
      <p:sp>
        <p:nvSpPr>
          <p:cNvPr id="50" name="Text 48"/>
          <p:cNvSpPr/>
          <p:nvPr/>
        </p:nvSpPr>
        <p:spPr>
          <a:xfrm>
            <a:off x="6391656" y="3374136"/>
            <a:ext cx="2551176" cy="438912"/>
          </a:xfrm>
          <a:prstGeom prst="rect">
            <a:avLst/>
          </a:prstGeom>
          <a:noFill/>
          <a:ln/>
        </p:spPr>
        <p:txBody>
          <a:bodyPr wrap="square" lIns="0" tIns="0" rIns="0" bIns="0" rtlCol="0" anchor="ctr"/>
          <a:lstStyle/>
          <a:p>
            <a:pPr marL="0" indent="0" algn="ctr">
              <a:buNone/>
            </a:pPr>
            <a:r>
              <a:rPr lang="en-US" sz="1600" b="1" i="1" dirty="0">
                <a:solidFill>
                  <a:srgbClr val="FFFFFF"/>
                </a:solidFill>
                <a:latin typeface="Cambria" pitchFamily="34" charset="0"/>
                <a:ea typeface="Cambria" pitchFamily="34" charset="-122"/>
                <a:cs typeface="Cambria" pitchFamily="34" charset="-120"/>
              </a:rPr>
              <a:t>v_max = √(μₛgr)</a:t>
            </a:r>
            <a:endParaRPr lang="en-US" sz="1600" dirty="0"/>
          </a:p>
        </p:txBody>
      </p:sp>
      <p:sp>
        <p:nvSpPr>
          <p:cNvPr id="51" name="Shape 49"/>
          <p:cNvSpPr/>
          <p:nvPr/>
        </p:nvSpPr>
        <p:spPr>
          <a:xfrm>
            <a:off x="685800" y="3977640"/>
            <a:ext cx="2697480" cy="914400"/>
          </a:xfrm>
          <a:prstGeom prst="roundRect">
            <a:avLst>
              <a:gd name="adj" fmla="val 10000"/>
            </a:avLst>
          </a:prstGeom>
          <a:solidFill>
            <a:srgbClr val="2A2A2A"/>
          </a:solidFill>
          <a:ln w="12700">
            <a:solidFill>
              <a:srgbClr val="444444"/>
            </a:solidFill>
            <a:prstDash val="solid"/>
          </a:ln>
        </p:spPr>
      </p:sp>
      <p:sp>
        <p:nvSpPr>
          <p:cNvPr id="52" name="Shape 50"/>
          <p:cNvSpPr/>
          <p:nvPr/>
        </p:nvSpPr>
        <p:spPr>
          <a:xfrm>
            <a:off x="685800" y="3977640"/>
            <a:ext cx="2697480" cy="329184"/>
          </a:xfrm>
          <a:prstGeom prst="roundRect">
            <a:avLst>
              <a:gd name="adj" fmla="val 27778"/>
            </a:avLst>
          </a:prstGeom>
          <a:solidFill>
            <a:srgbClr val="B85042"/>
          </a:solidFill>
          <a:ln w="12700">
            <a:solidFill>
              <a:srgbClr val="B85042"/>
            </a:solidFill>
            <a:prstDash val="solid"/>
          </a:ln>
        </p:spPr>
      </p:sp>
      <p:sp>
        <p:nvSpPr>
          <p:cNvPr id="53" name="Shape 51"/>
          <p:cNvSpPr/>
          <p:nvPr/>
        </p:nvSpPr>
        <p:spPr>
          <a:xfrm>
            <a:off x="685800" y="4178808"/>
            <a:ext cx="2697480" cy="128016"/>
          </a:xfrm>
          <a:prstGeom prst="rect">
            <a:avLst/>
          </a:prstGeom>
          <a:solidFill>
            <a:srgbClr val="B85042"/>
          </a:solidFill>
          <a:ln w="12700">
            <a:solidFill>
              <a:srgbClr val="B85042"/>
            </a:solidFill>
            <a:prstDash val="solid"/>
          </a:ln>
        </p:spPr>
      </p:sp>
      <p:sp>
        <p:nvSpPr>
          <p:cNvPr id="54" name="Text 52"/>
          <p:cNvSpPr/>
          <p:nvPr/>
        </p:nvSpPr>
        <p:spPr>
          <a:xfrm>
            <a:off x="758952" y="3995928"/>
            <a:ext cx="2551176"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Work by Friction</a:t>
            </a:r>
            <a:endParaRPr lang="en-US" sz="1050" dirty="0"/>
          </a:p>
        </p:txBody>
      </p:sp>
      <p:sp>
        <p:nvSpPr>
          <p:cNvPr id="55" name="Text 53"/>
          <p:cNvSpPr/>
          <p:nvPr/>
        </p:nvSpPr>
        <p:spPr>
          <a:xfrm>
            <a:off x="758952" y="4379976"/>
            <a:ext cx="2551176" cy="438912"/>
          </a:xfrm>
          <a:prstGeom prst="rect">
            <a:avLst/>
          </a:prstGeom>
          <a:noFill/>
          <a:ln/>
        </p:spPr>
        <p:txBody>
          <a:bodyPr wrap="square" lIns="0" tIns="0" rIns="0" bIns="0" rtlCol="0" anchor="ctr"/>
          <a:lstStyle/>
          <a:p>
            <a:pPr marL="0" indent="0" algn="ctr">
              <a:buNone/>
            </a:pPr>
            <a:r>
              <a:rPr lang="en-US" sz="1600" b="1" i="1" dirty="0">
                <a:solidFill>
                  <a:srgbClr val="FFFFFF"/>
                </a:solidFill>
                <a:latin typeface="Cambria" pitchFamily="34" charset="0"/>
                <a:ea typeface="Cambria" pitchFamily="34" charset="-122"/>
                <a:cs typeface="Cambria" pitchFamily="34" charset="-120"/>
              </a:rPr>
              <a:t>W = −μₖNd</a:t>
            </a:r>
            <a:endParaRPr lang="en-US" sz="1600" dirty="0"/>
          </a:p>
        </p:txBody>
      </p:sp>
      <p:sp>
        <p:nvSpPr>
          <p:cNvPr id="56" name="Shape 54"/>
          <p:cNvSpPr/>
          <p:nvPr/>
        </p:nvSpPr>
        <p:spPr>
          <a:xfrm>
            <a:off x="3502152" y="3977640"/>
            <a:ext cx="2697480" cy="914400"/>
          </a:xfrm>
          <a:prstGeom prst="roundRect">
            <a:avLst>
              <a:gd name="adj" fmla="val 10000"/>
            </a:avLst>
          </a:prstGeom>
          <a:solidFill>
            <a:srgbClr val="2A2A2A"/>
          </a:solidFill>
          <a:ln w="12700">
            <a:solidFill>
              <a:srgbClr val="444444"/>
            </a:solidFill>
            <a:prstDash val="solid"/>
          </a:ln>
        </p:spPr>
      </p:sp>
      <p:sp>
        <p:nvSpPr>
          <p:cNvPr id="57" name="Shape 55"/>
          <p:cNvSpPr/>
          <p:nvPr/>
        </p:nvSpPr>
        <p:spPr>
          <a:xfrm>
            <a:off x="3502152" y="3977640"/>
            <a:ext cx="2697480" cy="329184"/>
          </a:xfrm>
          <a:prstGeom prst="roundRect">
            <a:avLst>
              <a:gd name="adj" fmla="val 27778"/>
            </a:avLst>
          </a:prstGeom>
          <a:solidFill>
            <a:srgbClr val="C9974C"/>
          </a:solidFill>
          <a:ln w="12700">
            <a:solidFill>
              <a:srgbClr val="C9974C"/>
            </a:solidFill>
            <a:prstDash val="solid"/>
          </a:ln>
        </p:spPr>
      </p:sp>
      <p:sp>
        <p:nvSpPr>
          <p:cNvPr id="58" name="Shape 56"/>
          <p:cNvSpPr/>
          <p:nvPr/>
        </p:nvSpPr>
        <p:spPr>
          <a:xfrm>
            <a:off x="3502152" y="4178808"/>
            <a:ext cx="2697480" cy="128016"/>
          </a:xfrm>
          <a:prstGeom prst="rect">
            <a:avLst/>
          </a:prstGeom>
          <a:solidFill>
            <a:srgbClr val="C9974C"/>
          </a:solidFill>
          <a:ln w="12700">
            <a:solidFill>
              <a:srgbClr val="C9974C"/>
            </a:solidFill>
            <a:prstDash val="solid"/>
          </a:ln>
        </p:spPr>
      </p:sp>
      <p:sp>
        <p:nvSpPr>
          <p:cNvPr id="59" name="Text 57"/>
          <p:cNvSpPr/>
          <p:nvPr/>
        </p:nvSpPr>
        <p:spPr>
          <a:xfrm>
            <a:off x="3575304" y="3995928"/>
            <a:ext cx="2551176"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Heat Generated</a:t>
            </a:r>
            <a:endParaRPr lang="en-US" sz="1050" dirty="0"/>
          </a:p>
        </p:txBody>
      </p:sp>
      <p:sp>
        <p:nvSpPr>
          <p:cNvPr id="60" name="Text 58"/>
          <p:cNvSpPr/>
          <p:nvPr/>
        </p:nvSpPr>
        <p:spPr>
          <a:xfrm>
            <a:off x="3575304" y="4379976"/>
            <a:ext cx="2551176" cy="438912"/>
          </a:xfrm>
          <a:prstGeom prst="rect">
            <a:avLst/>
          </a:prstGeom>
          <a:noFill/>
          <a:ln/>
        </p:spPr>
        <p:txBody>
          <a:bodyPr wrap="square" lIns="0" tIns="0" rIns="0" bIns="0" rtlCol="0" anchor="ctr"/>
          <a:lstStyle/>
          <a:p>
            <a:pPr marL="0" indent="0" algn="ctr">
              <a:buNone/>
            </a:pPr>
            <a:r>
              <a:rPr lang="en-US" sz="1600" b="1" i="1" dirty="0">
                <a:solidFill>
                  <a:srgbClr val="FFFFFF"/>
                </a:solidFill>
                <a:latin typeface="Cambria" pitchFamily="34" charset="0"/>
                <a:ea typeface="Cambria" pitchFamily="34" charset="-122"/>
                <a:cs typeface="Cambria" pitchFamily="34" charset="-120"/>
              </a:rPr>
              <a:t>ΔE_th = μₖNd</a:t>
            </a:r>
            <a:endParaRPr lang="en-US" sz="1600" dirty="0"/>
          </a:p>
        </p:txBody>
      </p:sp>
      <p:sp>
        <p:nvSpPr>
          <p:cNvPr id="61" name="Shape 59"/>
          <p:cNvSpPr/>
          <p:nvPr/>
        </p:nvSpPr>
        <p:spPr>
          <a:xfrm>
            <a:off x="6318504" y="3977640"/>
            <a:ext cx="2697480" cy="914400"/>
          </a:xfrm>
          <a:prstGeom prst="roundRect">
            <a:avLst>
              <a:gd name="adj" fmla="val 10000"/>
            </a:avLst>
          </a:prstGeom>
          <a:solidFill>
            <a:srgbClr val="2A2A2A"/>
          </a:solidFill>
          <a:ln w="12700">
            <a:solidFill>
              <a:srgbClr val="444444"/>
            </a:solidFill>
            <a:prstDash val="solid"/>
          </a:ln>
        </p:spPr>
      </p:sp>
      <p:sp>
        <p:nvSpPr>
          <p:cNvPr id="62" name="Shape 60"/>
          <p:cNvSpPr/>
          <p:nvPr/>
        </p:nvSpPr>
        <p:spPr>
          <a:xfrm>
            <a:off x="6318504" y="3977640"/>
            <a:ext cx="2697480" cy="329184"/>
          </a:xfrm>
          <a:prstGeom prst="roundRect">
            <a:avLst>
              <a:gd name="adj" fmla="val 27778"/>
            </a:avLst>
          </a:prstGeom>
          <a:solidFill>
            <a:srgbClr val="2A7F7F"/>
          </a:solidFill>
          <a:ln w="12700">
            <a:solidFill>
              <a:srgbClr val="2A7F7F"/>
            </a:solidFill>
            <a:prstDash val="solid"/>
          </a:ln>
        </p:spPr>
      </p:sp>
      <p:sp>
        <p:nvSpPr>
          <p:cNvPr id="63" name="Shape 61"/>
          <p:cNvSpPr/>
          <p:nvPr/>
        </p:nvSpPr>
        <p:spPr>
          <a:xfrm>
            <a:off x="6318504" y="4178808"/>
            <a:ext cx="2697480" cy="128016"/>
          </a:xfrm>
          <a:prstGeom prst="rect">
            <a:avLst/>
          </a:prstGeom>
          <a:solidFill>
            <a:srgbClr val="2A7F7F"/>
          </a:solidFill>
          <a:ln w="12700">
            <a:solidFill>
              <a:srgbClr val="2A7F7F"/>
            </a:solidFill>
            <a:prstDash val="solid"/>
          </a:ln>
        </p:spPr>
      </p:sp>
      <p:sp>
        <p:nvSpPr>
          <p:cNvPr id="64" name="Text 62"/>
          <p:cNvSpPr/>
          <p:nvPr/>
        </p:nvSpPr>
        <p:spPr>
          <a:xfrm>
            <a:off x="6391656" y="3995928"/>
            <a:ext cx="2551176"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Capstan (Rope)</a:t>
            </a:r>
            <a:endParaRPr lang="en-US" sz="1050" dirty="0"/>
          </a:p>
        </p:txBody>
      </p:sp>
      <p:sp>
        <p:nvSpPr>
          <p:cNvPr id="65" name="Text 63"/>
          <p:cNvSpPr/>
          <p:nvPr/>
        </p:nvSpPr>
        <p:spPr>
          <a:xfrm>
            <a:off x="6391656" y="4379976"/>
            <a:ext cx="2551176" cy="438912"/>
          </a:xfrm>
          <a:prstGeom prst="rect">
            <a:avLst/>
          </a:prstGeom>
          <a:noFill/>
          <a:ln/>
        </p:spPr>
        <p:txBody>
          <a:bodyPr wrap="square" lIns="0" tIns="0" rIns="0" bIns="0" rtlCol="0" anchor="ctr"/>
          <a:lstStyle/>
          <a:p>
            <a:pPr marL="0" indent="0" algn="ctr">
              <a:buNone/>
            </a:pPr>
            <a:r>
              <a:rPr lang="en-US" sz="1600" b="1" i="1" dirty="0">
                <a:solidFill>
                  <a:srgbClr val="FFFFFF"/>
                </a:solidFill>
                <a:latin typeface="Cambria" pitchFamily="34" charset="0"/>
                <a:ea typeface="Cambria" pitchFamily="34" charset="-122"/>
                <a:cs typeface="Cambria" pitchFamily="34" charset="-120"/>
              </a:rPr>
              <a:t>T₂/T₁ = e^(μθ)</a:t>
            </a:r>
            <a:endParaRPr lang="en-US" sz="1600" dirty="0"/>
          </a:p>
        </p:txBody>
      </p:sp>
      <p:sp>
        <p:nvSpPr>
          <p:cNvPr id="66" name="Shape 64"/>
          <p:cNvSpPr/>
          <p:nvPr/>
        </p:nvSpPr>
        <p:spPr>
          <a:xfrm>
            <a:off x="0" y="4864608"/>
            <a:ext cx="9144000" cy="283464"/>
          </a:xfrm>
          <a:prstGeom prst="rect">
            <a:avLst/>
          </a:prstGeom>
          <a:solidFill>
            <a:srgbClr val="B85042"/>
          </a:solidFill>
          <a:ln w="12700">
            <a:solidFill>
              <a:srgbClr val="B85042"/>
            </a:solidFill>
            <a:prstDash val="solid"/>
          </a:ln>
        </p:spPr>
      </p:sp>
      <p:sp>
        <p:nvSpPr>
          <p:cNvPr id="67" name="Text 65"/>
          <p:cNvSpPr/>
          <p:nvPr/>
        </p:nvSpPr>
        <p:spPr>
          <a:xfrm>
            <a:off x="0" y="4873752"/>
            <a:ext cx="914400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Friction — Physics Mechanics Series  •  20 Slides Complete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2544</Words>
  <Application>Microsoft Office PowerPoint</Application>
  <PresentationFormat>On-screen Show (16:9)</PresentationFormat>
  <Paragraphs>341</Paragraphs>
  <Slides>17</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Friction – A Complete Physics Guide</dc:title>
  <dc:subject>PptxGenJS Presentation</dc:subject>
  <dc:creator>PptxGenJS</dc:creator>
  <cp:lastModifiedBy>abu talha</cp:lastModifiedBy>
  <cp:revision>3</cp:revision>
  <dcterms:created xsi:type="dcterms:W3CDTF">2026-05-14T06:03:58Z</dcterms:created>
  <dcterms:modified xsi:type="dcterms:W3CDTF">2026-06-06T15:45:23Z</dcterms:modified>
</cp:coreProperties>
</file>