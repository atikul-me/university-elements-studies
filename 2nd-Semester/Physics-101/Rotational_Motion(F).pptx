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67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gi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731520"/>
            <a:ext cx="4572000" cy="4572000"/>
          </a:xfrm>
          <a:prstGeom prst="ellipse">
            <a:avLst/>
          </a:prstGeom>
          <a:solidFill>
            <a:srgbClr val="0D9488">
              <a:alpha val="20000"/>
            </a:srgbClr>
          </a:solidFill>
          <a:ln w="254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254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914400"/>
            <a:ext cx="2286000" cy="2286000"/>
          </a:xfrm>
          <a:prstGeom prst="ellipse">
            <a:avLst/>
          </a:prstGeom>
          <a:solidFill>
            <a:srgbClr val="0D9488">
              <a:alpha val="12000"/>
            </a:srgbClr>
          </a:solidFill>
          <a:ln w="254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kern="0" spc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ROTATIONAL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kern="0" spc="18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MOTION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Physics Guide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 ·  Equations  ·  Applications  ·  Examples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0424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05840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241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Rotational Motion?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10424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Angular Quantities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444752"/>
            <a:ext cx="411480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444752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4630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14813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444752"/>
            <a:ext cx="411480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444752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4630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Displacement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14813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Velocity &amp; Acceleration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1883664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883664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1920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883664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883664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Kinematic Equations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1920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Centripetal Acceleration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322576"/>
            <a:ext cx="411480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322576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3408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23591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2322576"/>
            <a:ext cx="411480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322576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3408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Torque — The Rotational Force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20640" y="23591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of Inertia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2761488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2761488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2960" y="27980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63440" y="2761488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761488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Moment of Inertia Formulas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20640" y="27980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2nd Law (Rotation)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65760" y="3200400"/>
            <a:ext cx="411480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200400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2186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22960" y="32369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663440" y="3200400"/>
            <a:ext cx="411480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32186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Momentum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20640" y="32369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of Angular Momentum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5760" y="363931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3639312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6576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22960" y="36758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663440" y="363931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63440" y="3639312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36576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Rotational Kinetic Energy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120640" y="36758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Motion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65760" y="4078224"/>
            <a:ext cx="411480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5760" y="4078224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0965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22960" y="41148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663440" y="4078224"/>
            <a:ext cx="411480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63440" y="4078224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63440" y="40965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Gyroscopes &amp; Precession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120640" y="41148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65760" y="4517136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5760" y="4517136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5760" y="45354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22960" y="45537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4663440" y="4517136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63440" y="4517136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63440" y="45354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 Facts &amp; Records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5120640" y="45537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Equations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Rotational Motion?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24128"/>
            <a:ext cx="4754880" cy="8778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motion occurs when an object spins around a fixed internal or external axis. Every particle in the object moves in a circle centered on that axis.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50292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57400"/>
            <a:ext cx="10972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122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Axis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 passes through the object itself — e.g. a spinning top, Earth rotating on its own axis, a wheel on its hub.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50292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017520"/>
            <a:ext cx="10972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723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Axis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revolves around a point outside it — e.g. Earth orbiting the Sun, a ball on a string, a planet's moon.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977640"/>
            <a:ext cx="50292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977640"/>
            <a:ext cx="10972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325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Rigid Body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particles maintain fixed relative positions. The whole body shares the same angular velocity ω at any instant.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577840" y="29260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top (internal axis)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577840" y="4919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Ferris wheel (external axis)</a:t>
            </a:r>
            <a:endParaRPr lang="en-US" sz="900" dirty="0"/>
          </a:p>
        </p:txBody>
      </p:sp>
      <p:pic>
        <p:nvPicPr>
          <p:cNvPr id="1026" name="Picture 2" descr="What is Angular Momentum of Rotation About a Fixed Axis: Get a Complete  Overview">
            <a:extLst>
              <a:ext uri="{FF2B5EF4-FFF2-40B4-BE49-F238E27FC236}">
                <a16:creationId xmlns:a16="http://schemas.microsoft.com/office/drawing/2014/main" id="{6956D48A-2378-4C60-9281-B8CC7FEB4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120" y="1060704"/>
            <a:ext cx="2800942" cy="18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otational Motion: Definition, Examples, and Equations">
            <a:extLst>
              <a:ext uri="{FF2B5EF4-FFF2-40B4-BE49-F238E27FC236}">
                <a16:creationId xmlns:a16="http://schemas.microsoft.com/office/drawing/2014/main" id="{BBE0DDCB-194D-4F5C-8EF8-0D9B9A89EE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" t="11930" r="5870" b="4356"/>
          <a:stretch/>
        </p:blipFill>
        <p:spPr bwMode="auto">
          <a:xfrm>
            <a:off x="5955792" y="2978235"/>
            <a:ext cx="2075186" cy="193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Angular Quantities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4241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98448" y="10607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Displacement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radians (rad)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2560320" cy="43891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019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Δθ = </a:t>
            </a:r>
            <a:r>
              <a:rPr lang="en-US" sz="1500" b="1" i="1" dirty="0" err="1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θf</a:t>
            </a:r>
            <a:r>
              <a:rPr lang="en-US" sz="1500" b="1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r>
              <a:rPr lang="en-US" sz="1500" b="1" i="1" dirty="0" err="1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turned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05840"/>
            <a:ext cx="274320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04241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178808" y="10607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Velocity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rad / 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1901952"/>
            <a:ext cx="2560320" cy="438912"/>
          </a:xfrm>
          <a:prstGeom prst="rect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9019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 = Δθ / Δt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37560" y="23957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spin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04241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59168" y="10607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Acceleration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rad / s²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901952"/>
            <a:ext cx="2560320" cy="43891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9019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Δω / Δt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17920" y="23957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spin rate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017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017520"/>
            <a:ext cx="27432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0540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298448" y="307238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Tangential Speed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584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m / 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913632"/>
            <a:ext cx="2560320" cy="438912"/>
          </a:xfrm>
          <a:prstGeom prst="rect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9136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r · ω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" y="44074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along arc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46120" y="3017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46120" y="3017520"/>
            <a:ext cx="274320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30540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aₓ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4178808" y="307238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Centripetal Accel.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37560" y="3584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m / s²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37560" y="3913632"/>
            <a:ext cx="2560320" cy="438912"/>
          </a:xfrm>
          <a:prstGeom prst="rect">
            <a:avLst/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39136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aₓ = v²/r = rω²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3337560" y="44074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Inward acceleration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26480" y="3017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3017520"/>
            <a:ext cx="2743200" cy="5029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0540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7059168" y="307238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Period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0" y="3584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seconds (s)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17920" y="3913632"/>
            <a:ext cx="2560320" cy="438912"/>
          </a:xfrm>
          <a:prstGeom prst="rect">
            <a:avLst/>
          </a:prstGeom>
          <a:solidFill>
            <a:srgbClr val="BE185D">
              <a:alpha val="12000"/>
            </a:srgbClr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39136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BE1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2π / ω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217920" y="44074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revolution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Displacement (θ)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θ in radians = arc / radius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251960" y="1005840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51960" y="1005840"/>
            <a:ext cx="914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34840" y="10515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34840" y="135331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displacement θ is the angle rotated by an object. Measured in radians: θ = s / r, where s = arc length and r = radius.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2011680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1960" y="2011680"/>
            <a:ext cx="914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34840" y="20574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Radians vs Degrees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34840" y="235915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revolution = 2π rad = 360°. So 1 rad ≈ 57.3°. To convert: rad = degrees × (π/180).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251960" y="3017520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51960" y="3017520"/>
            <a:ext cx="914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34840" y="30632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434840" y="336499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Counter-clockwise rotation → positive θ. Clockwise → negative θ. This follows the right-hand rule convention.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251960" y="4023360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251960" y="4023360"/>
            <a:ext cx="914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34840" y="4069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Values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434840" y="437083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turn = π/2 rad (90°) · Half turn = π rad (180°) · Full turn = 2π rad (360°)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251960" y="5029200"/>
            <a:ext cx="4572000" cy="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50" name="Picture 2" descr="Angular Displacement Definition">
            <a:extLst>
              <a:ext uri="{FF2B5EF4-FFF2-40B4-BE49-F238E27FC236}">
                <a16:creationId xmlns:a16="http://schemas.microsoft.com/office/drawing/2014/main" id="{4772744D-0B87-46DE-BAAE-CCE3698A25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5" r="23168"/>
          <a:stretch/>
        </p:blipFill>
        <p:spPr bwMode="auto">
          <a:xfrm>
            <a:off x="868891" y="1297306"/>
            <a:ext cx="2651338" cy="257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Velocity &amp; Acceleration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297680" cy="4023360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14400"/>
            <a:ext cx="42976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32688"/>
            <a:ext cx="4078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Velocity (ω)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" y="1481328"/>
            <a:ext cx="3931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Δθ / Δt   (avg)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dθ/dt      (instantaneous)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rad/s   or   rev/s   or   rpm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frequency: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ω = 2π · f   (f in Hz)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period: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ω = 2π / T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wheel at 60 mph (≈ 97 km/h) with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0.35 m spins at ω ≈ 77 rad/s.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297680" cy="4023360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914400"/>
            <a:ext cx="4297680" cy="47548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6048" y="932688"/>
            <a:ext cx="4078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Acceleration (α)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10912" y="1481328"/>
            <a:ext cx="3931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Δω / Δt   (avg)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dω/dt      (instantaneous)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rad/s²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α → speeding up (CCW)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α → slowing down (CCW)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to tangential accel.: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aₜ = r · α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drill bit going from 0 → 1200 rpm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 s:  α = (1200 × 2π/60) / 2 ≈ 62.8 rad/s²</a:t>
            </a:r>
            <a:endParaRPr lang="en-US" sz="1200" dirty="0"/>
          </a:p>
        </p:txBody>
      </p:sp>
      <p:pic>
        <p:nvPicPr>
          <p:cNvPr id="3074" name="Picture 2" descr="schoolphysics ::Welcome::">
            <a:extLst>
              <a:ext uri="{FF2B5EF4-FFF2-40B4-BE49-F238E27FC236}">
                <a16:creationId xmlns:a16="http://schemas.microsoft.com/office/drawing/2014/main" id="{04BCAB66-E2E6-4440-8E84-030BEF74E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220" y="1499616"/>
            <a:ext cx="1369885" cy="186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Rotational Kinematic Equations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equations apply when angular acceleration α is constant.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4416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26060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344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Equation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325880"/>
            <a:ext cx="28346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344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Rotational Analogue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325880"/>
            <a:ext cx="23774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44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Variable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1737360"/>
            <a:ext cx="411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1792224"/>
            <a:ext cx="301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1737360"/>
            <a:ext cx="2606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1792224"/>
            <a:ext cx="2496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v₀ + at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0" y="1737360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9584" y="1792224"/>
            <a:ext cx="2724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 = ω₀ + αt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1737360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1792224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 / Δθ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2542032"/>
            <a:ext cx="4114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2596896"/>
            <a:ext cx="301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2542032"/>
            <a:ext cx="260604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2596896"/>
            <a:ext cx="2496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 = v₀t + ½at²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74720" y="2542032"/>
            <a:ext cx="283464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9584" y="2596896"/>
            <a:ext cx="2724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Δθ = ω₀t + ½αt²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0" y="2542032"/>
            <a:ext cx="237744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55664" y="2596896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/ ω (final)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3346704"/>
            <a:ext cx="411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401568"/>
            <a:ext cx="301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2960" y="3346704"/>
            <a:ext cx="2606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3401568"/>
            <a:ext cx="2496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v² = v₀² + 2aΔx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474720" y="334670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9584" y="3401568"/>
            <a:ext cx="2724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ω² = ω₀² + 2αΔθ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0" y="3346704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3401568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151376"/>
            <a:ext cx="4114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4206240"/>
            <a:ext cx="301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2960" y="4151376"/>
            <a:ext cx="260604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" y="4206240"/>
            <a:ext cx="2496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 = ½(v+v₀)t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474720" y="4151376"/>
            <a:ext cx="283464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9584" y="4206240"/>
            <a:ext cx="2724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Δθ = ½(ω+ω₀)t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00800" y="4151376"/>
            <a:ext cx="237744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55664" y="4206240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65760" y="4846320"/>
            <a:ext cx="8412480" cy="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Example: A wheel at rest accelerates at α = 3 rad/s².  After t = 4 s:  ω = 0 + 3×4 = 12 rad/s   and   Δθ = ½×3×16 = 24 rad ≈ 3.8 revolutions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Centripetal Acceleration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33272"/>
            <a:ext cx="8412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aₓ = v² / r   =   r · ω²       (directed toward center of circle)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411480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Direction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points toward the center of the circular path — this is why it is called 'center-seeking' (centripetal = Latin for 'center-seeking').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920240"/>
            <a:ext cx="411480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9659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Not a New Force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39572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Centripetal acceleration is provided by existing forces: tension in a string, gravity, normal force, friction — depending on context.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Magnitude Increases With</a:t>
            </a:r>
            <a:endParaRPr lang="en-US" sz="1300" dirty="0"/>
          </a:p>
        </p:txBody>
      </p:sp>
      <p:pic>
        <p:nvPicPr>
          <p:cNvPr id="4098" name="Picture 2" descr="centripetal acceleration - Modeling Applied to Problem Solving - MIT Wiki  Service">
            <a:extLst>
              <a:ext uri="{FF2B5EF4-FFF2-40B4-BE49-F238E27FC236}">
                <a16:creationId xmlns:a16="http://schemas.microsoft.com/office/drawing/2014/main" id="{7CAD39BF-8DA7-4B77-AB05-E0A3F35FB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73" y="3030474"/>
            <a:ext cx="3503399" cy="198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ine the Universe!">
            <a:extLst>
              <a:ext uri="{FF2B5EF4-FFF2-40B4-BE49-F238E27FC236}">
                <a16:creationId xmlns:a16="http://schemas.microsoft.com/office/drawing/2014/main" id="{0ADDFBCB-D9E7-4C53-838D-16C48F29511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230" y="3200400"/>
            <a:ext cx="1942719" cy="1942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Torque — The Rotational Force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3246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animation — force applied at distance 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5760" y="960120"/>
            <a:ext cx="53949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987552"/>
            <a:ext cx="5394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 = r × F = r · F · sin(φ)    [N·m]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65760" y="1783080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8562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τ (tau)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54480" y="185623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— the tendency to cause rotation around an axis (Newton-meters, N·m)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404872"/>
            <a:ext cx="539496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47802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554480" y="247802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arm — perpendicular distance from the axis to the line of action of force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3026664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0998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554480" y="309981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force (Newtons). Only the component perpendicular to r causes torque.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" y="3648456"/>
            <a:ext cx="539496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7216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φ (phi)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554480" y="372160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between the force vector F and the position vector r. Max torque when φ = 90°.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5760" y="4270248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3434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554480" y="43434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Right-hand rule: curl fingers from r toward F — thumb points in torque direction.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5760" y="4892040"/>
            <a:ext cx="5394960" cy="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wrench 0.25 m long, force 80 N at 90°: τ = 0.25 × 80 × sin(90°) = 20 N·m</a:t>
            </a:r>
            <a:endParaRPr lang="en-US" sz="115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B3CC747-D372-4D71-9E78-DF5E6BA766E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0" y="1242907"/>
            <a:ext cx="2095500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imple Machines-levers - torque and work">
            <a:extLst>
              <a:ext uri="{FF2B5EF4-FFF2-40B4-BE49-F238E27FC236}">
                <a16:creationId xmlns:a16="http://schemas.microsoft.com/office/drawing/2014/main" id="{31DDCCA4-8AE5-495E-BCC5-F26D6BD7C46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80" y="2922651"/>
            <a:ext cx="28575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Moment of Inertia (I)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960120"/>
            <a:ext cx="50292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978408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Σ mᵢ rᵢ²      (discrete)         I = ∫ r² dm   (continuous)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65760" y="1755648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755648"/>
            <a:ext cx="9144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81051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Meaning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2084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of inertia is the rotational analogue of mass. It measures an object's resistance to angular acceleration — like 'rotational inertia'.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256032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2560320"/>
            <a:ext cx="9144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615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Distribution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further mass is from the axis, the larger I. A hollow cylinder (I=MR²) is harder to spin than a solid disk (I=½MR²) of equal mass.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364992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3364992"/>
            <a:ext cx="9144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41985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Dependence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3694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depends on which axis you choose. The parallel-axis theorem: I = I_cm + Md², where d is distance from center of mass to new axis.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4169664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4169664"/>
            <a:ext cx="9144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42245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Impact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4498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Flywheels use large I to store energy. Figure skaters control I by moving arms in or out to change spin speed.</a:t>
            </a:r>
            <a:endParaRPr lang="en-US" sz="11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01F9E-F8FF-4948-8B03-C5C59C52FA5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111" y="1163574"/>
            <a:ext cx="3031857" cy="2273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ngular Momentum GIFs - Find &amp; Share on GIPHY">
            <a:extLst>
              <a:ext uri="{FF2B5EF4-FFF2-40B4-BE49-F238E27FC236}">
                <a16:creationId xmlns:a16="http://schemas.microsoft.com/office/drawing/2014/main" id="{2124C48E-E22B-4DD5-A9EA-2DE4746E0E1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378" y="3491103"/>
            <a:ext cx="1963322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Moment of Inertia Formulas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960120"/>
            <a:ext cx="2103120" cy="1847088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60120"/>
            <a:ext cx="21031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99669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Solid Disk / Cylinder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1920240" cy="56692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½MR²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1752" y="2103120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through center, perpendicular to face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2103120" cy="1847088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960120"/>
            <a:ext cx="2103120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99669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 Hollow 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1463040"/>
            <a:ext cx="1920240" cy="566928"/>
          </a:xfrm>
          <a:prstGeom prst="rect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MR²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96312" y="2103120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mass at rim — maximum I for given M,R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960120"/>
            <a:ext cx="2103120" cy="1847088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960120"/>
            <a:ext cx="210312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99669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Solid Sphere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1463040"/>
            <a:ext cx="1920240" cy="566928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⅖MR²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90872" y="2103120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through center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960120"/>
            <a:ext cx="2103120" cy="1847088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960120"/>
            <a:ext cx="2103120" cy="402336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99669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Hollow Sphere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03720" y="1463040"/>
            <a:ext cx="1920240" cy="566928"/>
          </a:xfrm>
          <a:prstGeom prst="rect">
            <a:avLst/>
          </a:prstGeom>
          <a:solidFill>
            <a:srgbClr val="BE185D">
              <a:alpha val="20000"/>
            </a:srgbClr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⅔MR²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85432" y="2103120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shell — larger than solid sphere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2953512"/>
            <a:ext cx="2103120" cy="1847088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953512"/>
            <a:ext cx="2103120" cy="40233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99008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 Rod (center)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456432"/>
            <a:ext cx="1920240" cy="566928"/>
          </a:xfrm>
          <a:prstGeom prst="rect">
            <a:avLst/>
          </a:prstGeom>
          <a:solidFill>
            <a:srgbClr val="0F766E">
              <a:alpha val="20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4564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1/12 ML²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1752" y="4096512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about midpoint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23160" y="2953512"/>
            <a:ext cx="2103120" cy="1847088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2953512"/>
            <a:ext cx="2103120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78024" y="299008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 Rod (end)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14600" y="3456432"/>
            <a:ext cx="1920240" cy="566928"/>
          </a:xfrm>
          <a:prstGeom prst="rect">
            <a:avLst/>
          </a:prstGeom>
          <a:solidFill>
            <a:srgbClr val="B45309">
              <a:alpha val="2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34564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⅓ML²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2496312" y="4096512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about one end — 4× center value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2953512"/>
            <a:ext cx="2103120" cy="1847088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2953512"/>
            <a:ext cx="210312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72584" y="299008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Rectangular Plate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09160" y="3456432"/>
            <a:ext cx="1920240" cy="566928"/>
          </a:xfrm>
          <a:prstGeom prst="rect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4564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1/12 M(a²+b²)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690872" y="4096512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through center, in plane of plate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12280" y="2953512"/>
            <a:ext cx="2103120" cy="1847088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12280" y="2953512"/>
            <a:ext cx="210312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67144" y="299008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 Mass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903720" y="3456432"/>
            <a:ext cx="1920240" cy="566928"/>
          </a:xfrm>
          <a:prstGeom prst="rect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03720" y="34564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mr²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885432" y="4096512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definition — all others derived from this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Newton's 2nd Law for Rotation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005840"/>
            <a:ext cx="54864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102412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τ = I · α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analogue of F = ma — net torque causes angular acceleration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54864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865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Σ τ (net torque)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67919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torques acting on the object. Units: N·m. If torques cancel → no angular acceleration.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136392"/>
            <a:ext cx="54864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191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(moment of inertia)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48386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to angular acceleration. Larger I → same torque produces smaller α. Units: kg·m².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941064"/>
            <a:ext cx="54864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995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α (angular acceleration)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2885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 of angular velocity. Units: rad/s². Direction same as net torque.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2331720"/>
            <a:ext cx="2743200" cy="2414016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331720"/>
            <a:ext cx="274320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2350008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↔ Rotation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779776"/>
            <a:ext cx="2743200" cy="384048"/>
          </a:xfrm>
          <a:prstGeom prst="rect">
            <a:avLst/>
          </a:prstGeom>
          <a:solidFill>
            <a:srgbClr val="1E3A4A"/>
          </a:solidFill>
          <a:ln w="6350">
            <a:solidFill>
              <a:srgbClr val="2D4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28163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ma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88352" y="2816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τ = Iα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3163824"/>
            <a:ext cx="2743200" cy="384048"/>
          </a:xfrm>
          <a:prstGeom prst="rect">
            <a:avLst/>
          </a:prstGeom>
          <a:solidFill>
            <a:srgbClr val="162B38"/>
          </a:solidFill>
          <a:ln w="6350">
            <a:solidFill>
              <a:srgbClr val="2D4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32004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(mass)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88352" y="32004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(inertia)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3547872"/>
            <a:ext cx="2743200" cy="384048"/>
          </a:xfrm>
          <a:prstGeom prst="rect">
            <a:avLst/>
          </a:prstGeom>
          <a:solidFill>
            <a:srgbClr val="1E3A4A"/>
          </a:solidFill>
          <a:ln w="6350">
            <a:solidFill>
              <a:srgbClr val="2D4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35844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(force)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88352" y="35844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 (torque)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3931920"/>
            <a:ext cx="2743200" cy="384048"/>
          </a:xfrm>
          <a:prstGeom prst="rect">
            <a:avLst/>
          </a:prstGeom>
          <a:solidFill>
            <a:srgbClr val="162B38"/>
          </a:solidFill>
          <a:ln w="6350">
            <a:solidFill>
              <a:srgbClr val="2D4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53328" y="396849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(accel.)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88352" y="39684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(ang. accel.)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35040" y="4315968"/>
            <a:ext cx="2743200" cy="384048"/>
          </a:xfrm>
          <a:prstGeom prst="rect">
            <a:avLst/>
          </a:prstGeom>
          <a:solidFill>
            <a:srgbClr val="1E3A4A"/>
          </a:solidFill>
          <a:ln w="6350">
            <a:solidFill>
              <a:srgbClr val="2D4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3328" y="435254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(speed)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388352" y="43525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 (ang. vel.)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65760" y="4736592"/>
            <a:ext cx="8412480" cy="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solid disk (I = ½×2×0.3² = 0.09 kg·m²) has net torque 1.8 N·m applied.  α = 1.8/0.09 = 20 rad/s²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Momentum (L)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45920" y="914400"/>
            <a:ext cx="585216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45920" y="932688"/>
            <a:ext cx="5852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I · ω       [kg · m² / s]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0" y="3794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Gyroscope — angular momentum gives stability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810512"/>
            <a:ext cx="5943600" cy="685800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810512"/>
            <a:ext cx="914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85623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Quantity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213969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is a vector — direction given by right-hand rule (curl fingers with rotation, thumb = L direction). For a spinning top, L points upward.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4320" y="2587752"/>
            <a:ext cx="5943600" cy="685800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2587752"/>
            <a:ext cx="914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63347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Analogue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291693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p = mv (linear momentum), L = Iω. Torque is the rate of change of L:  τ = dL/dt.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74320" y="3364992"/>
            <a:ext cx="5943600" cy="685800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3364992"/>
            <a:ext cx="914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41071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 Point Mass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369417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particle at radius r with speed v:  L = mvr = mr²ω. This simplest case builds the general formula.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74320" y="4142232"/>
            <a:ext cx="5943600" cy="685800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4142232"/>
            <a:ext cx="914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18795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Stability from L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47141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angular momentum resists changes in direction — gyroscopes, bicycles, rifled bullets, and frisbees all exploit this property.</a:t>
            </a:r>
            <a:endParaRPr lang="en-US" sz="1150" dirty="0"/>
          </a:p>
        </p:txBody>
      </p:sp>
      <p:pic>
        <p:nvPicPr>
          <p:cNvPr id="4098" name="Picture 2" descr="Angular momentum – TikZ.net">
            <a:extLst>
              <a:ext uri="{FF2B5EF4-FFF2-40B4-BE49-F238E27FC236}">
                <a16:creationId xmlns:a16="http://schemas.microsoft.com/office/drawing/2014/main" id="{7214A48F-FB89-4279-89DB-6656E7F72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307" y="2227135"/>
            <a:ext cx="2381146" cy="1288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Conservation of Angular Momentum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8412480" cy="6035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Σ τ_ext = 0  →  L is CONSERVED:   I₁ω₁ = I₂ω₂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skater: arms in → ω increases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08960" y="1691640"/>
            <a:ext cx="5669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08960" y="1691640"/>
            <a:ext cx="9144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46120" y="1728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🤸 Figure Skater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46120" y="2002536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arms in reduces I (mass closer to axis). Since L = Iω must stay constant, ω increases dramatically. Extending arms slows the spin.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08960" y="2350008"/>
            <a:ext cx="5669280" cy="58521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08960" y="2350008"/>
            <a:ext cx="9144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46120" y="2386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🌟 Neutron Stars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46120" y="266090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massive star collapses, radius shrinks from ~10⁶ km to ~10 km. Conservation of L makes it spin up to hundreds of rotations per second (pulsars).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108960" y="3008376"/>
            <a:ext cx="5669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108960" y="3008376"/>
            <a:ext cx="9144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46120" y="3044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🪐 Planetary Orbits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46120" y="331927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Planets move faster when closer to the Sun (perihelion) and slower when further (aphelion) — angular momentum conservation in elliptical orbits (Kepler's 2nd Law).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108960" y="3666744"/>
            <a:ext cx="5669280" cy="58521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08960" y="3666744"/>
            <a:ext cx="9144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4612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🤿 Diver's Tuck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246120" y="397764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diver tucks into a ball to increase spin rate for multiple somersaults, then extends to slow down and enter the water cleanly.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108960" y="4325112"/>
            <a:ext cx="5669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108960" y="4325112"/>
            <a:ext cx="9144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46120" y="4361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Spacecraft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246120" y="463600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use reaction wheels to change orientation without external torque. Spinning the wheel one way rotates the craft the other way — perfect L conservation.</a:t>
            </a:r>
            <a:endParaRPr lang="en-US" sz="1050" dirty="0"/>
          </a:p>
        </p:txBody>
      </p:sp>
      <p:pic>
        <p:nvPicPr>
          <p:cNvPr id="5122" name="Picture 2" descr="Angular Momentum Makes Science FUN! | AstroCamp Science Camp">
            <a:extLst>
              <a:ext uri="{FF2B5EF4-FFF2-40B4-BE49-F238E27FC236}">
                <a16:creationId xmlns:a16="http://schemas.microsoft.com/office/drawing/2014/main" id="{E6B65B7F-986A-437F-B18A-54F7094DBCE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11" y="2545556"/>
            <a:ext cx="2589829" cy="180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Rotational Kinetic Energy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914400"/>
            <a:ext cx="64008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932688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KE_rot = ½ I ω²        (compare: KE_linear = ½mv²)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709160" y="1874520"/>
            <a:ext cx="4251960" cy="40233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410712"/>
            <a:ext cx="4251960" cy="1417320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410712"/>
            <a:ext cx="42519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564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Combined Kinetic Energy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86791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 object has BOTH translational and rotational KE: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KE_total = ½mv² + ½Iω²  =  ½mv²(1 + I/mr²)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410712"/>
            <a:ext cx="4251960" cy="1417320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410712"/>
            <a:ext cx="4251960" cy="40233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4564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Use — Flywheels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86791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cars, uninterruptible power supplies, and grid-scale energy storage all use flywheels. High ω and large I = massive energy storage.</a:t>
            </a:r>
            <a:endParaRPr lang="en-US" sz="11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CC9C7A-46A9-44E9-BE01-2EA01E9F0DFE}"/>
              </a:ext>
            </a:extLst>
          </p:cNvPr>
          <p:cNvSpPr/>
          <p:nvPr/>
        </p:nvSpPr>
        <p:spPr>
          <a:xfrm>
            <a:off x="274320" y="1779693"/>
            <a:ext cx="4251960" cy="15727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46" name="Picture 2" descr="Rotational Kinetic Energy">
            <a:extLst>
              <a:ext uri="{FF2B5EF4-FFF2-40B4-BE49-F238E27FC236}">
                <a16:creationId xmlns:a16="http://schemas.microsoft.com/office/drawing/2014/main" id="{A648719D-99A5-40F2-8316-C9AF9D0B6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66" y="1908556"/>
            <a:ext cx="2879634" cy="141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otation and Work-Energy Principle">
            <a:extLst>
              <a:ext uri="{FF2B5EF4-FFF2-40B4-BE49-F238E27FC236}">
                <a16:creationId xmlns:a16="http://schemas.microsoft.com/office/drawing/2014/main" id="{64457E76-0AC0-44AB-AA10-77E2AA1F7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766147"/>
            <a:ext cx="3842173" cy="158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Gyroscopes &amp; Precession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39227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Gyroscope precessing under gravity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749040" y="96012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749040" y="960120"/>
            <a:ext cx="91440" cy="914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13632" y="10149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Gyroscope?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913632" y="130759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gyroscope is a spinning wheel or disk whose axis can freely orient in any direction. The large angular momentum makes it highly stable and resistant to tipping.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49040" y="1984248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49040" y="1984248"/>
            <a:ext cx="91440" cy="914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13632" y="203911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Precession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913632" y="23317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gravity (torque) acts on a tilted gyroscope, instead of falling it rotates slowly around the vertical axis. Precession rate: Ω = τ / L = Mgd / (Iω).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749040" y="3008376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749040" y="3008376"/>
            <a:ext cx="91440" cy="914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13632" y="30632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Right-Hand Rule for 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913632" y="335584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right-hand fingers in rotation direction → thumb points along L. When torque τ = r×F acts perpendicular to L, it causes L to precess.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749040" y="4032504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749040" y="4032504"/>
            <a:ext cx="91440" cy="914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13632" y="408736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913632" y="437997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attitude indicators · Ship stabilizers · Smartphone orientation sensors (MEMS gyros) · Hubble Space Telescope pointing · Bicycle stability at speed · Rifled bullet spin-stabilization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749040" y="5047488"/>
            <a:ext cx="5029200" cy="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1578F59-075B-448A-B0FF-5B173482AF6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" y="965115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74320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0584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🚗  Vehicle Wheels &amp; Gears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8912" y="1417320"/>
            <a:ext cx="25968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car, bicycle, and engine relies on rotational motion. Gear ratios alter torque and speed. ABS uses angular velocity sensors.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2743200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00584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✈️  Jet Turbines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19272" y="1417320"/>
            <a:ext cx="25968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 engines extract rotational KE from hot gas to spin compressors. Turbine blades exploit rotational dynamics at extreme ω.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960120"/>
            <a:ext cx="2743200" cy="40233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00584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🏋️  Sports Biomechanics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99632" y="1417320"/>
            <a:ext cx="25968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Divers, skaters, gymnasts all manipulate I to control spin speed. Biomechanists use ω and α to optimize technique.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31720"/>
            <a:ext cx="274320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37744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 Earth's Rotation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8912" y="2788920"/>
            <a:ext cx="25968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day, seasons, Coriolis effect — all consequences of Earth's rotation at ω ≈ 7.27×10⁻⁵ rad/s.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233172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331720"/>
            <a:ext cx="2743200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37744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Flywheels &amp; Energy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19272" y="2788920"/>
            <a:ext cx="25968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wheels store GJ of energy for grid stabilization. Porsche 918 Spyder uses a flywheel KERS system.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233172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331720"/>
            <a:ext cx="2743200" cy="40233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37744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Medical Centrifuges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99632" y="2788920"/>
            <a:ext cx="25968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Centrifuges spin at 50,000+ rpm to separate blood components, isolate DNA, and process vaccines.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70332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03320"/>
            <a:ext cx="274320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74904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🛸  Spacecraft Attitude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38912" y="4160520"/>
            <a:ext cx="25968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wheels and gyros orient satellites precisely without expelling fuel. Hubble uses 6 reaction wheel assemblies.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46120" y="370332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703320"/>
            <a:ext cx="2743200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374904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💿  Hard Drives &amp; CDs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319272" y="4160520"/>
            <a:ext cx="25968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disk platters spin at 5,400-15,000 rpm. Rotational physics governs seek time, data rate, and gyroscopic effects.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26480" y="3703320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3703320"/>
            <a:ext cx="2743200" cy="40233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374904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🌊  Wind Turbines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199632" y="4160520"/>
            <a:ext cx="25968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Blades rotate at 5-20 rpm (variable), but generators reach 1500 rpm via gearboxes. Blade tip speeds can exceed 300 km/h.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Fun Facts &amp; World Records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0" y="2926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Crab Nebula pulsar — fastest natural spinner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400800" y="49194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centrifuge: up to 1,000,000 rpm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274320" y="932688"/>
            <a:ext cx="5943600" cy="621792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92608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🌀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68680" y="1005840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pulsar (PSR J1748-2446ad) spins at 716 Hz — 716 rotations per second — with surface speed ~24% of light!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74320" y="1636776"/>
            <a:ext cx="5943600" cy="621792"/>
          </a:xfrm>
          <a:prstGeom prst="rect">
            <a:avLst/>
          </a:prstGeom>
          <a:solidFill>
            <a:srgbClr val="1E3A4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260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868680" y="1709928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centrifuge: 1,000,000 rpm achieved with carbon nanotube rotors at Purdue University (2022). Tips move at half the speed of sound.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74320" y="2340864"/>
            <a:ext cx="5943600" cy="621792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2608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🪐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68680" y="2414016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rotates in just 9h 55m despite being 11× Earth's diameter. Its rapid spin causes an equatorial bulge of ~6,500 km.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74320" y="3044952"/>
            <a:ext cx="5943600" cy="621792"/>
          </a:xfrm>
          <a:prstGeom prst="rect">
            <a:avLst/>
          </a:prstGeom>
          <a:solidFill>
            <a:srgbClr val="1E3A4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92608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🏋️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868680" y="3118104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Hammer throw world record (~86 m) requires the athlete to spin ~4 times, reaching tip speeds of ~30 m/s — angular momentum does the work.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274320" y="3749040"/>
            <a:ext cx="5943600" cy="621792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92608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💿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868680" y="3822192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spinning man-made object: a dumbbell-shaped nanoparticle levitated in vacuum spins at 60 billion rpm (University of Purdue, 2018).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274320" y="4453128"/>
            <a:ext cx="5943600" cy="621792"/>
          </a:xfrm>
          <a:prstGeom prst="rect">
            <a:avLst/>
          </a:prstGeom>
          <a:solidFill>
            <a:srgbClr val="1E3A4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92608" y="4507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868680" y="4526280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rotation is slowing: days get ~1.8 ms longer per century due to tidal friction from the Moon transferring angular momentum.</a:t>
            </a:r>
            <a:endParaRPr lang="en-US" sz="1150" dirty="0"/>
          </a:p>
        </p:txBody>
      </p:sp>
      <p:pic>
        <p:nvPicPr>
          <p:cNvPr id="8194" name="Picture 2" descr="Pulsar in a box' reveals surprising picture of a neutron star's surroundings">
            <a:extLst>
              <a:ext uri="{FF2B5EF4-FFF2-40B4-BE49-F238E27FC236}">
                <a16:creationId xmlns:a16="http://schemas.microsoft.com/office/drawing/2014/main" id="{AAC14E7E-C04F-482A-A7DB-CB892EE5A39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615" y="932688"/>
            <a:ext cx="2523066" cy="171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Centrifuge GIFs - Find &amp; Share on GIPHY">
            <a:extLst>
              <a:ext uri="{FF2B5EF4-FFF2-40B4-BE49-F238E27FC236}">
                <a16:creationId xmlns:a16="http://schemas.microsoft.com/office/drawing/2014/main" id="{B8179182-82B0-4FD7-9476-91C9617A0C1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915" y="3229843"/>
            <a:ext cx="1614465" cy="1614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D9488">
              <a:alpha val="18000"/>
            </a:srgbClr>
          </a:solidFill>
          <a:ln w="25400">
            <a:solidFill>
              <a:srgbClr val="0D9488">
                <a:alpha val="2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25400">
            <a:solidFill>
              <a:srgbClr val="0D9488">
                <a:alpha val="1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&amp; Key Equations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97680" cy="566928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= s / 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23160" y="103327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displacement from arc length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618488"/>
            <a:ext cx="4297680" cy="566928"/>
          </a:xfrm>
          <a:prstGeom prst="rect">
            <a:avLst/>
          </a:prstGeom>
          <a:solidFill>
            <a:srgbClr val="1E3A4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18488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6642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 = Δθ / Δt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23160" y="169164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angular velocity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276856"/>
            <a:ext cx="4297680" cy="566928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76856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32257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Δω / Δt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23160" y="23500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angular acceleration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4297680" cy="566928"/>
          </a:xfrm>
          <a:prstGeom prst="rect">
            <a:avLst/>
          </a:prstGeom>
          <a:solidFill>
            <a:srgbClr val="1E3A4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35224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9809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rω  ·  aₜ = rα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23160" y="30083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Tangential speed &amp; accel.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593592"/>
            <a:ext cx="4297680" cy="566928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593592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363931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aₓ = v²/r = rω²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423160" y="3666744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Centripetal acceleration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251960"/>
            <a:ext cx="4297680" cy="566928"/>
          </a:xfrm>
          <a:prstGeom prst="rect">
            <a:avLst/>
          </a:prstGeom>
          <a:solidFill>
            <a:srgbClr val="1E3A4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4297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τ = I · α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423160" y="432511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2nd Law (rotation)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960120"/>
            <a:ext cx="4297680" cy="566928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960120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Σ mᵢrᵢ²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103327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of inertia (discrete)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1618488"/>
            <a:ext cx="4297680" cy="566928"/>
          </a:xfrm>
          <a:prstGeom prst="rect">
            <a:avLst/>
          </a:prstGeom>
          <a:solidFill>
            <a:srgbClr val="1E3A4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1618488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55464" y="16642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I · ω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0" y="169164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momentum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2276856"/>
            <a:ext cx="4297680" cy="566928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276856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55464" y="232257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I₁ω₁ = I₂ω₂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58000" y="23500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(no ext. torque)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2935224"/>
            <a:ext cx="4297680" cy="566928"/>
          </a:xfrm>
          <a:prstGeom prst="rect">
            <a:avLst/>
          </a:prstGeom>
          <a:solidFill>
            <a:srgbClr val="1E3A4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2935224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5464" y="29809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KE_rot = ½Iω²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58000" y="30083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kinetic energy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09160" y="3593592"/>
            <a:ext cx="4297680" cy="566928"/>
          </a:xfrm>
          <a:prstGeom prst="rect">
            <a:avLst/>
          </a:prstGeom>
          <a:solidFill>
            <a:srgbClr val="162B38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3593592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55464" y="363931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τ · Δθ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58000" y="3666744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by torque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09160" y="4251960"/>
            <a:ext cx="4297680" cy="566928"/>
          </a:xfrm>
          <a:prstGeom prst="rect">
            <a:avLst/>
          </a:prstGeom>
          <a:solidFill>
            <a:srgbClr val="1E3A4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09160" y="4251960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297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I_cm + Md²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858000" y="432511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Parallel-axis theorem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Motion — Physics Mechanics Series  •  18 Slides Complete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2552</Words>
  <Application>Microsoft Office PowerPoint</Application>
  <PresentationFormat>On-screen Show (16:9)</PresentationFormat>
  <Paragraphs>341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Rotational Motion – Complete Guide</dc:title>
  <dc:subject>PptxGenJS Presentation</dc:subject>
  <dc:creator>PptxGenJS</dc:creator>
  <cp:lastModifiedBy>abu talha</cp:lastModifiedBy>
  <cp:revision>4</cp:revision>
  <dcterms:created xsi:type="dcterms:W3CDTF">2026-05-13T18:47:42Z</dcterms:created>
  <dcterms:modified xsi:type="dcterms:W3CDTF">2026-05-13T19:47:13Z</dcterms:modified>
</cp:coreProperties>
</file>